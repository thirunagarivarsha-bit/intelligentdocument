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embeddedFontLst>
    <p:embeddedFont>
      <p:font typeface="Roboto"/>
      <p:regular r:id="rId201314"/>
    </p:embeddedFont>
    <p:embeddedFont>
      <p:font typeface="Roboto Bold"/>
      <p:regular r:id="rId201315"/>
    </p:embeddedFont>
    <p:embeddedFont>
      <p:font typeface="Roboto Slab"/>
      <p:regular r:id="rId201316"/>
    </p:embeddedFont>
    <p:embeddedFont>
      <p:font typeface="Roboto Slab Bol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15213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15213F">
              <a:alpha val="80000"/>
            </a:srgbClr>
          </a:solidFill>
          <a:ln/>
        </p:spPr>
      </p:sp>
      <p:pic>
        <p:nvPicPr>
          <p:cNvPr id="4"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FBFCFE"/>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1.png"/><Relationship Id="rId4" Type="http://schemas.openxmlformats.org/officeDocument/2006/relationships/image" Target="../media/image-3-2.svg"/><Relationship Id="rId5" Type="http://schemas.openxmlformats.org/officeDocument/2006/relationships/image" Target="../media/image-3-1.png"/><Relationship Id="rId6" Type="http://schemas.openxmlformats.org/officeDocument/2006/relationships/image" Target="../media/image-3-2.svg"/><Relationship Id="rId7" Type="http://schemas.openxmlformats.org/officeDocument/2006/relationships/image" Target="../media/image-3-7.png"/><Relationship Id="rId8" Type="http://schemas.openxmlformats.org/officeDocument/2006/relationships/slideLayout" Target="../slideLayouts/slideLayout3.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svg"/><Relationship Id="rId4" Type="http://schemas.openxmlformats.org/officeDocument/2006/relationships/image" Target="../media/image-5-2.png"/><Relationship Id="rId5" Type="http://schemas.openxmlformats.org/officeDocument/2006/relationships/image" Target="../media/image-5-3.svg"/><Relationship Id="rId6" Type="http://schemas.openxmlformats.org/officeDocument/2006/relationships/image" Target="../media/image-5-2.png"/><Relationship Id="rId7" Type="http://schemas.openxmlformats.org/officeDocument/2006/relationships/image" Target="../media/image-5-3.svg"/><Relationship Id="rId8" Type="http://schemas.openxmlformats.org/officeDocument/2006/relationships/image" Target="../media/image-5-2.png"/><Relationship Id="rId9" Type="http://schemas.openxmlformats.org/officeDocument/2006/relationships/image" Target="../media/image-5-3.svg"/><Relationship Id="rId10" Type="http://schemas.openxmlformats.org/officeDocument/2006/relationships/slideLayout" Target="../slideLayouts/slideLayout3.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1.png"/><Relationship Id="rId4" Type="http://schemas.openxmlformats.org/officeDocument/2006/relationships/image" Target="../media/image-8-2.svg"/><Relationship Id="rId5" Type="http://schemas.openxmlformats.org/officeDocument/2006/relationships/image" Target="../media/image-8-1.png"/><Relationship Id="rId6" Type="http://schemas.openxmlformats.org/officeDocument/2006/relationships/image" Target="../media/image-8-2.svg"/><Relationship Id="rId7" Type="http://schemas.openxmlformats.org/officeDocument/2006/relationships/slideLayout" Target="../slideLayouts/slideLayout3.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3.png"/><Relationship Id="rId4" Type="http://schemas.openxmlformats.org/officeDocument/2006/relationships/image" Target="../media/image-9-4.svg"/><Relationship Id="rId5" Type="http://schemas.openxmlformats.org/officeDocument/2006/relationships/image" Target="../media/image-9-1.png"/><Relationship Id="rId6" Type="http://schemas.openxmlformats.org/officeDocument/2006/relationships/image" Target="../media/image-9-2.sv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1.png"/><Relationship Id="rId4" Type="http://schemas.openxmlformats.org/officeDocument/2006/relationships/image" Target="../media/image-10-2.svg"/><Relationship Id="rId5" Type="http://schemas.openxmlformats.org/officeDocument/2006/relationships/image" Target="../media/image-10-1.png"/><Relationship Id="rId6" Type="http://schemas.openxmlformats.org/officeDocument/2006/relationships/image" Target="../media/image-10-2.svg"/><Relationship Id="rId7" Type="http://schemas.openxmlformats.org/officeDocument/2006/relationships/slideLayout" Target="../slideLayouts/slideLayout3.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image" Target="../media/image-11-1.png"/><Relationship Id="rId4" Type="http://schemas.openxmlformats.org/officeDocument/2006/relationships/image" Target="../media/image-11-2.svg"/><Relationship Id="rId5" Type="http://schemas.openxmlformats.org/officeDocument/2006/relationships/image" Target="../media/image-11-1.png"/><Relationship Id="rId6" Type="http://schemas.openxmlformats.org/officeDocument/2006/relationships/image" Target="../media/image-11-2.svg"/><Relationship Id="rId7" Type="http://schemas.openxmlformats.org/officeDocument/2006/relationships/image" Target="../media/image-11-7.png"/><Relationship Id="rId8" Type="http://schemas.openxmlformats.org/officeDocument/2006/relationships/slideLayout" Target="../slideLayouts/slideLayout3.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61475" y="2120683"/>
            <a:ext cx="10868745" cy="295275"/>
          </a:xfrm>
          <a:prstGeom prst="rect">
            <a:avLst/>
          </a:prstGeom>
          <a:noFill/>
          <a:ln/>
        </p:spPr>
        <p:txBody>
          <a:bodyPr wrap="none" lIns="0" tIns="0" rIns="0" bIns="0" rtlCol="0" anchor="t"/>
          <a:lstStyle/>
          <a:p>
            <a:pPr algn="l" indent="0" marL="0">
              <a:lnSpc>
                <a:spcPct val="104000"/>
              </a:lnSpc>
              <a:buNone/>
            </a:pPr>
            <a:r>
              <a:rPr lang="en-US" sz="1850" dirty="0">
                <a:solidFill>
                  <a:srgbClr val="D4AF37"/>
                </a:solidFill>
                <a:latin typeface="Roboto Slab" pitchFamily="34" charset="0"/>
                <a:ea typeface="Roboto Slab" pitchFamily="34" charset="-122"/>
                <a:cs typeface="Roboto Slab" pitchFamily="34" charset="-120"/>
              </a:rPr>
              <a:t>Final Project-Based Learning Review</a:t>
            </a:r>
            <a:endParaRPr lang="en-US" sz="1850" dirty="0"/>
          </a:p>
        </p:txBody>
      </p:sp>
      <p:sp>
        <p:nvSpPr>
          <p:cNvPr id="3" name="Text 1"/>
          <p:cNvSpPr/>
          <p:nvPr/>
        </p:nvSpPr>
        <p:spPr>
          <a:xfrm>
            <a:off x="661475" y="2509801"/>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dirty="0">
                <a:solidFill>
                  <a:srgbClr val="D4AF37"/>
                </a:solidFill>
                <a:latin typeface="Roboto Slab" pitchFamily="34" charset="0"/>
                <a:ea typeface="Roboto Slab" pitchFamily="34" charset="-122"/>
                <a:cs typeface="Roboto Slab" pitchFamily="34" charset="-120"/>
              </a:rPr>
              <a:t>AI-Powered Intelligent Document Search and Analytics</a:t>
            </a:r>
            <a:endParaRPr lang="en-US" sz="3700" dirty="0"/>
          </a:p>
        </p:txBody>
      </p:sp>
      <p:sp>
        <p:nvSpPr>
          <p:cNvPr id="4" name="Text 2"/>
          <p:cNvSpPr/>
          <p:nvPr/>
        </p:nvSpPr>
        <p:spPr>
          <a:xfrm>
            <a:off x="661475" y="3938091"/>
            <a:ext cx="10868745" cy="817463"/>
          </a:xfrm>
          <a:prstGeom prst="rect">
            <a:avLst/>
          </a:prstGeom>
          <a:noFill/>
          <a:ln/>
        </p:spPr>
        <p:txBody>
          <a:bodyPr wrap="square" lIns="0" tIns="0" rIns="0" bIns="0" rtlCol="0" anchor="t"/>
          <a:lstStyle/>
          <a:p>
            <a:pPr algn="l" indent="0" marL="0">
              <a:lnSpc>
                <a:spcPct val="133000"/>
              </a:lnSpc>
              <a:spcAft>
                <a:spcPts val="1650"/>
              </a:spcAft>
              <a:buNone/>
            </a:pPr>
            <a:r>
              <a:rPr lang="en-US" sz="1450" b="1" dirty="0">
                <a:solidFill>
                  <a:srgbClr val="FFFFFF"/>
                </a:solidFill>
                <a:latin typeface="Roboto Bold" pitchFamily="34" charset="0"/>
                <a:ea typeface="Roboto Bold" pitchFamily="34" charset="-122"/>
                <a:cs typeface="Roboto Bold" pitchFamily="34" charset="-120"/>
              </a:rPr>
              <a:t>Team members</a:t>
            </a:r>
            <a:pPr algn="l" indent="0" marL="0">
              <a:lnSpc>
                <a:spcPct val="133000"/>
              </a:lnSpc>
              <a:spcAft>
                <a:spcPts val="1650"/>
              </a:spcAft>
              <a:buNone/>
            </a:pPr>
            <a:r>
              <a:rPr lang="en-US" sz="1450" dirty="0">
                <a:solidFill>
                  <a:srgbClr val="FFFFFF"/>
                </a:solidFill>
                <a:latin typeface="Roboto" pitchFamily="34" charset="0"/>
                <a:ea typeface="Roboto" pitchFamily="34" charset="-122"/>
                <a:cs typeface="Roboto" pitchFamily="34" charset="-120"/>
              </a:rPr>
              <a:t>: M. SRIHITHA | Y. AKSHAYA | T. VARSHA</a:t>
            </a:r>
            <a:endParaRPr lang="en-US" sz="1450" dirty="0"/>
          </a:p>
          <a:p>
            <a:pPr algn="l" indent="0" marL="0">
              <a:lnSpc>
                <a:spcPct val="133000"/>
              </a:lnSpc>
              <a:buNone/>
            </a:pPr>
            <a:r>
              <a:rPr lang="en-US" sz="1450" b="1" dirty="0">
                <a:solidFill>
                  <a:srgbClr val="FFFFFF"/>
                </a:solidFill>
                <a:latin typeface="Roboto Bold" pitchFamily="34" charset="0"/>
                <a:ea typeface="Roboto Bold" pitchFamily="34" charset="-122"/>
                <a:cs typeface="Roboto Bold" pitchFamily="34" charset="-120"/>
              </a:rPr>
              <a:t>Guide</a:t>
            </a:r>
            <a:pPr algn="l" indent="0" marL="0">
              <a:lnSpc>
                <a:spcPct val="133000"/>
              </a:lnSpc>
              <a:buNone/>
            </a:pPr>
            <a:r>
              <a:rPr lang="en-US" sz="1450" dirty="0">
                <a:solidFill>
                  <a:srgbClr val="FFFFFF"/>
                </a:solidFill>
                <a:latin typeface="Roboto" pitchFamily="34" charset="0"/>
                <a:ea typeface="Roboto" pitchFamily="34" charset="-122"/>
                <a:cs typeface="Roboto" pitchFamily="34" charset="-120"/>
              </a:rPr>
              <a:t>: Dr. Aftab Yaseen</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661475" y="628848"/>
            <a:ext cx="3780834" cy="287139"/>
          </a:xfrm>
          <a:prstGeom prst="roundRect">
            <a:avLst>
              <a:gd name="adj" fmla="val 7899"/>
            </a:avLst>
          </a:prstGeom>
          <a:solidFill>
            <a:srgbClr val="D7DFF4"/>
          </a:solidFill>
          <a:ln/>
        </p:spPr>
      </p:sp>
      <p:sp>
        <p:nvSpPr>
          <p:cNvPr id="3" name="Text 1"/>
          <p:cNvSpPr/>
          <p:nvPr/>
        </p:nvSpPr>
        <p:spPr>
          <a:xfrm>
            <a:off x="774879" y="688237"/>
            <a:ext cx="4163611" cy="173831"/>
          </a:xfrm>
          <a:prstGeom prst="rect">
            <a:avLst/>
          </a:prstGeom>
          <a:noFill/>
          <a:ln/>
        </p:spPr>
        <p:txBody>
          <a:bodyPr wrap="none" lIns="0" tIns="0" rIns="0" bIns="0" rtlCol="0" anchor="t"/>
          <a:lstStyle/>
          <a:p>
            <a:pPr algn="l" indent="0" marL="0">
              <a:lnSpc>
                <a:spcPct val="96000"/>
              </a:lnSpc>
              <a:buNone/>
            </a:pPr>
            <a:r>
              <a:rPr lang="en-US" sz="1150" dirty="0">
                <a:solidFill>
                  <a:srgbClr val="15213F"/>
                </a:solidFill>
                <a:latin typeface="Roboto" pitchFamily="34" charset="0"/>
                <a:ea typeface="Roboto" pitchFamily="34" charset="-122"/>
                <a:cs typeface="Roboto" pitchFamily="34" charset="-120"/>
              </a:rPr>
              <a:t>SLIDE 1 — PROBLEM STATEMENT AND MOTIVATION</a:t>
            </a:r>
            <a:endParaRPr lang="en-US" sz="1150" dirty="0"/>
          </a:p>
        </p:txBody>
      </p:sp>
      <p:sp>
        <p:nvSpPr>
          <p:cNvPr id="4" name="Text 2"/>
          <p:cNvSpPr/>
          <p:nvPr/>
        </p:nvSpPr>
        <p:spPr>
          <a:xfrm>
            <a:off x="661475" y="1028068"/>
            <a:ext cx="10868745" cy="590649"/>
          </a:xfrm>
          <a:prstGeom prst="rect">
            <a:avLst/>
          </a:prstGeom>
          <a:noFill/>
          <a:ln/>
        </p:spPr>
        <p:txBody>
          <a:bodyPr wrap="none" lIns="0" tIns="0" rIns="0" bIns="0" rtlCol="0" anchor="t"/>
          <a:lstStyle/>
          <a:p>
            <a:pPr algn="l" indent="0" marL="0">
              <a:lnSpc>
                <a:spcPct val="104000"/>
              </a:lnSpc>
              <a:buNone/>
            </a:pPr>
            <a:r>
              <a:rPr lang="en-US" sz="3700" dirty="0">
                <a:solidFill>
                  <a:srgbClr val="3257B8"/>
                </a:solidFill>
                <a:latin typeface="Roboto Slab" pitchFamily="34" charset="0"/>
                <a:ea typeface="Roboto Slab" pitchFamily="34" charset="-122"/>
                <a:cs typeface="Roboto Slab" pitchFamily="34" charset="-120"/>
              </a:rPr>
              <a:t>Problem Statement and Motivation</a:t>
            </a:r>
            <a:endParaRPr lang="en-US" sz="3700" dirty="0"/>
          </a:p>
        </p:txBody>
      </p:sp>
      <p:sp>
        <p:nvSpPr>
          <p:cNvPr id="5" name="Text 3"/>
          <p:cNvSpPr/>
          <p:nvPr/>
        </p:nvSpPr>
        <p:spPr>
          <a:xfrm>
            <a:off x="661475" y="1865709"/>
            <a:ext cx="10868745"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5213F"/>
                </a:solidFill>
                <a:latin typeface="Roboto" pitchFamily="34" charset="0"/>
                <a:ea typeface="Roboto" pitchFamily="34" charset="-122"/>
                <a:cs typeface="Roboto" pitchFamily="34" charset="-120"/>
              </a:rPr>
              <a:t>Traditional document search depends on exact keywords, so it often misses context and semantic meaning. This makes it hard to find the right information quickly in large document collections.</a:t>
            </a:r>
            <a:endParaRPr lang="en-US" sz="1450" dirty="0"/>
          </a:p>
        </p:txBody>
      </p:sp>
      <p:sp>
        <p:nvSpPr>
          <p:cNvPr id="6" name="Text 4"/>
          <p:cNvSpPr/>
          <p:nvPr/>
        </p:nvSpPr>
        <p:spPr>
          <a:xfrm>
            <a:off x="661475" y="2683173"/>
            <a:ext cx="10868745" cy="1039416"/>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5213F"/>
                </a:solidFill>
                <a:latin typeface="Roboto" pitchFamily="34" charset="0"/>
                <a:ea typeface="Roboto" pitchFamily="34" charset="-122"/>
                <a:cs typeface="Roboto" pitchFamily="34" charset="-120"/>
              </a:rPr>
              <a:t>Large collections are hard to search manually</a:t>
            </a:r>
            <a:endParaRPr lang="en-US" sz="1450" dirty="0"/>
          </a:p>
          <a:p>
            <a:pPr algn="l" marL="294640" indent="-294640">
              <a:lnSpc>
                <a:spcPct val="133000"/>
              </a:lnSpc>
              <a:buSzPct val="100000"/>
              <a:buChar char="•"/>
            </a:pPr>
            <a:r>
              <a:rPr lang="en-US" sz="1450" dirty="0">
                <a:solidFill>
                  <a:srgbClr val="15213F"/>
                </a:solidFill>
                <a:latin typeface="Roboto" pitchFamily="34" charset="0"/>
                <a:ea typeface="Roboto" pitchFamily="34" charset="-122"/>
                <a:cs typeface="Roboto" pitchFamily="34" charset="-120"/>
              </a:rPr>
              <a:t>Keyword search misses synonyms and context</a:t>
            </a:r>
            <a:endParaRPr lang="en-US" sz="1450" dirty="0"/>
          </a:p>
          <a:p>
            <a:pPr algn="l" marL="294640" indent="-294640">
              <a:lnSpc>
                <a:spcPct val="133000"/>
              </a:lnSpc>
              <a:buSzPct val="100000"/>
              <a:buChar char="•"/>
            </a:pPr>
            <a:r>
              <a:rPr lang="en-US" sz="1450" dirty="0">
                <a:solidFill>
                  <a:srgbClr val="15213F"/>
                </a:solidFill>
                <a:latin typeface="Roboto" pitchFamily="34" charset="0"/>
                <a:ea typeface="Roboto" pitchFamily="34" charset="-122"/>
                <a:cs typeface="Roboto" pitchFamily="34" charset="-120"/>
              </a:rPr>
              <a:t>Users spend too much time finding relevant content</a:t>
            </a:r>
            <a:endParaRPr lang="en-US" sz="1450" dirty="0"/>
          </a:p>
        </p:txBody>
      </p:sp>
      <p:sp>
        <p:nvSpPr>
          <p:cNvPr id="7" name="Text 5"/>
          <p:cNvSpPr/>
          <p:nvPr/>
        </p:nvSpPr>
        <p:spPr>
          <a:xfrm>
            <a:off x="661475" y="3935214"/>
            <a:ext cx="11478330" cy="302419"/>
          </a:xfrm>
          <a:prstGeom prst="rect">
            <a:avLst/>
          </a:prstGeom>
          <a:noFill/>
          <a:ln/>
        </p:spPr>
        <p:txBody>
          <a:bodyPr wrap="none" lIns="0" tIns="0" rIns="0" bIns="0" rtlCol="0" anchor="t"/>
          <a:lstStyle/>
          <a:p>
            <a:pPr algn="l" indent="0" marL="0">
              <a:lnSpc>
                <a:spcPct val="133000"/>
              </a:lnSpc>
              <a:buNone/>
            </a:pPr>
            <a:r>
              <a:rPr lang="en-US" sz="1450" b="1" dirty="0">
                <a:solidFill>
                  <a:srgbClr val="15213F"/>
                </a:solidFill>
                <a:latin typeface="Roboto Bold" pitchFamily="34" charset="0"/>
                <a:ea typeface="Roboto Bold" pitchFamily="34" charset="-122"/>
                <a:cs typeface="Roboto Bold" pitchFamily="34" charset="-120"/>
              </a:rPr>
              <a:t>Target users:</a:t>
            </a:r>
            <a:pPr algn="l" indent="0" marL="0">
              <a:lnSpc>
                <a:spcPct val="133000"/>
              </a:lnSpc>
              <a:buNone/>
            </a:pPr>
            <a:r>
              <a:rPr lang="en-US" sz="1450" dirty="0">
                <a:solidFill>
                  <a:srgbClr val="15213F"/>
                </a:solidFill>
                <a:latin typeface="Roboto" pitchFamily="34" charset="0"/>
                <a:ea typeface="Roboto" pitchFamily="34" charset="-122"/>
                <a:cs typeface="Roboto" pitchFamily="34" charset="-120"/>
              </a:rPr>
              <a:t> educational institutions, research teams, organizations, and libraries.</a:t>
            </a:r>
            <a:endParaRPr lang="en-US" sz="1450" dirty="0"/>
          </a:p>
        </p:txBody>
      </p:sp>
      <p:sp>
        <p:nvSpPr>
          <p:cNvPr id="8" name="Text 6"/>
          <p:cNvSpPr/>
          <p:nvPr/>
        </p:nvSpPr>
        <p:spPr>
          <a:xfrm>
            <a:off x="661475" y="4657508"/>
            <a:ext cx="5203794" cy="295275"/>
          </a:xfrm>
          <a:prstGeom prst="rect">
            <a:avLst/>
          </a:prstGeom>
          <a:noFill/>
          <a:ln/>
        </p:spPr>
        <p:txBody>
          <a:bodyPr wrap="none" lIns="0" tIns="0" rIns="0" bIns="0" rtlCol="0" anchor="t"/>
          <a:lstStyle/>
          <a:p>
            <a:pPr algn="l" indent="0" marL="0">
              <a:lnSpc>
                <a:spcPct val="104000"/>
              </a:lnSpc>
              <a:buNone/>
            </a:pPr>
            <a:r>
              <a:rPr lang="en-US" sz="1850" dirty="0">
                <a:solidFill>
                  <a:srgbClr val="3257B8"/>
                </a:solidFill>
                <a:latin typeface="Roboto Slab" pitchFamily="34" charset="0"/>
                <a:ea typeface="Roboto Slab" pitchFamily="34" charset="-122"/>
                <a:cs typeface="Roboto Slab" pitchFamily="34" charset="-120"/>
              </a:rPr>
              <a:t>Traditional Search</a:t>
            </a:r>
            <a:endParaRPr lang="en-US" sz="1850" dirty="0"/>
          </a:p>
        </p:txBody>
      </p:sp>
      <p:sp>
        <p:nvSpPr>
          <p:cNvPr id="9" name="Text 7"/>
          <p:cNvSpPr/>
          <p:nvPr/>
        </p:nvSpPr>
        <p:spPr>
          <a:xfrm>
            <a:off x="661475" y="5123557"/>
            <a:ext cx="5203794" cy="1039416"/>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5213F"/>
                </a:solidFill>
                <a:latin typeface="Roboto" pitchFamily="34" charset="0"/>
                <a:ea typeface="Roboto" pitchFamily="34" charset="-122"/>
                <a:cs typeface="Roboto" pitchFamily="34" charset="-120"/>
              </a:rPr>
              <a:t>Exact word matches only</a:t>
            </a:r>
            <a:endParaRPr lang="en-US" sz="1450" dirty="0"/>
          </a:p>
          <a:p>
            <a:pPr algn="l" marL="294640" indent="-294640">
              <a:lnSpc>
                <a:spcPct val="133000"/>
              </a:lnSpc>
              <a:buSzPct val="100000"/>
              <a:buChar char="•"/>
            </a:pPr>
            <a:r>
              <a:rPr lang="en-US" sz="1450" dirty="0">
                <a:solidFill>
                  <a:srgbClr val="15213F"/>
                </a:solidFill>
                <a:latin typeface="Roboto" pitchFamily="34" charset="0"/>
                <a:ea typeface="Roboto" pitchFamily="34" charset="-122"/>
                <a:cs typeface="Roboto" pitchFamily="34" charset="-120"/>
              </a:rPr>
              <a:t>Limited context understanding</a:t>
            </a:r>
            <a:endParaRPr lang="en-US" sz="1450" dirty="0"/>
          </a:p>
          <a:p>
            <a:pPr algn="l" marL="294640" indent="-294640">
              <a:lnSpc>
                <a:spcPct val="133000"/>
              </a:lnSpc>
              <a:buSzPct val="100000"/>
              <a:buChar char="•"/>
            </a:pPr>
            <a:r>
              <a:rPr lang="en-US" sz="1450" dirty="0">
                <a:solidFill>
                  <a:srgbClr val="15213F"/>
                </a:solidFill>
                <a:latin typeface="Roboto" pitchFamily="34" charset="0"/>
                <a:ea typeface="Roboto" pitchFamily="34" charset="-122"/>
                <a:cs typeface="Roboto" pitchFamily="34" charset="-120"/>
              </a:rPr>
              <a:t>Can return incomplete results</a:t>
            </a:r>
            <a:endParaRPr lang="en-US" sz="1450" dirty="0"/>
          </a:p>
        </p:txBody>
      </p:sp>
      <p:sp>
        <p:nvSpPr>
          <p:cNvPr id="10" name="Text 8"/>
          <p:cNvSpPr/>
          <p:nvPr/>
        </p:nvSpPr>
        <p:spPr>
          <a:xfrm>
            <a:off x="6332776" y="4657508"/>
            <a:ext cx="5203794" cy="295275"/>
          </a:xfrm>
          <a:prstGeom prst="rect">
            <a:avLst/>
          </a:prstGeom>
          <a:noFill/>
          <a:ln/>
        </p:spPr>
        <p:txBody>
          <a:bodyPr wrap="none" lIns="0" tIns="0" rIns="0" bIns="0" rtlCol="0" anchor="t"/>
          <a:lstStyle/>
          <a:p>
            <a:pPr algn="l" indent="0" marL="0">
              <a:lnSpc>
                <a:spcPct val="104000"/>
              </a:lnSpc>
              <a:buNone/>
            </a:pPr>
            <a:r>
              <a:rPr lang="en-US" sz="1850" dirty="0">
                <a:solidFill>
                  <a:srgbClr val="3257B8"/>
                </a:solidFill>
                <a:latin typeface="Roboto Slab" pitchFamily="34" charset="0"/>
                <a:ea typeface="Roboto Slab" pitchFamily="34" charset="-122"/>
                <a:cs typeface="Roboto Slab" pitchFamily="34" charset="-120"/>
              </a:rPr>
              <a:t>Semantic Search</a:t>
            </a:r>
            <a:endParaRPr lang="en-US" sz="1850" dirty="0"/>
          </a:p>
        </p:txBody>
      </p:sp>
      <p:sp>
        <p:nvSpPr>
          <p:cNvPr id="11" name="Text 9"/>
          <p:cNvSpPr/>
          <p:nvPr/>
        </p:nvSpPr>
        <p:spPr>
          <a:xfrm>
            <a:off x="6332776" y="5123557"/>
            <a:ext cx="5203794" cy="1039416"/>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5213F"/>
                </a:solidFill>
                <a:latin typeface="Roboto" pitchFamily="34" charset="0"/>
                <a:ea typeface="Roboto" pitchFamily="34" charset="-122"/>
                <a:cs typeface="Roboto" pitchFamily="34" charset="-120"/>
              </a:rPr>
              <a:t>Understands intent</a:t>
            </a:r>
            <a:endParaRPr lang="en-US" sz="1450" dirty="0"/>
          </a:p>
          <a:p>
            <a:pPr algn="l" marL="294640" indent="-294640">
              <a:lnSpc>
                <a:spcPct val="133000"/>
              </a:lnSpc>
              <a:buSzPct val="100000"/>
              <a:buChar char="•"/>
            </a:pPr>
            <a:r>
              <a:rPr lang="en-US" sz="1450" dirty="0">
                <a:solidFill>
                  <a:srgbClr val="15213F"/>
                </a:solidFill>
                <a:latin typeface="Roboto" pitchFamily="34" charset="0"/>
                <a:ea typeface="Roboto" pitchFamily="34" charset="-122"/>
                <a:cs typeface="Roboto" pitchFamily="34" charset="-120"/>
              </a:rPr>
              <a:t>Finds relevant documents</a:t>
            </a:r>
            <a:endParaRPr lang="en-US" sz="1450" dirty="0"/>
          </a:p>
          <a:p>
            <a:pPr algn="l" marL="294640" indent="-294640">
              <a:lnSpc>
                <a:spcPct val="133000"/>
              </a:lnSpc>
              <a:buSzPct val="100000"/>
              <a:buChar char="•"/>
            </a:pPr>
            <a:r>
              <a:rPr lang="en-US" sz="1450" dirty="0">
                <a:solidFill>
                  <a:srgbClr val="15213F"/>
                </a:solidFill>
                <a:latin typeface="Roboto" pitchFamily="34" charset="0"/>
                <a:ea typeface="Roboto" pitchFamily="34" charset="-122"/>
                <a:cs typeface="Roboto" pitchFamily="34" charset="-120"/>
              </a:rPr>
              <a:t>Improves speed and accuracy</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661475" y="548680"/>
            <a:ext cx="2068758" cy="160338"/>
          </a:xfrm>
          <a:prstGeom prst="roundRect">
            <a:avLst>
              <a:gd name="adj" fmla="val 7902"/>
            </a:avLst>
          </a:prstGeom>
          <a:solidFill>
            <a:srgbClr val="D7DFF4"/>
          </a:solidFill>
          <a:ln/>
        </p:spPr>
      </p:sp>
      <p:sp>
        <p:nvSpPr>
          <p:cNvPr id="3" name="Text 1"/>
          <p:cNvSpPr/>
          <p:nvPr/>
        </p:nvSpPr>
        <p:spPr>
          <a:xfrm>
            <a:off x="724775" y="580608"/>
            <a:ext cx="2551743" cy="97036"/>
          </a:xfrm>
          <a:prstGeom prst="rect">
            <a:avLst/>
          </a:prstGeom>
          <a:noFill/>
          <a:ln/>
        </p:spPr>
        <p:txBody>
          <a:bodyPr wrap="none" lIns="0" tIns="0" rIns="0" bIns="0" rtlCol="0" anchor="t"/>
          <a:lstStyle/>
          <a:p>
            <a:pPr algn="l" indent="0" marL="0">
              <a:lnSpc>
                <a:spcPct val="96000"/>
              </a:lnSpc>
              <a:buNone/>
            </a:pPr>
            <a:r>
              <a:rPr lang="en-US" sz="650" dirty="0">
                <a:solidFill>
                  <a:srgbClr val="15213F"/>
                </a:solidFill>
                <a:latin typeface="Roboto" pitchFamily="34" charset="0"/>
                <a:ea typeface="Roboto" pitchFamily="34" charset="-122"/>
                <a:cs typeface="Roboto" pitchFamily="34" charset="-120"/>
              </a:rPr>
              <a:t>SLIDE 2 — PROPOSED SOLUTION AND OBJECTIVES</a:t>
            </a:r>
            <a:endParaRPr lang="en-US" sz="650" dirty="0"/>
          </a:p>
        </p:txBody>
      </p:sp>
      <p:sp>
        <p:nvSpPr>
          <p:cNvPr id="4" name="Text 2"/>
          <p:cNvSpPr/>
          <p:nvPr/>
        </p:nvSpPr>
        <p:spPr>
          <a:xfrm>
            <a:off x="661475" y="754817"/>
            <a:ext cx="10868745" cy="329902"/>
          </a:xfrm>
          <a:prstGeom prst="rect">
            <a:avLst/>
          </a:prstGeom>
          <a:noFill/>
          <a:ln/>
        </p:spPr>
        <p:txBody>
          <a:bodyPr wrap="none" lIns="0" tIns="0" rIns="0" bIns="0" rtlCol="0" anchor="t"/>
          <a:lstStyle/>
          <a:p>
            <a:pPr algn="l" indent="0" marL="0">
              <a:lnSpc>
                <a:spcPct val="104000"/>
              </a:lnSpc>
              <a:buNone/>
            </a:pPr>
            <a:r>
              <a:rPr lang="en-US" sz="2050" dirty="0">
                <a:solidFill>
                  <a:srgbClr val="3257B8"/>
                </a:solidFill>
                <a:latin typeface="Roboto Slab" pitchFamily="34" charset="0"/>
                <a:ea typeface="Roboto Slab" pitchFamily="34" charset="-122"/>
                <a:cs typeface="Roboto Slab" pitchFamily="34" charset="-120"/>
              </a:rPr>
              <a:t>Proposed Solution and Objectives</a:t>
            </a:r>
            <a:endParaRPr lang="en-US" sz="2050" dirty="0"/>
          </a:p>
        </p:txBody>
      </p:sp>
      <p:sp>
        <p:nvSpPr>
          <p:cNvPr id="5" name="Text 3"/>
          <p:cNvSpPr/>
          <p:nvPr/>
        </p:nvSpPr>
        <p:spPr>
          <a:xfrm>
            <a:off x="661475" y="1152850"/>
            <a:ext cx="11478330" cy="131564"/>
          </a:xfrm>
          <a:prstGeom prst="rect">
            <a:avLst/>
          </a:prstGeom>
          <a:noFill/>
          <a:ln/>
        </p:spPr>
        <p:txBody>
          <a:bodyPr wrap="none" lIns="0" tIns="0" rIns="0" bIns="0" rtlCol="0" anchor="t"/>
          <a:lstStyle/>
          <a:p>
            <a:pPr algn="l" indent="0" marL="0">
              <a:lnSpc>
                <a:spcPct val="104000"/>
              </a:lnSpc>
              <a:buNone/>
            </a:pPr>
            <a:r>
              <a:rPr lang="en-US" sz="800" dirty="0">
                <a:solidFill>
                  <a:srgbClr val="15213F"/>
                </a:solidFill>
                <a:latin typeface="Roboto" pitchFamily="34" charset="0"/>
                <a:ea typeface="Roboto" pitchFamily="34" charset="-122"/>
                <a:cs typeface="Roboto" pitchFamily="34" charset="-120"/>
              </a:rPr>
              <a:t>The proposed system combines </a:t>
            </a:r>
            <a:pPr algn="l" indent="0" marL="0">
              <a:lnSpc>
                <a:spcPct val="104000"/>
              </a:lnSpc>
              <a:buNone/>
            </a:pPr>
            <a:r>
              <a:rPr lang="en-US" sz="800" b="1" dirty="0">
                <a:solidFill>
                  <a:srgbClr val="15213F"/>
                </a:solidFill>
                <a:latin typeface="Roboto Bold" pitchFamily="34" charset="0"/>
                <a:ea typeface="Roboto Bold" pitchFamily="34" charset="-122"/>
                <a:cs typeface="Roboto Bold" pitchFamily="34" charset="-120"/>
              </a:rPr>
              <a:t>AI/NLP semantic search</a:t>
            </a:r>
            <a:pPr algn="l" indent="0" marL="0">
              <a:lnSpc>
                <a:spcPct val="104000"/>
              </a:lnSpc>
              <a:buNone/>
            </a:pPr>
            <a:r>
              <a:rPr lang="en-US" sz="800" dirty="0">
                <a:solidFill>
                  <a:srgbClr val="15213F"/>
                </a:solidFill>
                <a:latin typeface="Roboto" pitchFamily="34" charset="0"/>
                <a:ea typeface="Roboto" pitchFamily="34" charset="-122"/>
                <a:cs typeface="Roboto" pitchFamily="34" charset="-120"/>
              </a:rPr>
              <a:t> with </a:t>
            </a:r>
            <a:pPr algn="l" indent="0" marL="0">
              <a:lnSpc>
                <a:spcPct val="104000"/>
              </a:lnSpc>
              <a:buNone/>
            </a:pPr>
            <a:r>
              <a:rPr lang="en-US" sz="800" b="1" dirty="0">
                <a:solidFill>
                  <a:srgbClr val="15213F"/>
                </a:solidFill>
                <a:latin typeface="Roboto Bold" pitchFamily="34" charset="0"/>
                <a:ea typeface="Roboto Bold" pitchFamily="34" charset="-122"/>
                <a:cs typeface="Roboto Bold" pitchFamily="34" charset="-120"/>
              </a:rPr>
              <a:t>document analytics</a:t>
            </a:r>
            <a:pPr algn="l" indent="0" marL="0">
              <a:lnSpc>
                <a:spcPct val="104000"/>
              </a:lnSpc>
              <a:buNone/>
            </a:pPr>
            <a:r>
              <a:rPr lang="en-US" sz="800" dirty="0">
                <a:solidFill>
                  <a:srgbClr val="15213F"/>
                </a:solidFill>
                <a:latin typeface="Roboto" pitchFamily="34" charset="0"/>
                <a:ea typeface="Roboto" pitchFamily="34" charset="-122"/>
                <a:cs typeface="Roboto" pitchFamily="34" charset="-120"/>
              </a:rPr>
              <a:t> in one unified platform.</a:t>
            </a:r>
            <a:endParaRPr lang="en-US" sz="800" dirty="0"/>
          </a:p>
        </p:txBody>
      </p:sp>
      <p:sp>
        <p:nvSpPr>
          <p:cNvPr id="6" name="Text 4"/>
          <p:cNvSpPr/>
          <p:nvPr/>
        </p:nvSpPr>
        <p:spPr>
          <a:xfrm>
            <a:off x="661475" y="1417171"/>
            <a:ext cx="5083048" cy="164902"/>
          </a:xfrm>
          <a:prstGeom prst="rect">
            <a:avLst/>
          </a:prstGeom>
          <a:noFill/>
          <a:ln/>
        </p:spPr>
        <p:txBody>
          <a:bodyPr wrap="none" lIns="0" tIns="0" rIns="0" bIns="0" rtlCol="0" anchor="t"/>
          <a:lstStyle/>
          <a:p>
            <a:pPr algn="l" indent="0" marL="0">
              <a:lnSpc>
                <a:spcPct val="104000"/>
              </a:lnSpc>
              <a:buNone/>
            </a:pPr>
            <a:r>
              <a:rPr lang="en-US" sz="1000" dirty="0">
                <a:solidFill>
                  <a:srgbClr val="3257B8"/>
                </a:solidFill>
                <a:latin typeface="Roboto Slab" pitchFamily="34" charset="0"/>
                <a:ea typeface="Roboto Slab" pitchFamily="34" charset="-122"/>
                <a:cs typeface="Roboto Slab" pitchFamily="34" charset="-120"/>
              </a:rPr>
              <a:t>Solution Overview</a:t>
            </a:r>
            <a:endParaRPr lang="en-US" sz="10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659830"/>
            <a:ext cx="5083048" cy="591939"/>
          </a:xfrm>
          <a:prstGeom prst="rect">
            <a:avLst/>
          </a:prstGeom>
        </p:spPr>
      </p:pic>
      <p:sp>
        <p:nvSpPr>
          <p:cNvPr id="8" name="Text 5"/>
          <p:cNvSpPr/>
          <p:nvPr/>
        </p:nvSpPr>
        <p:spPr>
          <a:xfrm>
            <a:off x="830539" y="1757065"/>
            <a:ext cx="4795718" cy="164902"/>
          </a:xfrm>
          <a:prstGeom prst="rect">
            <a:avLst/>
          </a:prstGeom>
          <a:noFill/>
          <a:ln/>
        </p:spPr>
        <p:txBody>
          <a:bodyPr wrap="none" lIns="0" tIns="0" rIns="0" bIns="0" rtlCol="0" anchor="t"/>
          <a:lstStyle/>
          <a:p>
            <a:pPr algn="l" indent="0" marL="0">
              <a:lnSpc>
                <a:spcPct val="104000"/>
              </a:lnSpc>
              <a:buNone/>
            </a:pPr>
            <a:r>
              <a:rPr lang="en-US" sz="1000" dirty="0">
                <a:solidFill>
                  <a:srgbClr val="15213F"/>
                </a:solidFill>
                <a:latin typeface="Roboto Slab" pitchFamily="34" charset="0"/>
                <a:ea typeface="Roboto Slab" pitchFamily="34" charset="-122"/>
                <a:cs typeface="Roboto Slab" pitchFamily="34" charset="-120"/>
              </a:rPr>
              <a:t>Semantic Search</a:t>
            </a:r>
            <a:endParaRPr lang="en-US" sz="1000" dirty="0"/>
          </a:p>
        </p:txBody>
      </p:sp>
      <p:sp>
        <p:nvSpPr>
          <p:cNvPr id="9" name="Text 6"/>
          <p:cNvSpPr/>
          <p:nvPr/>
        </p:nvSpPr>
        <p:spPr>
          <a:xfrm>
            <a:off x="830539" y="1980902"/>
            <a:ext cx="4795718" cy="131564"/>
          </a:xfrm>
          <a:prstGeom prst="rect">
            <a:avLst/>
          </a:prstGeom>
          <a:noFill/>
          <a:ln/>
        </p:spPr>
        <p:txBody>
          <a:bodyPr wrap="none" lIns="0" tIns="0" rIns="0" bIns="0" rtlCol="0" anchor="t"/>
          <a:lstStyle/>
          <a:p>
            <a:pPr algn="l" indent="0" marL="0">
              <a:lnSpc>
                <a:spcPct val="104000"/>
              </a:lnSpc>
              <a:buNone/>
            </a:pPr>
            <a:r>
              <a:rPr lang="en-US" sz="800" dirty="0">
                <a:solidFill>
                  <a:srgbClr val="15213F"/>
                </a:solidFill>
                <a:latin typeface="Roboto" pitchFamily="34" charset="0"/>
                <a:ea typeface="Roboto" pitchFamily="34" charset="-122"/>
                <a:cs typeface="Roboto" pitchFamily="34" charset="-120"/>
              </a:rPr>
              <a:t>Finds meaning, not just keywords.</a:t>
            </a:r>
            <a:endParaRPr lang="en-US" sz="800" dirty="0"/>
          </a:p>
        </p:txBody>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1475" y="2310705"/>
            <a:ext cx="5083048" cy="591939"/>
          </a:xfrm>
          <a:prstGeom prst="rect">
            <a:avLst/>
          </a:prstGeom>
        </p:spPr>
      </p:pic>
      <p:sp>
        <p:nvSpPr>
          <p:cNvPr id="11" name="Text 7"/>
          <p:cNvSpPr/>
          <p:nvPr/>
        </p:nvSpPr>
        <p:spPr>
          <a:xfrm>
            <a:off x="830539" y="2407940"/>
            <a:ext cx="4795718" cy="164902"/>
          </a:xfrm>
          <a:prstGeom prst="rect">
            <a:avLst/>
          </a:prstGeom>
          <a:noFill/>
          <a:ln/>
        </p:spPr>
        <p:txBody>
          <a:bodyPr wrap="none" lIns="0" tIns="0" rIns="0" bIns="0" rtlCol="0" anchor="t"/>
          <a:lstStyle/>
          <a:p>
            <a:pPr algn="l" indent="0" marL="0">
              <a:lnSpc>
                <a:spcPct val="104000"/>
              </a:lnSpc>
              <a:buNone/>
            </a:pPr>
            <a:r>
              <a:rPr lang="en-US" sz="1000" dirty="0">
                <a:solidFill>
                  <a:srgbClr val="15213F"/>
                </a:solidFill>
                <a:latin typeface="Roboto Slab" pitchFamily="34" charset="0"/>
                <a:ea typeface="Roboto Slab" pitchFamily="34" charset="-122"/>
                <a:cs typeface="Roboto Slab" pitchFamily="34" charset="-120"/>
              </a:rPr>
              <a:t>Document Analytics</a:t>
            </a:r>
            <a:endParaRPr lang="en-US" sz="1000" dirty="0"/>
          </a:p>
        </p:txBody>
      </p:sp>
      <p:sp>
        <p:nvSpPr>
          <p:cNvPr id="12" name="Text 8"/>
          <p:cNvSpPr/>
          <p:nvPr/>
        </p:nvSpPr>
        <p:spPr>
          <a:xfrm>
            <a:off x="830539" y="2631777"/>
            <a:ext cx="4795718" cy="131564"/>
          </a:xfrm>
          <a:prstGeom prst="rect">
            <a:avLst/>
          </a:prstGeom>
          <a:noFill/>
          <a:ln/>
        </p:spPr>
        <p:txBody>
          <a:bodyPr wrap="none" lIns="0" tIns="0" rIns="0" bIns="0" rtlCol="0" anchor="t"/>
          <a:lstStyle/>
          <a:p>
            <a:pPr algn="l" indent="0" marL="0">
              <a:lnSpc>
                <a:spcPct val="104000"/>
              </a:lnSpc>
              <a:buNone/>
            </a:pPr>
            <a:r>
              <a:rPr lang="en-US" sz="800" dirty="0">
                <a:solidFill>
                  <a:srgbClr val="15213F"/>
                </a:solidFill>
                <a:latin typeface="Roboto" pitchFamily="34" charset="0"/>
                <a:ea typeface="Roboto" pitchFamily="34" charset="-122"/>
                <a:cs typeface="Roboto" pitchFamily="34" charset="-120"/>
              </a:rPr>
              <a:t>Extracts summaries and key insights.</a:t>
            </a:r>
            <a:endParaRPr lang="en-US" sz="800" dirty="0"/>
          </a:p>
        </p:txBody>
      </p:sp>
      <p:pic>
        <p:nvPicPr>
          <p:cNvPr id="1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2961580"/>
            <a:ext cx="5083048" cy="591939"/>
          </a:xfrm>
          <a:prstGeom prst="rect">
            <a:avLst/>
          </a:prstGeom>
        </p:spPr>
      </p:pic>
      <p:sp>
        <p:nvSpPr>
          <p:cNvPr id="14" name="Text 9"/>
          <p:cNvSpPr/>
          <p:nvPr/>
        </p:nvSpPr>
        <p:spPr>
          <a:xfrm>
            <a:off x="830539" y="3058815"/>
            <a:ext cx="4795718" cy="164902"/>
          </a:xfrm>
          <a:prstGeom prst="rect">
            <a:avLst/>
          </a:prstGeom>
          <a:noFill/>
          <a:ln/>
        </p:spPr>
        <p:txBody>
          <a:bodyPr wrap="none" lIns="0" tIns="0" rIns="0" bIns="0" rtlCol="0" anchor="t"/>
          <a:lstStyle/>
          <a:p>
            <a:pPr algn="l" indent="0" marL="0">
              <a:lnSpc>
                <a:spcPct val="104000"/>
              </a:lnSpc>
              <a:buNone/>
            </a:pPr>
            <a:r>
              <a:rPr lang="en-US" sz="1000" dirty="0">
                <a:solidFill>
                  <a:srgbClr val="15213F"/>
                </a:solidFill>
                <a:latin typeface="Roboto Slab" pitchFamily="34" charset="0"/>
                <a:ea typeface="Roboto Slab" pitchFamily="34" charset="-122"/>
                <a:cs typeface="Roboto Slab" pitchFamily="34" charset="-120"/>
              </a:rPr>
              <a:t>Integrated Workflow</a:t>
            </a:r>
            <a:endParaRPr lang="en-US" sz="1000" dirty="0"/>
          </a:p>
        </p:txBody>
      </p:sp>
      <p:sp>
        <p:nvSpPr>
          <p:cNvPr id="15" name="Text 10"/>
          <p:cNvSpPr/>
          <p:nvPr/>
        </p:nvSpPr>
        <p:spPr>
          <a:xfrm>
            <a:off x="830539" y="3282652"/>
            <a:ext cx="4795718" cy="131564"/>
          </a:xfrm>
          <a:prstGeom prst="rect">
            <a:avLst/>
          </a:prstGeom>
          <a:noFill/>
          <a:ln/>
        </p:spPr>
        <p:txBody>
          <a:bodyPr wrap="none" lIns="0" tIns="0" rIns="0" bIns="0" rtlCol="0" anchor="t"/>
          <a:lstStyle/>
          <a:p>
            <a:pPr algn="l" indent="0" marL="0">
              <a:lnSpc>
                <a:spcPct val="104000"/>
              </a:lnSpc>
              <a:buNone/>
            </a:pPr>
            <a:r>
              <a:rPr lang="en-US" sz="800" dirty="0">
                <a:solidFill>
                  <a:srgbClr val="15213F"/>
                </a:solidFill>
                <a:latin typeface="Roboto" pitchFamily="34" charset="0"/>
                <a:ea typeface="Roboto" pitchFamily="34" charset="-122"/>
                <a:cs typeface="Roboto" pitchFamily="34" charset="-120"/>
              </a:rPr>
              <a:t>Search and analysis work together.</a:t>
            </a:r>
            <a:endParaRPr lang="en-US" sz="800" dirty="0"/>
          </a:p>
        </p:txBody>
      </p:sp>
      <p:sp>
        <p:nvSpPr>
          <p:cNvPr id="16" name="Text 11"/>
          <p:cNvSpPr/>
          <p:nvPr/>
        </p:nvSpPr>
        <p:spPr>
          <a:xfrm>
            <a:off x="6008438" y="1417171"/>
            <a:ext cx="5528033" cy="164902"/>
          </a:xfrm>
          <a:prstGeom prst="rect">
            <a:avLst/>
          </a:prstGeom>
          <a:noFill/>
          <a:ln/>
        </p:spPr>
        <p:txBody>
          <a:bodyPr wrap="none" lIns="0" tIns="0" rIns="0" bIns="0" rtlCol="0" anchor="t"/>
          <a:lstStyle/>
          <a:p>
            <a:pPr algn="l" indent="0" marL="0">
              <a:lnSpc>
                <a:spcPct val="104000"/>
              </a:lnSpc>
              <a:buNone/>
            </a:pPr>
            <a:r>
              <a:rPr lang="en-US" sz="1000" dirty="0">
                <a:solidFill>
                  <a:srgbClr val="3257B8"/>
                </a:solidFill>
                <a:latin typeface="Roboto Slab" pitchFamily="34" charset="0"/>
                <a:ea typeface="Roboto Slab" pitchFamily="34" charset="-122"/>
                <a:cs typeface="Roboto Slab" pitchFamily="34" charset="-120"/>
              </a:rPr>
              <a:t>How It Fits Together</a:t>
            </a:r>
            <a:endParaRPr lang="en-US" sz="1000" dirty="0"/>
          </a:p>
        </p:txBody>
      </p:sp>
      <p:pic>
        <p:nvPicPr>
          <p:cNvPr id="17" name="Image 3" descr="preencoded.png">    </p:cNvPr>
          <p:cNvPicPr>
            <a:picLocks noChangeAspect="1"/>
          </p:cNvPicPr>
          <p:nvPr/>
        </p:nvPicPr>
        <p:blipFill>
          <a:blip r:embed="rId7"/>
          <a:stretch>
            <a:fillRect/>
          </a:stretch>
        </p:blipFill>
        <p:spPr>
          <a:xfrm>
            <a:off x="7160636" y="1659830"/>
            <a:ext cx="3223636" cy="3040955"/>
          </a:xfrm>
          <a:prstGeom prst="rect">
            <a:avLst/>
          </a:prstGeom>
        </p:spPr>
      </p:pic>
      <p:sp>
        <p:nvSpPr>
          <p:cNvPr id="18" name="Text 12"/>
          <p:cNvSpPr/>
          <p:nvPr/>
        </p:nvSpPr>
        <p:spPr>
          <a:xfrm>
            <a:off x="7470154" y="3660994"/>
            <a:ext cx="1023357" cy="160544"/>
          </a:xfrm>
          <a:prstGeom prst="rect">
            <a:avLst/>
          </a:prstGeom>
          <a:noFill/>
          <a:ln/>
        </p:spPr>
        <p:txBody>
          <a:bodyPr wrap="none" lIns="0" tIns="0" rIns="0" bIns="0" rtlCol="0" anchor="t"/>
          <a:lstStyle/>
          <a:p>
            <a:pPr algn="ctr" indent="0" marL="0">
              <a:lnSpc>
                <a:spcPct val="104000"/>
              </a:lnSpc>
              <a:buNone/>
            </a:pPr>
            <a:r>
              <a:rPr lang="en-US" sz="1000" dirty="0">
                <a:solidFill>
                  <a:srgbClr val="FFFFFF"/>
                </a:solidFill>
                <a:latin typeface="Roboto Slab" pitchFamily="34" charset="0"/>
                <a:ea typeface="Roboto Slab" pitchFamily="34" charset="-122"/>
                <a:cs typeface="Roboto Slab" pitchFamily="34" charset="-120"/>
              </a:rPr>
              <a:t>Semantic Search</a:t>
            </a:r>
            <a:endParaRPr lang="en-US" sz="1000" dirty="0"/>
          </a:p>
        </p:txBody>
      </p:sp>
      <p:sp>
        <p:nvSpPr>
          <p:cNvPr id="19" name="Text 13"/>
          <p:cNvSpPr/>
          <p:nvPr/>
        </p:nvSpPr>
        <p:spPr>
          <a:xfrm>
            <a:off x="7470154" y="3867204"/>
            <a:ext cx="1023357" cy="200146"/>
          </a:xfrm>
          <a:prstGeom prst="rect">
            <a:avLst/>
          </a:prstGeom>
          <a:noFill/>
          <a:ln/>
        </p:spPr>
        <p:txBody>
          <a:bodyPr wrap="square" lIns="0" tIns="0" rIns="0" bIns="0" rtlCol="0" anchor="t">
            <a:normAutofit/>
          </a:bodyPr>
          <a:lstStyle/>
          <a:p>
            <a:pPr algn="ctr" indent="0" marL="0">
              <a:lnSpc>
                <a:spcPct val="81000"/>
              </a:lnSpc>
              <a:buNone/>
            </a:pPr>
            <a:r>
              <a:rPr lang="en-US" sz="800" dirty="0">
                <a:solidFill>
                  <a:srgbClr val="FFFFFF"/>
                </a:solidFill>
                <a:latin typeface="Roboto" pitchFamily="34" charset="0"/>
                <a:ea typeface="Roboto" pitchFamily="34" charset="-122"/>
                <a:cs typeface="Roboto" pitchFamily="34" charset="-120"/>
              </a:rPr>
              <a:t>Find relevant documents.</a:t>
            </a:r>
            <a:endParaRPr lang="en-US" sz="800" dirty="0"/>
          </a:p>
        </p:txBody>
      </p:sp>
      <p:sp>
        <p:nvSpPr>
          <p:cNvPr id="20" name="Text 14"/>
          <p:cNvSpPr/>
          <p:nvPr/>
        </p:nvSpPr>
        <p:spPr>
          <a:xfrm>
            <a:off x="8240749" y="2256764"/>
            <a:ext cx="1023357" cy="160544"/>
          </a:xfrm>
          <a:prstGeom prst="rect">
            <a:avLst/>
          </a:prstGeom>
          <a:noFill/>
          <a:ln/>
        </p:spPr>
        <p:txBody>
          <a:bodyPr wrap="none" lIns="0" tIns="0" rIns="0" bIns="0" rtlCol="0" anchor="t"/>
          <a:lstStyle/>
          <a:p>
            <a:pPr algn="ctr" indent="0" marL="0">
              <a:lnSpc>
                <a:spcPct val="104000"/>
              </a:lnSpc>
              <a:buNone/>
            </a:pPr>
            <a:r>
              <a:rPr lang="en-US" sz="1000" dirty="0">
                <a:solidFill>
                  <a:srgbClr val="FFFFFF"/>
                </a:solidFill>
                <a:latin typeface="Roboto Slab" pitchFamily="34" charset="0"/>
                <a:ea typeface="Roboto Slab" pitchFamily="34" charset="-122"/>
                <a:cs typeface="Roboto Slab" pitchFamily="34" charset="-120"/>
              </a:rPr>
              <a:t>Unified System</a:t>
            </a:r>
            <a:endParaRPr lang="en-US" sz="1000" dirty="0"/>
          </a:p>
        </p:txBody>
      </p:sp>
      <p:sp>
        <p:nvSpPr>
          <p:cNvPr id="21" name="Text 15"/>
          <p:cNvSpPr/>
          <p:nvPr/>
        </p:nvSpPr>
        <p:spPr>
          <a:xfrm>
            <a:off x="8240749" y="2462974"/>
            <a:ext cx="1023357" cy="200146"/>
          </a:xfrm>
          <a:prstGeom prst="rect">
            <a:avLst/>
          </a:prstGeom>
          <a:noFill/>
          <a:ln/>
        </p:spPr>
        <p:txBody>
          <a:bodyPr wrap="square" lIns="0" tIns="0" rIns="0" bIns="0" rtlCol="0" anchor="t">
            <a:normAutofit/>
          </a:bodyPr>
          <a:lstStyle/>
          <a:p>
            <a:pPr algn="ctr" indent="0" marL="0">
              <a:lnSpc>
                <a:spcPct val="81000"/>
              </a:lnSpc>
              <a:buNone/>
            </a:pPr>
            <a:r>
              <a:rPr lang="en-US" sz="800" dirty="0">
                <a:solidFill>
                  <a:srgbClr val="FFFFFF"/>
                </a:solidFill>
                <a:latin typeface="Roboto" pitchFamily="34" charset="0"/>
                <a:ea typeface="Roboto" pitchFamily="34" charset="-122"/>
                <a:cs typeface="Roboto" pitchFamily="34" charset="-120"/>
              </a:rPr>
              <a:t>One interface for search and analysis.</a:t>
            </a:r>
            <a:endParaRPr lang="en-US" sz="800" dirty="0"/>
          </a:p>
        </p:txBody>
      </p:sp>
      <p:sp>
        <p:nvSpPr>
          <p:cNvPr id="22" name="Text 16"/>
          <p:cNvSpPr/>
          <p:nvPr/>
        </p:nvSpPr>
        <p:spPr>
          <a:xfrm>
            <a:off x="9056920" y="3580721"/>
            <a:ext cx="1023357" cy="321089"/>
          </a:xfrm>
          <a:prstGeom prst="rect">
            <a:avLst/>
          </a:prstGeom>
          <a:noFill/>
          <a:ln/>
        </p:spPr>
        <p:txBody>
          <a:bodyPr wrap="square" lIns="0" tIns="0" rIns="0" bIns="0" rtlCol="0" anchor="t">
            <a:normAutofit/>
          </a:bodyPr>
          <a:lstStyle/>
          <a:p>
            <a:pPr algn="ctr" indent="0" marL="0">
              <a:lnSpc>
                <a:spcPct val="104000"/>
              </a:lnSpc>
              <a:buNone/>
            </a:pPr>
            <a:r>
              <a:rPr lang="en-US" sz="1000" dirty="0">
                <a:solidFill>
                  <a:srgbClr val="FFFFFF"/>
                </a:solidFill>
                <a:latin typeface="Roboto Slab" pitchFamily="34" charset="0"/>
                <a:ea typeface="Roboto Slab" pitchFamily="34" charset="-122"/>
                <a:cs typeface="Roboto Slab" pitchFamily="34" charset="-120"/>
              </a:rPr>
              <a:t>Document Analytics</a:t>
            </a:r>
            <a:endParaRPr lang="en-US" sz="1000" dirty="0"/>
          </a:p>
        </p:txBody>
      </p:sp>
      <p:sp>
        <p:nvSpPr>
          <p:cNvPr id="23" name="Text 17"/>
          <p:cNvSpPr/>
          <p:nvPr/>
        </p:nvSpPr>
        <p:spPr>
          <a:xfrm>
            <a:off x="9056920" y="3947476"/>
            <a:ext cx="1023357" cy="200146"/>
          </a:xfrm>
          <a:prstGeom prst="rect">
            <a:avLst/>
          </a:prstGeom>
          <a:noFill/>
          <a:ln/>
        </p:spPr>
        <p:txBody>
          <a:bodyPr wrap="square" lIns="0" tIns="0" rIns="0" bIns="0" rtlCol="0" anchor="t">
            <a:normAutofit/>
          </a:bodyPr>
          <a:lstStyle/>
          <a:p>
            <a:pPr algn="ctr" indent="0" marL="0">
              <a:lnSpc>
                <a:spcPct val="81000"/>
              </a:lnSpc>
              <a:buNone/>
            </a:pPr>
            <a:r>
              <a:rPr lang="en-US" sz="800" dirty="0">
                <a:solidFill>
                  <a:srgbClr val="FFFFFF"/>
                </a:solidFill>
                <a:latin typeface="Roboto" pitchFamily="34" charset="0"/>
                <a:ea typeface="Roboto" pitchFamily="34" charset="-122"/>
                <a:cs typeface="Roboto" pitchFamily="34" charset="-120"/>
              </a:rPr>
              <a:t>Surface key insights quickly.</a:t>
            </a:r>
            <a:endParaRPr lang="en-US" sz="800" dirty="0"/>
          </a:p>
        </p:txBody>
      </p:sp>
      <p:sp>
        <p:nvSpPr>
          <p:cNvPr id="24" name="Text 18"/>
          <p:cNvSpPr/>
          <p:nvPr/>
        </p:nvSpPr>
        <p:spPr>
          <a:xfrm>
            <a:off x="6008438" y="4748041"/>
            <a:ext cx="6137618" cy="131564"/>
          </a:xfrm>
          <a:prstGeom prst="rect">
            <a:avLst/>
          </a:prstGeom>
          <a:noFill/>
          <a:ln/>
        </p:spPr>
        <p:txBody>
          <a:bodyPr wrap="none" lIns="0" tIns="0" rIns="0" bIns="0" rtlCol="0" anchor="t"/>
          <a:lstStyle/>
          <a:p>
            <a:pPr algn="l" indent="0" marL="0">
              <a:lnSpc>
                <a:spcPct val="104000"/>
              </a:lnSpc>
              <a:buNone/>
            </a:pPr>
            <a:r>
              <a:rPr lang="en-US" sz="800" dirty="0">
                <a:solidFill>
                  <a:srgbClr val="15213F"/>
                </a:solidFill>
                <a:latin typeface="Roboto" pitchFamily="34" charset="0"/>
                <a:ea typeface="Roboto" pitchFamily="34" charset="-122"/>
                <a:cs typeface="Roboto" pitchFamily="34" charset="-120"/>
              </a:rPr>
              <a:t>Users search first, then analyze selected documents for actionable results.</a:t>
            </a:r>
            <a:endParaRPr lang="en-US" sz="800" dirty="0"/>
          </a:p>
        </p:txBody>
      </p:sp>
      <p:sp>
        <p:nvSpPr>
          <p:cNvPr id="25" name="Text 19"/>
          <p:cNvSpPr/>
          <p:nvPr/>
        </p:nvSpPr>
        <p:spPr>
          <a:xfrm>
            <a:off x="661475" y="5028635"/>
            <a:ext cx="10868745" cy="164902"/>
          </a:xfrm>
          <a:prstGeom prst="rect">
            <a:avLst/>
          </a:prstGeom>
          <a:noFill/>
          <a:ln/>
        </p:spPr>
        <p:txBody>
          <a:bodyPr wrap="none" lIns="0" tIns="0" rIns="0" bIns="0" rtlCol="0" anchor="t"/>
          <a:lstStyle/>
          <a:p>
            <a:pPr algn="l" indent="0" marL="0">
              <a:lnSpc>
                <a:spcPct val="104000"/>
              </a:lnSpc>
              <a:buNone/>
            </a:pPr>
            <a:r>
              <a:rPr lang="en-US" sz="1000" dirty="0">
                <a:solidFill>
                  <a:srgbClr val="3257B8"/>
                </a:solidFill>
                <a:latin typeface="Roboto Slab" pitchFamily="34" charset="0"/>
                <a:ea typeface="Roboto Slab" pitchFamily="34" charset="-122"/>
                <a:cs typeface="Roboto Slab" pitchFamily="34" charset="-120"/>
              </a:rPr>
              <a:t>Project Objectives</a:t>
            </a:r>
            <a:endParaRPr lang="en-US" sz="1000" dirty="0"/>
          </a:p>
        </p:txBody>
      </p:sp>
      <p:sp>
        <p:nvSpPr>
          <p:cNvPr id="26" name="Text 20"/>
          <p:cNvSpPr/>
          <p:nvPr/>
        </p:nvSpPr>
        <p:spPr>
          <a:xfrm>
            <a:off x="661475" y="5272385"/>
            <a:ext cx="211132" cy="131961"/>
          </a:xfrm>
          <a:prstGeom prst="rect">
            <a:avLst/>
          </a:prstGeom>
          <a:noFill/>
          <a:ln/>
        </p:spPr>
        <p:txBody>
          <a:bodyPr wrap="none" lIns="0" tIns="0" rIns="0" bIns="0" rtlCol="0" anchor="ctr"/>
          <a:lstStyle/>
          <a:p>
            <a:pPr algn="l" indent="0" marL="0">
              <a:lnSpc>
                <a:spcPct val="100000"/>
              </a:lnSpc>
              <a:buNone/>
            </a:pPr>
            <a:r>
              <a:rPr lang="en-US" sz="800" dirty="0">
                <a:solidFill>
                  <a:srgbClr val="15213F"/>
                </a:solidFill>
                <a:latin typeface="Roboto Slab" pitchFamily="34" charset="0"/>
                <a:ea typeface="Roboto Slab" pitchFamily="34" charset="-122"/>
                <a:cs typeface="Roboto Slab" pitchFamily="34" charset="-120"/>
              </a:rPr>
              <a:t>01</a:t>
            </a:r>
            <a:endParaRPr lang="en-US" sz="800" dirty="0"/>
          </a:p>
        </p:txBody>
      </p:sp>
      <p:sp>
        <p:nvSpPr>
          <p:cNvPr id="27" name="Shape 21"/>
          <p:cNvSpPr/>
          <p:nvPr/>
        </p:nvSpPr>
        <p:spPr>
          <a:xfrm>
            <a:off x="661475" y="5439073"/>
            <a:ext cx="5404905" cy="12700"/>
          </a:xfrm>
          <a:prstGeom prst="rect">
            <a:avLst/>
          </a:prstGeom>
          <a:solidFill>
            <a:srgbClr val="476FD6"/>
          </a:solidFill>
          <a:ln/>
        </p:spPr>
      </p:sp>
      <p:sp>
        <p:nvSpPr>
          <p:cNvPr id="28" name="Text 22"/>
          <p:cNvSpPr/>
          <p:nvPr/>
        </p:nvSpPr>
        <p:spPr>
          <a:xfrm>
            <a:off x="661475" y="5517257"/>
            <a:ext cx="5404905" cy="164902"/>
          </a:xfrm>
          <a:prstGeom prst="rect">
            <a:avLst/>
          </a:prstGeom>
          <a:noFill/>
          <a:ln/>
        </p:spPr>
        <p:txBody>
          <a:bodyPr wrap="none" lIns="0" tIns="0" rIns="0" bIns="0" rtlCol="0" anchor="t"/>
          <a:lstStyle/>
          <a:p>
            <a:pPr algn="l" indent="0" marL="0">
              <a:lnSpc>
                <a:spcPct val="104000"/>
              </a:lnSpc>
              <a:buNone/>
            </a:pPr>
            <a:r>
              <a:rPr lang="en-US" sz="1000" dirty="0">
                <a:solidFill>
                  <a:srgbClr val="15213F"/>
                </a:solidFill>
                <a:latin typeface="Roboto Slab" pitchFamily="34" charset="0"/>
                <a:ea typeface="Roboto Slab" pitchFamily="34" charset="-122"/>
                <a:cs typeface="Roboto Slab" pitchFamily="34" charset="-120"/>
              </a:rPr>
              <a:t>Semantic retrieval</a:t>
            </a:r>
            <a:endParaRPr lang="en-US" sz="1000" dirty="0"/>
          </a:p>
        </p:txBody>
      </p:sp>
      <p:sp>
        <p:nvSpPr>
          <p:cNvPr id="29" name="Text 23"/>
          <p:cNvSpPr/>
          <p:nvPr/>
        </p:nvSpPr>
        <p:spPr>
          <a:xfrm>
            <a:off x="6125315" y="5272385"/>
            <a:ext cx="211132" cy="131961"/>
          </a:xfrm>
          <a:prstGeom prst="rect">
            <a:avLst/>
          </a:prstGeom>
          <a:noFill/>
          <a:ln/>
        </p:spPr>
        <p:txBody>
          <a:bodyPr wrap="none" lIns="0" tIns="0" rIns="0" bIns="0" rtlCol="0" anchor="ctr"/>
          <a:lstStyle/>
          <a:p>
            <a:pPr algn="l" indent="0" marL="0">
              <a:lnSpc>
                <a:spcPct val="100000"/>
              </a:lnSpc>
              <a:buNone/>
            </a:pPr>
            <a:r>
              <a:rPr lang="en-US" sz="800" dirty="0">
                <a:solidFill>
                  <a:srgbClr val="15213F"/>
                </a:solidFill>
                <a:latin typeface="Roboto Slab" pitchFamily="34" charset="0"/>
                <a:ea typeface="Roboto Slab" pitchFamily="34" charset="-122"/>
                <a:cs typeface="Roboto Slab" pitchFamily="34" charset="-120"/>
              </a:rPr>
              <a:t>02</a:t>
            </a:r>
            <a:endParaRPr lang="en-US" sz="800" dirty="0"/>
          </a:p>
        </p:txBody>
      </p:sp>
      <p:sp>
        <p:nvSpPr>
          <p:cNvPr id="30" name="Shape 24"/>
          <p:cNvSpPr/>
          <p:nvPr/>
        </p:nvSpPr>
        <p:spPr>
          <a:xfrm>
            <a:off x="6125315" y="5439073"/>
            <a:ext cx="5404905" cy="12700"/>
          </a:xfrm>
          <a:prstGeom prst="rect">
            <a:avLst/>
          </a:prstGeom>
          <a:solidFill>
            <a:srgbClr val="476FD6"/>
          </a:solidFill>
          <a:ln/>
        </p:spPr>
      </p:sp>
      <p:sp>
        <p:nvSpPr>
          <p:cNvPr id="31" name="Text 25"/>
          <p:cNvSpPr/>
          <p:nvPr/>
        </p:nvSpPr>
        <p:spPr>
          <a:xfrm>
            <a:off x="6125315" y="5517257"/>
            <a:ext cx="5404905" cy="164902"/>
          </a:xfrm>
          <a:prstGeom prst="rect">
            <a:avLst/>
          </a:prstGeom>
          <a:noFill/>
          <a:ln/>
        </p:spPr>
        <p:txBody>
          <a:bodyPr wrap="none" lIns="0" tIns="0" rIns="0" bIns="0" rtlCol="0" anchor="t"/>
          <a:lstStyle/>
          <a:p>
            <a:pPr algn="l" indent="0" marL="0">
              <a:lnSpc>
                <a:spcPct val="104000"/>
              </a:lnSpc>
              <a:buNone/>
            </a:pPr>
            <a:r>
              <a:rPr lang="en-US" sz="1000" dirty="0">
                <a:solidFill>
                  <a:srgbClr val="15213F"/>
                </a:solidFill>
                <a:latin typeface="Roboto Slab" pitchFamily="34" charset="0"/>
                <a:ea typeface="Roboto Slab" pitchFamily="34" charset="-122"/>
                <a:cs typeface="Roboto Slab" pitchFamily="34" charset="-120"/>
              </a:rPr>
              <a:t>Document analytics</a:t>
            </a:r>
            <a:endParaRPr lang="en-US" sz="1000" dirty="0"/>
          </a:p>
        </p:txBody>
      </p:sp>
      <p:sp>
        <p:nvSpPr>
          <p:cNvPr id="32" name="Text 26"/>
          <p:cNvSpPr/>
          <p:nvPr/>
        </p:nvSpPr>
        <p:spPr>
          <a:xfrm>
            <a:off x="661475" y="5820271"/>
            <a:ext cx="211132" cy="131961"/>
          </a:xfrm>
          <a:prstGeom prst="rect">
            <a:avLst/>
          </a:prstGeom>
          <a:noFill/>
          <a:ln/>
        </p:spPr>
        <p:txBody>
          <a:bodyPr wrap="none" lIns="0" tIns="0" rIns="0" bIns="0" rtlCol="0" anchor="ctr"/>
          <a:lstStyle/>
          <a:p>
            <a:pPr algn="l" indent="0" marL="0">
              <a:lnSpc>
                <a:spcPct val="100000"/>
              </a:lnSpc>
              <a:buNone/>
            </a:pPr>
            <a:r>
              <a:rPr lang="en-US" sz="800" dirty="0">
                <a:solidFill>
                  <a:srgbClr val="15213F"/>
                </a:solidFill>
                <a:latin typeface="Roboto Slab" pitchFamily="34" charset="0"/>
                <a:ea typeface="Roboto Slab" pitchFamily="34" charset="-122"/>
                <a:cs typeface="Roboto Slab" pitchFamily="34" charset="-120"/>
              </a:rPr>
              <a:t>03</a:t>
            </a:r>
            <a:endParaRPr lang="en-US" sz="800" dirty="0"/>
          </a:p>
        </p:txBody>
      </p:sp>
      <p:sp>
        <p:nvSpPr>
          <p:cNvPr id="33" name="Shape 27"/>
          <p:cNvSpPr/>
          <p:nvPr/>
        </p:nvSpPr>
        <p:spPr>
          <a:xfrm>
            <a:off x="661475" y="5976441"/>
            <a:ext cx="5404905" cy="12700"/>
          </a:xfrm>
          <a:prstGeom prst="rect">
            <a:avLst/>
          </a:prstGeom>
          <a:solidFill>
            <a:srgbClr val="476FD6"/>
          </a:solidFill>
          <a:ln/>
        </p:spPr>
      </p:sp>
      <p:sp>
        <p:nvSpPr>
          <p:cNvPr id="34" name="Text 28"/>
          <p:cNvSpPr/>
          <p:nvPr/>
        </p:nvSpPr>
        <p:spPr>
          <a:xfrm>
            <a:off x="661475" y="6065143"/>
            <a:ext cx="5404905" cy="164902"/>
          </a:xfrm>
          <a:prstGeom prst="rect">
            <a:avLst/>
          </a:prstGeom>
          <a:noFill/>
          <a:ln/>
        </p:spPr>
        <p:txBody>
          <a:bodyPr wrap="none" lIns="0" tIns="0" rIns="0" bIns="0" rtlCol="0" anchor="t"/>
          <a:lstStyle/>
          <a:p>
            <a:pPr algn="l" indent="0" marL="0">
              <a:lnSpc>
                <a:spcPct val="104000"/>
              </a:lnSpc>
              <a:buNone/>
            </a:pPr>
            <a:r>
              <a:rPr lang="en-US" sz="1000" dirty="0">
                <a:solidFill>
                  <a:srgbClr val="15213F"/>
                </a:solidFill>
                <a:latin typeface="Roboto Slab" pitchFamily="34" charset="0"/>
                <a:ea typeface="Roboto Slab" pitchFamily="34" charset="-122"/>
                <a:cs typeface="Roboto Slab" pitchFamily="34" charset="-120"/>
              </a:rPr>
              <a:t>User-friendly interface</a:t>
            </a:r>
            <a:endParaRPr lang="en-US" sz="1000" dirty="0"/>
          </a:p>
        </p:txBody>
      </p:sp>
      <p:sp>
        <p:nvSpPr>
          <p:cNvPr id="35" name="Text 29"/>
          <p:cNvSpPr/>
          <p:nvPr/>
        </p:nvSpPr>
        <p:spPr>
          <a:xfrm>
            <a:off x="6125315" y="5820271"/>
            <a:ext cx="211132" cy="131961"/>
          </a:xfrm>
          <a:prstGeom prst="rect">
            <a:avLst/>
          </a:prstGeom>
          <a:noFill/>
          <a:ln/>
        </p:spPr>
        <p:txBody>
          <a:bodyPr wrap="none" lIns="0" tIns="0" rIns="0" bIns="0" rtlCol="0" anchor="ctr"/>
          <a:lstStyle/>
          <a:p>
            <a:pPr algn="l" indent="0" marL="0">
              <a:lnSpc>
                <a:spcPct val="100000"/>
              </a:lnSpc>
              <a:buNone/>
            </a:pPr>
            <a:r>
              <a:rPr lang="en-US" sz="800" dirty="0">
                <a:solidFill>
                  <a:srgbClr val="15213F"/>
                </a:solidFill>
                <a:latin typeface="Roboto Slab" pitchFamily="34" charset="0"/>
                <a:ea typeface="Roboto Slab" pitchFamily="34" charset="-122"/>
                <a:cs typeface="Roboto Slab" pitchFamily="34" charset="-120"/>
              </a:rPr>
              <a:t>04</a:t>
            </a:r>
            <a:endParaRPr lang="en-US" sz="800" dirty="0"/>
          </a:p>
        </p:txBody>
      </p:sp>
      <p:sp>
        <p:nvSpPr>
          <p:cNvPr id="36" name="Shape 30"/>
          <p:cNvSpPr/>
          <p:nvPr/>
        </p:nvSpPr>
        <p:spPr>
          <a:xfrm>
            <a:off x="6125315" y="5976441"/>
            <a:ext cx="5404905" cy="12700"/>
          </a:xfrm>
          <a:prstGeom prst="rect">
            <a:avLst/>
          </a:prstGeom>
          <a:solidFill>
            <a:srgbClr val="476FD6"/>
          </a:solidFill>
          <a:ln/>
        </p:spPr>
      </p:sp>
      <p:sp>
        <p:nvSpPr>
          <p:cNvPr id="37" name="Text 31"/>
          <p:cNvSpPr/>
          <p:nvPr/>
        </p:nvSpPr>
        <p:spPr>
          <a:xfrm>
            <a:off x="6125315" y="6065143"/>
            <a:ext cx="5404905" cy="164902"/>
          </a:xfrm>
          <a:prstGeom prst="rect">
            <a:avLst/>
          </a:prstGeom>
          <a:noFill/>
          <a:ln/>
        </p:spPr>
        <p:txBody>
          <a:bodyPr wrap="none" lIns="0" tIns="0" rIns="0" bIns="0" rtlCol="0" anchor="t"/>
          <a:lstStyle/>
          <a:p>
            <a:pPr algn="l" indent="0" marL="0">
              <a:lnSpc>
                <a:spcPct val="104000"/>
              </a:lnSpc>
              <a:buNone/>
            </a:pPr>
            <a:r>
              <a:rPr lang="en-US" sz="1000" dirty="0">
                <a:solidFill>
                  <a:srgbClr val="15213F"/>
                </a:solidFill>
                <a:latin typeface="Roboto Slab" pitchFamily="34" charset="0"/>
                <a:ea typeface="Roboto Slab" pitchFamily="34" charset="-122"/>
                <a:cs typeface="Roboto Slab" pitchFamily="34" charset="-120"/>
              </a:rPr>
              <a:t>Scalable system</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61475" y="2250579"/>
            <a:ext cx="4839472" cy="287139"/>
          </a:xfrm>
          <a:prstGeom prst="roundRect">
            <a:avLst>
              <a:gd name="adj" fmla="val 7899"/>
            </a:avLst>
          </a:prstGeom>
          <a:solidFill>
            <a:srgbClr val="D7DFF4"/>
          </a:solidFill>
          <a:ln/>
        </p:spPr>
      </p:sp>
      <p:sp>
        <p:nvSpPr>
          <p:cNvPr id="3" name="Text 1"/>
          <p:cNvSpPr/>
          <p:nvPr/>
        </p:nvSpPr>
        <p:spPr>
          <a:xfrm>
            <a:off x="774879" y="2309967"/>
            <a:ext cx="5222248" cy="173831"/>
          </a:xfrm>
          <a:prstGeom prst="rect">
            <a:avLst/>
          </a:prstGeom>
          <a:noFill/>
          <a:ln/>
        </p:spPr>
        <p:txBody>
          <a:bodyPr wrap="none" lIns="0" tIns="0" rIns="0" bIns="0" rtlCol="0" anchor="t"/>
          <a:lstStyle/>
          <a:p>
            <a:pPr algn="l" indent="0" marL="0">
              <a:lnSpc>
                <a:spcPct val="96000"/>
              </a:lnSpc>
              <a:buNone/>
            </a:pPr>
            <a:r>
              <a:rPr lang="en-US" sz="1150" dirty="0">
                <a:solidFill>
                  <a:srgbClr val="15213F"/>
                </a:solidFill>
                <a:latin typeface="Roboto" pitchFamily="34" charset="0"/>
                <a:ea typeface="Roboto" pitchFamily="34" charset="-122"/>
                <a:cs typeface="Roboto" pitchFamily="34" charset="-120"/>
              </a:rPr>
              <a:t>SLIDE 3 — SYSTEM ARCHITECTURE AND TECHNICAL COMPETENCE</a:t>
            </a:r>
            <a:endParaRPr lang="en-US" sz="1150" dirty="0"/>
          </a:p>
        </p:txBody>
      </p:sp>
      <p:sp>
        <p:nvSpPr>
          <p:cNvPr id="4" name="Text 2"/>
          <p:cNvSpPr/>
          <p:nvPr/>
        </p:nvSpPr>
        <p:spPr>
          <a:xfrm>
            <a:off x="661475" y="2649798"/>
            <a:ext cx="10868745" cy="590649"/>
          </a:xfrm>
          <a:prstGeom prst="rect">
            <a:avLst/>
          </a:prstGeom>
          <a:noFill/>
          <a:ln/>
        </p:spPr>
        <p:txBody>
          <a:bodyPr wrap="none" lIns="0" tIns="0" rIns="0" bIns="0" rtlCol="0" anchor="t"/>
          <a:lstStyle/>
          <a:p>
            <a:pPr algn="l" indent="0" marL="0">
              <a:lnSpc>
                <a:spcPct val="104000"/>
              </a:lnSpc>
              <a:buNone/>
            </a:pPr>
            <a:r>
              <a:rPr lang="en-US" sz="3700" dirty="0">
                <a:solidFill>
                  <a:srgbClr val="3257B8"/>
                </a:solidFill>
                <a:latin typeface="Roboto Slab" pitchFamily="34" charset="0"/>
                <a:ea typeface="Roboto Slab" pitchFamily="34" charset="-122"/>
                <a:cs typeface="Roboto Slab" pitchFamily="34" charset="-120"/>
              </a:rPr>
              <a:t>System Architecture and Technical Competence</a:t>
            </a:r>
            <a:endParaRPr lang="en-US" sz="3700" dirty="0"/>
          </a:p>
        </p:txBody>
      </p:sp>
      <p:sp>
        <p:nvSpPr>
          <p:cNvPr id="5" name="Text 3"/>
          <p:cNvSpPr/>
          <p:nvPr/>
        </p:nvSpPr>
        <p:spPr>
          <a:xfrm>
            <a:off x="661475" y="3487440"/>
            <a:ext cx="10868745" cy="1119882"/>
          </a:xfrm>
          <a:prstGeom prst="rect">
            <a:avLst/>
          </a:prstGeom>
          <a:noFill/>
          <a:ln/>
        </p:spPr>
        <p:txBody>
          <a:bodyPr wrap="square" lIns="0" tIns="0" rIns="0" bIns="0" rtlCol="0" anchor="t">
            <a:normAutofit/>
          </a:bodyPr>
          <a:lstStyle/>
          <a:p>
            <a:pPr algn="l" indent="0" marL="0">
              <a:lnSpc>
                <a:spcPct val="133000"/>
              </a:lnSpc>
              <a:spcAft>
                <a:spcPts val="1650"/>
              </a:spcAft>
              <a:buNone/>
            </a:pPr>
            <a:r>
              <a:rPr lang="en-US" sz="1450" dirty="0">
                <a:solidFill>
                  <a:srgbClr val="15213F"/>
                </a:solidFill>
                <a:latin typeface="Roboto" pitchFamily="34" charset="0"/>
                <a:ea typeface="Roboto" pitchFamily="34" charset="-122"/>
                <a:cs typeface="Roboto" pitchFamily="34" charset="-120"/>
              </a:rPr>
              <a:t>The system follows a modular pipeline: documents are ingested, preprocessed, analyzed with AI/NLP, and returned through a searchable interface. Each stage is separated to keep the architecture scalable and easy to extend.</a:t>
            </a:r>
            <a:endParaRPr lang="en-US" sz="1450" dirty="0"/>
          </a:p>
          <a:p>
            <a:pPr algn="l" indent="0" marL="0">
              <a:lnSpc>
                <a:spcPct val="133000"/>
              </a:lnSpc>
              <a:buNone/>
            </a:pPr>
            <a:r>
              <a:rPr lang="en-US" sz="1450" dirty="0">
                <a:solidFill>
                  <a:srgbClr val="15213F"/>
                </a:solidFill>
                <a:latin typeface="Roboto" pitchFamily="34" charset="0"/>
                <a:ea typeface="Roboto" pitchFamily="34" charset="-122"/>
                <a:cs typeface="Roboto" pitchFamily="34" charset="-120"/>
              </a:rPr>
              <a:t>Together, these modules support semantic retrieval, document understanding, and interactive exploration of results.</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61475" y="536178"/>
            <a:ext cx="2306481" cy="145852"/>
          </a:xfrm>
          <a:prstGeom prst="roundRect">
            <a:avLst>
              <a:gd name="adj" fmla="val 7897"/>
            </a:avLst>
          </a:prstGeom>
          <a:solidFill>
            <a:srgbClr val="D7DFF4"/>
          </a:solidFill>
          <a:ln/>
        </p:spPr>
      </p:sp>
      <p:sp>
        <p:nvSpPr>
          <p:cNvPr id="3" name="Text 1"/>
          <p:cNvSpPr/>
          <p:nvPr/>
        </p:nvSpPr>
        <p:spPr>
          <a:xfrm>
            <a:off x="719020" y="565943"/>
            <a:ext cx="2800974" cy="88305"/>
          </a:xfrm>
          <a:prstGeom prst="rect">
            <a:avLst/>
          </a:prstGeom>
          <a:noFill/>
          <a:ln/>
        </p:spPr>
        <p:txBody>
          <a:bodyPr wrap="none" lIns="0" tIns="0" rIns="0" bIns="0" rtlCol="0" anchor="t"/>
          <a:lstStyle/>
          <a:p>
            <a:pPr algn="l" indent="0" marL="0">
              <a:lnSpc>
                <a:spcPct val="96000"/>
              </a:lnSpc>
              <a:buNone/>
            </a:pPr>
            <a:r>
              <a:rPr lang="en-US" sz="600" dirty="0">
                <a:solidFill>
                  <a:srgbClr val="15213F"/>
                </a:solidFill>
                <a:latin typeface="Roboto" pitchFamily="34" charset="0"/>
                <a:ea typeface="Roboto" pitchFamily="34" charset="-122"/>
                <a:cs typeface="Roboto" pitchFamily="34" charset="-120"/>
              </a:rPr>
              <a:t>SLIDE 4 — IMPLEMENTATION AND WORKING DEMONSTRATION</a:t>
            </a:r>
            <a:endParaRPr lang="en-US" sz="600" dirty="0"/>
          </a:p>
        </p:txBody>
      </p:sp>
      <p:sp>
        <p:nvSpPr>
          <p:cNvPr id="4" name="Text 2"/>
          <p:cNvSpPr/>
          <p:nvPr/>
        </p:nvSpPr>
        <p:spPr>
          <a:xfrm>
            <a:off x="661475" y="721736"/>
            <a:ext cx="10868745" cy="299938"/>
          </a:xfrm>
          <a:prstGeom prst="rect">
            <a:avLst/>
          </a:prstGeom>
          <a:noFill/>
          <a:ln/>
        </p:spPr>
        <p:txBody>
          <a:bodyPr wrap="none" lIns="0" tIns="0" rIns="0" bIns="0" rtlCol="0" anchor="t"/>
          <a:lstStyle/>
          <a:p>
            <a:pPr algn="l" indent="0" marL="0">
              <a:lnSpc>
                <a:spcPct val="104000"/>
              </a:lnSpc>
              <a:buNone/>
            </a:pPr>
            <a:r>
              <a:rPr lang="en-US" sz="1850" dirty="0">
                <a:solidFill>
                  <a:srgbClr val="3257B8"/>
                </a:solidFill>
                <a:latin typeface="Roboto Slab" pitchFamily="34" charset="0"/>
                <a:ea typeface="Roboto Slab" pitchFamily="34" charset="-122"/>
                <a:cs typeface="Roboto Slab" pitchFamily="34" charset="-120"/>
              </a:rPr>
              <a:t>Implementation and Working Demonstration</a:t>
            </a:r>
            <a:endParaRPr lang="en-US" sz="1850" dirty="0"/>
          </a:p>
        </p:txBody>
      </p:sp>
      <p:sp>
        <p:nvSpPr>
          <p:cNvPr id="5" name="Text 3"/>
          <p:cNvSpPr/>
          <p:nvPr/>
        </p:nvSpPr>
        <p:spPr>
          <a:xfrm>
            <a:off x="661475" y="1077243"/>
            <a:ext cx="11478330" cy="115689"/>
          </a:xfrm>
          <a:prstGeom prst="rect">
            <a:avLst/>
          </a:prstGeom>
          <a:noFill/>
          <a:ln/>
        </p:spPr>
        <p:txBody>
          <a:bodyPr wrap="none" lIns="0" tIns="0" rIns="0" bIns="0" rtlCol="0" anchor="t"/>
          <a:lstStyle/>
          <a:p>
            <a:pPr algn="l" indent="0" marL="0">
              <a:lnSpc>
                <a:spcPct val="101000"/>
              </a:lnSpc>
              <a:buNone/>
            </a:pPr>
            <a:r>
              <a:rPr lang="en-US" sz="750" dirty="0">
                <a:solidFill>
                  <a:srgbClr val="15213F"/>
                </a:solidFill>
                <a:latin typeface="Roboto" pitchFamily="34" charset="0"/>
                <a:ea typeface="Roboto" pitchFamily="34" charset="-122"/>
                <a:cs typeface="Roboto" pitchFamily="34" charset="-120"/>
              </a:rPr>
              <a:t>The system demonstrates end-to-end semantic document search, from upload and preprocessing to retrieval and result display.</a:t>
            </a:r>
            <a:endParaRPr lang="en-US" sz="750" dirty="0"/>
          </a:p>
        </p:txBody>
      </p:sp>
      <p:pic>
        <p:nvPicPr>
          <p:cNvPr id="6" name="Image 0" descr="preencoded.png">    </p:cNvPr>
          <p:cNvPicPr>
            <a:picLocks noChangeAspect="1"/>
          </p:cNvPicPr>
          <p:nvPr/>
        </p:nvPicPr>
        <p:blipFill>
          <a:blip r:embed="rId1"/>
          <a:stretch>
            <a:fillRect/>
          </a:stretch>
        </p:blipFill>
        <p:spPr>
          <a:xfrm>
            <a:off x="2563550" y="1244898"/>
            <a:ext cx="7064595" cy="3051572"/>
          </a:xfrm>
          <a:prstGeom prst="rect">
            <a:avLst/>
          </a:prstGeom>
        </p:spPr>
      </p:pic>
      <p:sp>
        <p:nvSpPr>
          <p:cNvPr id="7" name="Text 4"/>
          <p:cNvSpPr/>
          <p:nvPr/>
        </p:nvSpPr>
        <p:spPr>
          <a:xfrm>
            <a:off x="4249354" y="3828914"/>
            <a:ext cx="1048961" cy="191053"/>
          </a:xfrm>
          <a:prstGeom prst="rect">
            <a:avLst/>
          </a:prstGeom>
          <a:noFill/>
          <a:ln/>
        </p:spPr>
        <p:txBody>
          <a:bodyPr wrap="none" lIns="0" tIns="0" rIns="0" bIns="0" rtlCol="0" anchor="t"/>
          <a:lstStyle/>
          <a:p>
            <a:pPr algn="ctr" indent="0" marL="0">
              <a:lnSpc>
                <a:spcPct val="104000"/>
              </a:lnSpc>
              <a:buNone/>
            </a:pPr>
            <a:r>
              <a:rPr lang="en-US" sz="1200" dirty="0">
                <a:solidFill>
                  <a:srgbClr val="15213F"/>
                </a:solidFill>
                <a:latin typeface="Roboto Slab" pitchFamily="34" charset="0"/>
                <a:ea typeface="Roboto Slab" pitchFamily="34" charset="-122"/>
                <a:cs typeface="Roboto Slab" pitchFamily="34" charset="-120"/>
              </a:rPr>
              <a:t>Query Input</a:t>
            </a:r>
            <a:endParaRPr lang="en-US" sz="1200" dirty="0"/>
          </a:p>
        </p:txBody>
      </p:sp>
      <p:sp>
        <p:nvSpPr>
          <p:cNvPr id="8" name="Text 5"/>
          <p:cNvSpPr/>
          <p:nvPr/>
        </p:nvSpPr>
        <p:spPr>
          <a:xfrm>
            <a:off x="6942814" y="3637862"/>
            <a:ext cx="1048960" cy="382106"/>
          </a:xfrm>
          <a:prstGeom prst="rect">
            <a:avLst/>
          </a:prstGeom>
          <a:noFill/>
          <a:ln/>
        </p:spPr>
        <p:txBody>
          <a:bodyPr wrap="square" lIns="0" tIns="0" rIns="0" bIns="0" rtlCol="0" anchor="t">
            <a:normAutofit/>
          </a:bodyPr>
          <a:lstStyle/>
          <a:p>
            <a:pPr algn="ctr" indent="0" marL="0">
              <a:lnSpc>
                <a:spcPct val="104000"/>
              </a:lnSpc>
              <a:buNone/>
            </a:pPr>
            <a:r>
              <a:rPr lang="en-US" sz="1200" dirty="0">
                <a:solidFill>
                  <a:srgbClr val="3257B8"/>
                </a:solidFill>
                <a:latin typeface="Roboto Slab" pitchFamily="34" charset="0"/>
                <a:ea typeface="Roboto Slab" pitchFamily="34" charset="-122"/>
                <a:cs typeface="Roboto Slab" pitchFamily="34" charset="-120"/>
              </a:rPr>
              <a:t>Results Display</a:t>
            </a:r>
            <a:endParaRPr lang="en-US" sz="1200" dirty="0"/>
          </a:p>
        </p:txBody>
      </p:sp>
      <p:sp>
        <p:nvSpPr>
          <p:cNvPr id="9" name="Text 6"/>
          <p:cNvSpPr/>
          <p:nvPr/>
        </p:nvSpPr>
        <p:spPr>
          <a:xfrm>
            <a:off x="2905967" y="1520252"/>
            <a:ext cx="1048961" cy="573159"/>
          </a:xfrm>
          <a:prstGeom prst="rect">
            <a:avLst/>
          </a:prstGeom>
          <a:noFill/>
          <a:ln/>
        </p:spPr>
        <p:txBody>
          <a:bodyPr wrap="square" lIns="0" tIns="0" rIns="0" bIns="0" rtlCol="0" anchor="t">
            <a:normAutofit/>
          </a:bodyPr>
          <a:lstStyle/>
          <a:p>
            <a:pPr algn="ctr" indent="0" marL="0">
              <a:lnSpc>
                <a:spcPct val="104000"/>
              </a:lnSpc>
              <a:buNone/>
            </a:pPr>
            <a:r>
              <a:rPr lang="en-US" sz="1200" dirty="0">
                <a:solidFill>
                  <a:srgbClr val="15213F"/>
                </a:solidFill>
                <a:latin typeface="Roboto Slab" pitchFamily="34" charset="0"/>
                <a:ea typeface="Roboto Slab" pitchFamily="34" charset="-122"/>
                <a:cs typeface="Roboto Slab" pitchFamily="34" charset="-120"/>
              </a:rPr>
              <a:t>Document Upload / Access</a:t>
            </a:r>
            <a:endParaRPr lang="en-US" sz="1200" dirty="0"/>
          </a:p>
        </p:txBody>
      </p:sp>
      <p:sp>
        <p:nvSpPr>
          <p:cNvPr id="10" name="Text 7"/>
          <p:cNvSpPr/>
          <p:nvPr/>
        </p:nvSpPr>
        <p:spPr>
          <a:xfrm>
            <a:off x="8246187" y="1520252"/>
            <a:ext cx="1048960" cy="382106"/>
          </a:xfrm>
          <a:prstGeom prst="rect">
            <a:avLst/>
          </a:prstGeom>
          <a:noFill/>
          <a:ln/>
        </p:spPr>
        <p:txBody>
          <a:bodyPr wrap="square" lIns="0" tIns="0" rIns="0" bIns="0" rtlCol="0" anchor="t">
            <a:normAutofit/>
          </a:bodyPr>
          <a:lstStyle/>
          <a:p>
            <a:pPr algn="ctr" indent="0" marL="0">
              <a:lnSpc>
                <a:spcPct val="104000"/>
              </a:lnSpc>
              <a:buNone/>
            </a:pPr>
            <a:r>
              <a:rPr lang="en-US" sz="1200" dirty="0">
                <a:solidFill>
                  <a:srgbClr val="15213F"/>
                </a:solidFill>
                <a:latin typeface="Roboto Slab" pitchFamily="34" charset="0"/>
                <a:ea typeface="Roboto Slab" pitchFamily="34" charset="-122"/>
                <a:cs typeface="Roboto Slab" pitchFamily="34" charset="-120"/>
              </a:rPr>
              <a:t>Analytics View</a:t>
            </a:r>
            <a:endParaRPr lang="en-US" sz="1200" dirty="0"/>
          </a:p>
        </p:txBody>
      </p:sp>
      <p:sp>
        <p:nvSpPr>
          <p:cNvPr id="11" name="Text 8"/>
          <p:cNvSpPr/>
          <p:nvPr/>
        </p:nvSpPr>
        <p:spPr>
          <a:xfrm>
            <a:off x="5612801" y="1520252"/>
            <a:ext cx="1048961" cy="382106"/>
          </a:xfrm>
          <a:prstGeom prst="rect">
            <a:avLst/>
          </a:prstGeom>
          <a:noFill/>
          <a:ln/>
        </p:spPr>
        <p:txBody>
          <a:bodyPr wrap="square" lIns="0" tIns="0" rIns="0" bIns="0" rtlCol="0" anchor="t">
            <a:normAutofit/>
          </a:bodyPr>
          <a:lstStyle/>
          <a:p>
            <a:pPr algn="ctr" indent="0" marL="0">
              <a:lnSpc>
                <a:spcPct val="104000"/>
              </a:lnSpc>
              <a:buNone/>
            </a:pPr>
            <a:r>
              <a:rPr lang="en-US" sz="1200" dirty="0">
                <a:solidFill>
                  <a:srgbClr val="3257B8"/>
                </a:solidFill>
                <a:latin typeface="Roboto Slab" pitchFamily="34" charset="0"/>
                <a:ea typeface="Roboto Slab" pitchFamily="34" charset="-122"/>
                <a:cs typeface="Roboto Slab" pitchFamily="34" charset="-120"/>
              </a:rPr>
              <a:t>Semantic Search</a:t>
            </a:r>
            <a:endParaRPr lang="en-US" sz="1200" dirty="0"/>
          </a:p>
        </p:txBody>
      </p:sp>
      <p:sp>
        <p:nvSpPr>
          <p:cNvPr id="12" name="Text 9"/>
          <p:cNvSpPr/>
          <p:nvPr/>
        </p:nvSpPr>
        <p:spPr>
          <a:xfrm>
            <a:off x="661475" y="4410084"/>
            <a:ext cx="5539343" cy="149920"/>
          </a:xfrm>
          <a:prstGeom prst="rect">
            <a:avLst/>
          </a:prstGeom>
          <a:noFill/>
          <a:ln/>
        </p:spPr>
        <p:txBody>
          <a:bodyPr wrap="none" lIns="0" tIns="0" rIns="0" bIns="0" rtlCol="0" anchor="t"/>
          <a:lstStyle/>
          <a:p>
            <a:pPr algn="l" indent="0" marL="0">
              <a:lnSpc>
                <a:spcPct val="104000"/>
              </a:lnSpc>
              <a:buNone/>
            </a:pPr>
            <a:r>
              <a:rPr lang="en-US" sz="900" dirty="0">
                <a:solidFill>
                  <a:srgbClr val="3257B8"/>
                </a:solidFill>
                <a:latin typeface="Roboto Slab" pitchFamily="34" charset="0"/>
                <a:ea typeface="Roboto Slab" pitchFamily="34" charset="-122"/>
                <a:cs typeface="Roboto Slab" pitchFamily="34" charset="-120"/>
              </a:rPr>
              <a:t>Implemented Features</a:t>
            </a:r>
            <a:endParaRPr lang="en-US" sz="900" dirty="0"/>
          </a:p>
        </p:txBody>
      </p:sp>
      <p:pic>
        <p:nvPicPr>
          <p:cNvPr id="13"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1475" y="4604643"/>
            <a:ext cx="2745314" cy="806847"/>
          </a:xfrm>
          <a:prstGeom prst="rect">
            <a:avLst/>
          </a:prstGeom>
        </p:spPr>
      </p:pic>
      <p:sp>
        <p:nvSpPr>
          <p:cNvPr id="14" name="Text 10"/>
          <p:cNvSpPr/>
          <p:nvPr/>
        </p:nvSpPr>
        <p:spPr>
          <a:xfrm>
            <a:off x="1976586" y="4676577"/>
            <a:ext cx="115091" cy="143966"/>
          </a:xfrm>
          <a:prstGeom prst="rect">
            <a:avLst/>
          </a:prstGeom>
          <a:noFill/>
          <a:ln/>
        </p:spPr>
        <p:txBody>
          <a:bodyPr wrap="none" lIns="0" tIns="0" rIns="0" bIns="0" rtlCol="0" anchor="ctr"/>
          <a:lstStyle/>
          <a:p>
            <a:pPr algn="ctr" indent="0" marL="0">
              <a:lnSpc>
                <a:spcPct val="100000"/>
              </a:lnSpc>
              <a:buNone/>
            </a:pPr>
            <a:r>
              <a:rPr lang="en-US" sz="900" dirty="0">
                <a:solidFill>
                  <a:srgbClr val="FFFFFF"/>
                </a:solidFill>
                <a:latin typeface="Roboto Slab" pitchFamily="34" charset="0"/>
                <a:ea typeface="Roboto Slab" pitchFamily="34" charset="-122"/>
                <a:cs typeface="Roboto Slab" pitchFamily="34" charset="-120"/>
              </a:rPr>
              <a:t>1</a:t>
            </a:r>
            <a:endParaRPr lang="en-US" sz="900" dirty="0"/>
          </a:p>
        </p:txBody>
      </p:sp>
      <p:sp>
        <p:nvSpPr>
          <p:cNvPr id="15" name="Text 11"/>
          <p:cNvSpPr/>
          <p:nvPr/>
        </p:nvSpPr>
        <p:spPr>
          <a:xfrm>
            <a:off x="770117" y="4988520"/>
            <a:ext cx="2528031" cy="149920"/>
          </a:xfrm>
          <a:prstGeom prst="rect">
            <a:avLst/>
          </a:prstGeom>
          <a:noFill/>
          <a:ln/>
        </p:spPr>
        <p:txBody>
          <a:bodyPr wrap="none" lIns="0" tIns="0" rIns="0" bIns="0" rtlCol="0" anchor="t"/>
          <a:lstStyle/>
          <a:p>
            <a:pPr algn="l" indent="0" marL="0">
              <a:lnSpc>
                <a:spcPct val="104000"/>
              </a:lnSpc>
              <a:buNone/>
            </a:pPr>
            <a:r>
              <a:rPr lang="en-US" sz="900" dirty="0">
                <a:solidFill>
                  <a:srgbClr val="15213F"/>
                </a:solidFill>
                <a:latin typeface="Roboto Slab" pitchFamily="34" charset="0"/>
                <a:ea typeface="Roboto Slab" pitchFamily="34" charset="-122"/>
                <a:cs typeface="Roboto Slab" pitchFamily="34" charset="-120"/>
              </a:rPr>
              <a:t>Document Ingestion and Preprocessing</a:t>
            </a:r>
            <a:endParaRPr lang="en-US" sz="900" dirty="0"/>
          </a:p>
        </p:txBody>
      </p:sp>
      <p:sp>
        <p:nvSpPr>
          <p:cNvPr id="16" name="Text 12"/>
          <p:cNvSpPr/>
          <p:nvPr/>
        </p:nvSpPr>
        <p:spPr>
          <a:xfrm>
            <a:off x="770117" y="5187156"/>
            <a:ext cx="2528031" cy="115689"/>
          </a:xfrm>
          <a:prstGeom prst="rect">
            <a:avLst/>
          </a:prstGeom>
          <a:noFill/>
          <a:ln/>
        </p:spPr>
        <p:txBody>
          <a:bodyPr wrap="none" lIns="0" tIns="0" rIns="0" bIns="0" rtlCol="0" anchor="t"/>
          <a:lstStyle/>
          <a:p>
            <a:pPr algn="l" indent="0" marL="0">
              <a:lnSpc>
                <a:spcPct val="101000"/>
              </a:lnSpc>
              <a:buNone/>
            </a:pPr>
            <a:r>
              <a:rPr lang="en-US" sz="750" dirty="0">
                <a:solidFill>
                  <a:srgbClr val="15213F"/>
                </a:solidFill>
                <a:latin typeface="Roboto" pitchFamily="34" charset="0"/>
                <a:ea typeface="Roboto" pitchFamily="34" charset="-122"/>
                <a:cs typeface="Roboto" pitchFamily="34" charset="-120"/>
              </a:rPr>
              <a:t>Prepares uploaded documents for search.</a:t>
            </a:r>
            <a:endParaRPr lang="en-US" sz="750" dirty="0"/>
          </a:p>
        </p:txBody>
      </p:sp>
      <p:pic>
        <p:nvPicPr>
          <p:cNvPr id="17"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455504" y="4604643"/>
            <a:ext cx="2745314" cy="806847"/>
          </a:xfrm>
          <a:prstGeom prst="rect">
            <a:avLst/>
          </a:prstGeom>
        </p:spPr>
      </p:pic>
      <p:sp>
        <p:nvSpPr>
          <p:cNvPr id="18" name="Text 13"/>
          <p:cNvSpPr/>
          <p:nvPr/>
        </p:nvSpPr>
        <p:spPr>
          <a:xfrm>
            <a:off x="4770616" y="4676577"/>
            <a:ext cx="115091" cy="143966"/>
          </a:xfrm>
          <a:prstGeom prst="rect">
            <a:avLst/>
          </a:prstGeom>
          <a:noFill/>
          <a:ln/>
        </p:spPr>
        <p:txBody>
          <a:bodyPr wrap="none" lIns="0" tIns="0" rIns="0" bIns="0" rtlCol="0" anchor="ctr"/>
          <a:lstStyle/>
          <a:p>
            <a:pPr algn="ctr" indent="0" marL="0">
              <a:lnSpc>
                <a:spcPct val="100000"/>
              </a:lnSpc>
              <a:buNone/>
            </a:pPr>
            <a:r>
              <a:rPr lang="en-US" sz="900" dirty="0">
                <a:solidFill>
                  <a:srgbClr val="FFFFFF"/>
                </a:solidFill>
                <a:latin typeface="Roboto Slab" pitchFamily="34" charset="0"/>
                <a:ea typeface="Roboto Slab" pitchFamily="34" charset="-122"/>
                <a:cs typeface="Roboto Slab" pitchFamily="34" charset="-120"/>
              </a:rPr>
              <a:t>2</a:t>
            </a:r>
            <a:endParaRPr lang="en-US" sz="900" dirty="0"/>
          </a:p>
        </p:txBody>
      </p:sp>
      <p:sp>
        <p:nvSpPr>
          <p:cNvPr id="19" name="Text 14"/>
          <p:cNvSpPr/>
          <p:nvPr/>
        </p:nvSpPr>
        <p:spPr>
          <a:xfrm>
            <a:off x="3564146" y="4988520"/>
            <a:ext cx="2528031" cy="149920"/>
          </a:xfrm>
          <a:prstGeom prst="rect">
            <a:avLst/>
          </a:prstGeom>
          <a:noFill/>
          <a:ln/>
        </p:spPr>
        <p:txBody>
          <a:bodyPr wrap="none" lIns="0" tIns="0" rIns="0" bIns="0" rtlCol="0" anchor="t"/>
          <a:lstStyle/>
          <a:p>
            <a:pPr algn="l" indent="0" marL="0">
              <a:lnSpc>
                <a:spcPct val="104000"/>
              </a:lnSpc>
              <a:buNone/>
            </a:pPr>
            <a:r>
              <a:rPr lang="en-US" sz="900" dirty="0">
                <a:solidFill>
                  <a:srgbClr val="15213F"/>
                </a:solidFill>
                <a:latin typeface="Roboto Slab" pitchFamily="34" charset="0"/>
                <a:ea typeface="Roboto Slab" pitchFamily="34" charset="-122"/>
                <a:cs typeface="Roboto Slab" pitchFamily="34" charset="-120"/>
              </a:rPr>
              <a:t>Semantic Search</a:t>
            </a:r>
            <a:endParaRPr lang="en-US" sz="900" dirty="0"/>
          </a:p>
        </p:txBody>
      </p:sp>
      <p:sp>
        <p:nvSpPr>
          <p:cNvPr id="20" name="Text 15"/>
          <p:cNvSpPr/>
          <p:nvPr/>
        </p:nvSpPr>
        <p:spPr>
          <a:xfrm>
            <a:off x="3564146" y="5187156"/>
            <a:ext cx="2528031" cy="115689"/>
          </a:xfrm>
          <a:prstGeom prst="rect">
            <a:avLst/>
          </a:prstGeom>
          <a:noFill/>
          <a:ln/>
        </p:spPr>
        <p:txBody>
          <a:bodyPr wrap="none" lIns="0" tIns="0" rIns="0" bIns="0" rtlCol="0" anchor="t"/>
          <a:lstStyle/>
          <a:p>
            <a:pPr algn="l" indent="0" marL="0">
              <a:lnSpc>
                <a:spcPct val="101000"/>
              </a:lnSpc>
              <a:buNone/>
            </a:pPr>
            <a:r>
              <a:rPr lang="en-US" sz="750" dirty="0">
                <a:solidFill>
                  <a:srgbClr val="15213F"/>
                </a:solidFill>
                <a:latin typeface="Roboto" pitchFamily="34" charset="0"/>
                <a:ea typeface="Roboto" pitchFamily="34" charset="-122"/>
                <a:cs typeface="Roboto" pitchFamily="34" charset="-120"/>
              </a:rPr>
              <a:t>Finds relevant content by meaning and context.</a:t>
            </a:r>
            <a:endParaRPr lang="en-US" sz="750" dirty="0"/>
          </a:p>
        </p:txBody>
      </p:sp>
      <p:pic>
        <p:nvPicPr>
          <p:cNvPr id="21"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1475" y="5460206"/>
            <a:ext cx="2745314" cy="806847"/>
          </a:xfrm>
          <a:prstGeom prst="rect">
            <a:avLst/>
          </a:prstGeom>
        </p:spPr>
      </p:pic>
      <p:sp>
        <p:nvSpPr>
          <p:cNvPr id="22" name="Text 16"/>
          <p:cNvSpPr/>
          <p:nvPr/>
        </p:nvSpPr>
        <p:spPr>
          <a:xfrm>
            <a:off x="1976586" y="5532140"/>
            <a:ext cx="115091" cy="143966"/>
          </a:xfrm>
          <a:prstGeom prst="rect">
            <a:avLst/>
          </a:prstGeom>
          <a:noFill/>
          <a:ln/>
        </p:spPr>
        <p:txBody>
          <a:bodyPr wrap="none" lIns="0" tIns="0" rIns="0" bIns="0" rtlCol="0" anchor="ctr"/>
          <a:lstStyle/>
          <a:p>
            <a:pPr algn="ctr" indent="0" marL="0">
              <a:lnSpc>
                <a:spcPct val="100000"/>
              </a:lnSpc>
              <a:buNone/>
            </a:pPr>
            <a:r>
              <a:rPr lang="en-US" sz="900" dirty="0">
                <a:solidFill>
                  <a:srgbClr val="FFFFFF"/>
                </a:solidFill>
                <a:latin typeface="Roboto Slab" pitchFamily="34" charset="0"/>
                <a:ea typeface="Roboto Slab" pitchFamily="34" charset="-122"/>
                <a:cs typeface="Roboto Slab" pitchFamily="34" charset="-120"/>
              </a:rPr>
              <a:t>3</a:t>
            </a:r>
            <a:endParaRPr lang="en-US" sz="900" dirty="0"/>
          </a:p>
        </p:txBody>
      </p:sp>
      <p:sp>
        <p:nvSpPr>
          <p:cNvPr id="23" name="Text 17"/>
          <p:cNvSpPr/>
          <p:nvPr/>
        </p:nvSpPr>
        <p:spPr>
          <a:xfrm>
            <a:off x="770117" y="5844084"/>
            <a:ext cx="2528031" cy="149920"/>
          </a:xfrm>
          <a:prstGeom prst="rect">
            <a:avLst/>
          </a:prstGeom>
          <a:noFill/>
          <a:ln/>
        </p:spPr>
        <p:txBody>
          <a:bodyPr wrap="none" lIns="0" tIns="0" rIns="0" bIns="0" rtlCol="0" anchor="t"/>
          <a:lstStyle/>
          <a:p>
            <a:pPr algn="l" indent="0" marL="0">
              <a:lnSpc>
                <a:spcPct val="104000"/>
              </a:lnSpc>
              <a:buNone/>
            </a:pPr>
            <a:r>
              <a:rPr lang="en-US" sz="900" dirty="0">
                <a:solidFill>
                  <a:srgbClr val="15213F"/>
                </a:solidFill>
                <a:latin typeface="Roboto Slab" pitchFamily="34" charset="0"/>
                <a:ea typeface="Roboto Slab" pitchFamily="34" charset="-122"/>
                <a:cs typeface="Roboto Slab" pitchFamily="34" charset="-120"/>
              </a:rPr>
              <a:t>Document Analytics</a:t>
            </a:r>
            <a:endParaRPr lang="en-US" sz="900" dirty="0"/>
          </a:p>
        </p:txBody>
      </p:sp>
      <p:sp>
        <p:nvSpPr>
          <p:cNvPr id="24" name="Text 18"/>
          <p:cNvSpPr/>
          <p:nvPr/>
        </p:nvSpPr>
        <p:spPr>
          <a:xfrm>
            <a:off x="770117" y="6042720"/>
            <a:ext cx="2528031" cy="115689"/>
          </a:xfrm>
          <a:prstGeom prst="rect">
            <a:avLst/>
          </a:prstGeom>
          <a:noFill/>
          <a:ln/>
        </p:spPr>
        <p:txBody>
          <a:bodyPr wrap="none" lIns="0" tIns="0" rIns="0" bIns="0" rtlCol="0" anchor="t"/>
          <a:lstStyle/>
          <a:p>
            <a:pPr algn="l" indent="0" marL="0">
              <a:lnSpc>
                <a:spcPct val="101000"/>
              </a:lnSpc>
              <a:buNone/>
            </a:pPr>
            <a:r>
              <a:rPr lang="en-US" sz="750" dirty="0">
                <a:solidFill>
                  <a:srgbClr val="15213F"/>
                </a:solidFill>
                <a:latin typeface="Roboto" pitchFamily="34" charset="0"/>
                <a:ea typeface="Roboto" pitchFamily="34" charset="-122"/>
                <a:cs typeface="Roboto" pitchFamily="34" charset="-120"/>
              </a:rPr>
              <a:t>Summaries and key insights from results.</a:t>
            </a:r>
            <a:endParaRPr lang="en-US" sz="750" dirty="0"/>
          </a:p>
        </p:txBody>
      </p:sp>
      <p:pic>
        <p:nvPicPr>
          <p:cNvPr id="25"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455504" y="5460206"/>
            <a:ext cx="2745314" cy="806847"/>
          </a:xfrm>
          <a:prstGeom prst="rect">
            <a:avLst/>
          </a:prstGeom>
        </p:spPr>
      </p:pic>
      <p:sp>
        <p:nvSpPr>
          <p:cNvPr id="26" name="Text 19"/>
          <p:cNvSpPr/>
          <p:nvPr/>
        </p:nvSpPr>
        <p:spPr>
          <a:xfrm>
            <a:off x="4770616" y="5532140"/>
            <a:ext cx="115091" cy="143966"/>
          </a:xfrm>
          <a:prstGeom prst="rect">
            <a:avLst/>
          </a:prstGeom>
          <a:noFill/>
          <a:ln/>
        </p:spPr>
        <p:txBody>
          <a:bodyPr wrap="none" lIns="0" tIns="0" rIns="0" bIns="0" rtlCol="0" anchor="ctr"/>
          <a:lstStyle/>
          <a:p>
            <a:pPr algn="ctr" indent="0" marL="0">
              <a:lnSpc>
                <a:spcPct val="100000"/>
              </a:lnSpc>
              <a:buNone/>
            </a:pPr>
            <a:r>
              <a:rPr lang="en-US" sz="900" dirty="0">
                <a:solidFill>
                  <a:srgbClr val="FFFFFF"/>
                </a:solidFill>
                <a:latin typeface="Roboto Slab" pitchFamily="34" charset="0"/>
                <a:ea typeface="Roboto Slab" pitchFamily="34" charset="-122"/>
                <a:cs typeface="Roboto Slab" pitchFamily="34" charset="-120"/>
              </a:rPr>
              <a:t>4</a:t>
            </a:r>
            <a:endParaRPr lang="en-US" sz="900" dirty="0"/>
          </a:p>
        </p:txBody>
      </p:sp>
      <p:sp>
        <p:nvSpPr>
          <p:cNvPr id="27" name="Text 20"/>
          <p:cNvSpPr/>
          <p:nvPr/>
        </p:nvSpPr>
        <p:spPr>
          <a:xfrm>
            <a:off x="3564146" y="5844084"/>
            <a:ext cx="2528031" cy="149920"/>
          </a:xfrm>
          <a:prstGeom prst="rect">
            <a:avLst/>
          </a:prstGeom>
          <a:noFill/>
          <a:ln/>
        </p:spPr>
        <p:txBody>
          <a:bodyPr wrap="none" lIns="0" tIns="0" rIns="0" bIns="0" rtlCol="0" anchor="t"/>
          <a:lstStyle/>
          <a:p>
            <a:pPr algn="l" indent="0" marL="0">
              <a:lnSpc>
                <a:spcPct val="104000"/>
              </a:lnSpc>
              <a:buNone/>
            </a:pPr>
            <a:r>
              <a:rPr lang="en-US" sz="900" dirty="0">
                <a:solidFill>
                  <a:srgbClr val="15213F"/>
                </a:solidFill>
                <a:latin typeface="Roboto Slab" pitchFamily="34" charset="0"/>
                <a:ea typeface="Roboto Slab" pitchFamily="34" charset="-122"/>
                <a:cs typeface="Roboto Slab" pitchFamily="34" charset="-120"/>
              </a:rPr>
              <a:t>User Interface</a:t>
            </a:r>
            <a:endParaRPr lang="en-US" sz="900" dirty="0"/>
          </a:p>
        </p:txBody>
      </p:sp>
      <p:sp>
        <p:nvSpPr>
          <p:cNvPr id="28" name="Text 21"/>
          <p:cNvSpPr/>
          <p:nvPr/>
        </p:nvSpPr>
        <p:spPr>
          <a:xfrm>
            <a:off x="3564146" y="6042720"/>
            <a:ext cx="2528031" cy="115689"/>
          </a:xfrm>
          <a:prstGeom prst="rect">
            <a:avLst/>
          </a:prstGeom>
          <a:noFill/>
          <a:ln/>
        </p:spPr>
        <p:txBody>
          <a:bodyPr wrap="none" lIns="0" tIns="0" rIns="0" bIns="0" rtlCol="0" anchor="t"/>
          <a:lstStyle/>
          <a:p>
            <a:pPr algn="l" indent="0" marL="0">
              <a:lnSpc>
                <a:spcPct val="101000"/>
              </a:lnSpc>
              <a:buNone/>
            </a:pPr>
            <a:r>
              <a:rPr lang="en-US" sz="750" dirty="0">
                <a:solidFill>
                  <a:srgbClr val="15213F"/>
                </a:solidFill>
                <a:latin typeface="Roboto" pitchFamily="34" charset="0"/>
                <a:ea typeface="Roboto" pitchFamily="34" charset="-122"/>
                <a:cs typeface="Roboto" pitchFamily="34" charset="-120"/>
              </a:rPr>
              <a:t>Simple workflow for search and review.</a:t>
            </a:r>
            <a:endParaRPr lang="en-US" sz="750" dirty="0"/>
          </a:p>
        </p:txBody>
      </p:sp>
      <p:sp>
        <p:nvSpPr>
          <p:cNvPr id="29" name="Text 22"/>
          <p:cNvSpPr/>
          <p:nvPr/>
        </p:nvSpPr>
        <p:spPr>
          <a:xfrm>
            <a:off x="6441319" y="4410084"/>
            <a:ext cx="5095152" cy="149920"/>
          </a:xfrm>
          <a:prstGeom prst="rect">
            <a:avLst/>
          </a:prstGeom>
          <a:noFill/>
          <a:ln/>
        </p:spPr>
        <p:txBody>
          <a:bodyPr wrap="none" lIns="0" tIns="0" rIns="0" bIns="0" rtlCol="0" anchor="t"/>
          <a:lstStyle/>
          <a:p>
            <a:pPr algn="l" indent="0" marL="0">
              <a:lnSpc>
                <a:spcPct val="104000"/>
              </a:lnSpc>
              <a:buNone/>
            </a:pPr>
            <a:r>
              <a:rPr lang="en-US" sz="900" dirty="0">
                <a:solidFill>
                  <a:srgbClr val="3257B8"/>
                </a:solidFill>
                <a:latin typeface="Roboto Slab" pitchFamily="34" charset="0"/>
                <a:ea typeface="Roboto Slab" pitchFamily="34" charset="-122"/>
                <a:cs typeface="Roboto Slab" pitchFamily="34" charset="-120"/>
              </a:rPr>
              <a:t>Key Contribution</a:t>
            </a:r>
            <a:endParaRPr lang="en-US" sz="900" dirty="0"/>
          </a:p>
        </p:txBody>
      </p:sp>
      <p:sp>
        <p:nvSpPr>
          <p:cNvPr id="30" name="Text 23"/>
          <p:cNvSpPr/>
          <p:nvPr/>
        </p:nvSpPr>
        <p:spPr>
          <a:xfrm>
            <a:off x="6585281" y="4651301"/>
            <a:ext cx="4951189" cy="231378"/>
          </a:xfrm>
          <a:prstGeom prst="rect">
            <a:avLst/>
          </a:prstGeom>
          <a:noFill/>
          <a:ln/>
        </p:spPr>
        <p:txBody>
          <a:bodyPr wrap="square" lIns="0" tIns="0" rIns="0" bIns="0" rtlCol="0" anchor="t">
            <a:normAutofit/>
          </a:bodyPr>
          <a:lstStyle/>
          <a:p>
            <a:pPr algn="l" indent="0" marL="0">
              <a:lnSpc>
                <a:spcPct val="101000"/>
              </a:lnSpc>
              <a:buNone/>
            </a:pPr>
            <a:r>
              <a:rPr lang="en-US" sz="750" b="1" dirty="0">
                <a:solidFill>
                  <a:srgbClr val="15213F"/>
                </a:solidFill>
                <a:latin typeface="Roboto Bold" pitchFamily="34" charset="0"/>
                <a:ea typeface="Roboto Bold" pitchFamily="34" charset="-122"/>
                <a:cs typeface="Roboto Bold" pitchFamily="34" charset="-120"/>
              </a:rPr>
              <a:t>AI/NLP goes beyond keyword matching.</a:t>
            </a:r>
            <a:pPr algn="l" indent="0" marL="0">
              <a:lnSpc>
                <a:spcPct val="101000"/>
              </a:lnSpc>
              <a:buNone/>
            </a:pPr>
            <a:r>
              <a:rPr lang="en-US" sz="750" dirty="0">
                <a:solidFill>
                  <a:srgbClr val="15213F"/>
                </a:solidFill>
                <a:latin typeface="Roboto" pitchFamily="34" charset="0"/>
                <a:ea typeface="Roboto" pitchFamily="34" charset="-122"/>
                <a:cs typeface="Roboto" pitchFamily="34" charset="-120"/>
              </a:rPr>
              <a:t> A query like </a:t>
            </a:r>
            <a:pPr algn="l" indent="0" marL="0">
              <a:lnSpc>
                <a:spcPct val="101000"/>
              </a:lnSpc>
              <a:buNone/>
            </a:pPr>
            <a:r>
              <a:rPr lang="en-US" sz="750" b="1" dirty="0">
                <a:solidFill>
                  <a:srgbClr val="15213F"/>
                </a:solidFill>
                <a:latin typeface="Roboto Bold" pitchFamily="34" charset="0"/>
                <a:ea typeface="Roboto Bold" pitchFamily="34" charset="-122"/>
                <a:cs typeface="Roboto Bold" pitchFamily="34" charset="-120"/>
              </a:rPr>
              <a:t>"climate change impact"</a:t>
            </a:r>
            <a:pPr algn="l" indent="0" marL="0">
              <a:lnSpc>
                <a:spcPct val="101000"/>
              </a:lnSpc>
              <a:buNone/>
            </a:pPr>
            <a:r>
              <a:rPr lang="en-US" sz="750" dirty="0">
                <a:solidFill>
                  <a:srgbClr val="15213F"/>
                </a:solidFill>
                <a:latin typeface="Roboto" pitchFamily="34" charset="0"/>
                <a:ea typeface="Roboto" pitchFamily="34" charset="-122"/>
                <a:cs typeface="Roboto" pitchFamily="34" charset="-120"/>
              </a:rPr>
              <a:t> can surface documents about </a:t>
            </a:r>
            <a:pPr algn="l" indent="0" marL="0">
              <a:lnSpc>
                <a:spcPct val="101000"/>
              </a:lnSpc>
              <a:buNone/>
            </a:pPr>
            <a:r>
              <a:rPr lang="en-US" sz="750" b="1" dirty="0">
                <a:solidFill>
                  <a:srgbClr val="15213F"/>
                </a:solidFill>
                <a:latin typeface="Roboto Bold" pitchFamily="34" charset="0"/>
                <a:ea typeface="Roboto Bold" pitchFamily="34" charset="-122"/>
                <a:cs typeface="Roboto Bold" pitchFamily="34" charset="-120"/>
              </a:rPr>
              <a:t>"global warming effects"</a:t>
            </a:r>
            <a:pPr algn="l" indent="0" marL="0">
              <a:lnSpc>
                <a:spcPct val="101000"/>
              </a:lnSpc>
              <a:buNone/>
            </a:pPr>
            <a:r>
              <a:rPr lang="en-US" sz="750" dirty="0">
                <a:solidFill>
                  <a:srgbClr val="15213F"/>
                </a:solidFill>
                <a:latin typeface="Roboto" pitchFamily="34" charset="0"/>
                <a:ea typeface="Roboto" pitchFamily="34" charset="-122"/>
                <a:cs typeface="Roboto" pitchFamily="34" charset="-120"/>
              </a:rPr>
              <a:t> through semantic relevance.</a:t>
            </a:r>
            <a:endParaRPr lang="en-US" sz="750" dirty="0"/>
          </a:p>
        </p:txBody>
      </p:sp>
      <p:sp>
        <p:nvSpPr>
          <p:cNvPr id="31" name="Shape 24"/>
          <p:cNvSpPr/>
          <p:nvPr/>
        </p:nvSpPr>
        <p:spPr>
          <a:xfrm>
            <a:off x="6441319" y="4604643"/>
            <a:ext cx="12700" cy="319088"/>
          </a:xfrm>
          <a:prstGeom prst="roundRect">
            <a:avLst>
              <a:gd name="adj" fmla="val 49999"/>
            </a:avLst>
          </a:prstGeom>
          <a:solidFill>
            <a:srgbClr val="3257B8"/>
          </a:solidFill>
          <a:ln/>
        </p:spPr>
      </p:sp>
      <p:sp>
        <p:nvSpPr>
          <p:cNvPr id="32" name="Text 25"/>
          <p:cNvSpPr/>
          <p:nvPr/>
        </p:nvSpPr>
        <p:spPr>
          <a:xfrm>
            <a:off x="6441319" y="4988629"/>
            <a:ext cx="5095152" cy="149920"/>
          </a:xfrm>
          <a:prstGeom prst="rect">
            <a:avLst/>
          </a:prstGeom>
          <a:noFill/>
          <a:ln/>
        </p:spPr>
        <p:txBody>
          <a:bodyPr wrap="none" lIns="0" tIns="0" rIns="0" bIns="0" rtlCol="0" anchor="t"/>
          <a:lstStyle/>
          <a:p>
            <a:pPr algn="l" indent="0" marL="0">
              <a:lnSpc>
                <a:spcPct val="104000"/>
              </a:lnSpc>
              <a:buNone/>
            </a:pPr>
            <a:r>
              <a:rPr lang="en-US" sz="900" dirty="0">
                <a:solidFill>
                  <a:srgbClr val="3257B8"/>
                </a:solidFill>
                <a:latin typeface="Roboto Slab" pitchFamily="34" charset="0"/>
                <a:ea typeface="Roboto Slab" pitchFamily="34" charset="-122"/>
                <a:cs typeface="Roboto Slab" pitchFamily="34" charset="-120"/>
              </a:rPr>
              <a:t>Completed vs. Planned</a:t>
            </a:r>
            <a:endParaRPr lang="en-US" sz="900" dirty="0"/>
          </a:p>
        </p:txBody>
      </p:sp>
      <p:sp>
        <p:nvSpPr>
          <p:cNvPr id="33" name="Shape 26"/>
          <p:cNvSpPr/>
          <p:nvPr/>
        </p:nvSpPr>
        <p:spPr>
          <a:xfrm>
            <a:off x="6441319" y="5183188"/>
            <a:ext cx="2523169" cy="531614"/>
          </a:xfrm>
          <a:prstGeom prst="roundRect">
            <a:avLst>
              <a:gd name="adj" fmla="val 2708"/>
            </a:avLst>
          </a:prstGeom>
          <a:solidFill>
            <a:srgbClr val="FBFCFE"/>
          </a:solidFill>
          <a:ln w="12700">
            <a:solidFill>
              <a:srgbClr val="CFD2D8"/>
            </a:solidFill>
            <a:prstDash val="solid"/>
          </a:ln>
        </p:spPr>
      </p:sp>
      <p:sp>
        <p:nvSpPr>
          <p:cNvPr id="34" name="Text 27"/>
          <p:cNvSpPr/>
          <p:nvPr/>
        </p:nvSpPr>
        <p:spPr>
          <a:xfrm>
            <a:off x="6549960" y="5291832"/>
            <a:ext cx="2305885" cy="149920"/>
          </a:xfrm>
          <a:prstGeom prst="rect">
            <a:avLst/>
          </a:prstGeom>
          <a:noFill/>
          <a:ln/>
        </p:spPr>
        <p:txBody>
          <a:bodyPr wrap="none" lIns="0" tIns="0" rIns="0" bIns="0" rtlCol="0" anchor="t"/>
          <a:lstStyle/>
          <a:p>
            <a:pPr algn="l" indent="0" marL="0">
              <a:lnSpc>
                <a:spcPct val="104000"/>
              </a:lnSpc>
              <a:buNone/>
            </a:pPr>
            <a:r>
              <a:rPr lang="en-US" sz="900" dirty="0">
                <a:solidFill>
                  <a:srgbClr val="15213F"/>
                </a:solidFill>
                <a:latin typeface="Roboto Slab" pitchFamily="34" charset="0"/>
                <a:ea typeface="Roboto Slab" pitchFamily="34" charset="-122"/>
                <a:cs typeface="Roboto Slab" pitchFamily="34" charset="-120"/>
              </a:rPr>
              <a:t>Completed</a:t>
            </a:r>
            <a:endParaRPr lang="en-US" sz="900" dirty="0"/>
          </a:p>
        </p:txBody>
      </p:sp>
      <p:sp>
        <p:nvSpPr>
          <p:cNvPr id="35" name="Text 28"/>
          <p:cNvSpPr/>
          <p:nvPr/>
        </p:nvSpPr>
        <p:spPr>
          <a:xfrm>
            <a:off x="6549960" y="5490468"/>
            <a:ext cx="2305885" cy="115689"/>
          </a:xfrm>
          <a:prstGeom prst="rect">
            <a:avLst/>
          </a:prstGeom>
          <a:noFill/>
          <a:ln/>
        </p:spPr>
        <p:txBody>
          <a:bodyPr wrap="none" lIns="0" tIns="0" rIns="0" bIns="0" rtlCol="0" anchor="t"/>
          <a:lstStyle/>
          <a:p>
            <a:pPr algn="l" indent="0" marL="0">
              <a:lnSpc>
                <a:spcPct val="101000"/>
              </a:lnSpc>
              <a:buNone/>
            </a:pPr>
            <a:r>
              <a:rPr lang="en-US" sz="750" dirty="0">
                <a:solidFill>
                  <a:srgbClr val="15213F"/>
                </a:solidFill>
                <a:latin typeface="Roboto" pitchFamily="34" charset="0"/>
                <a:ea typeface="Roboto" pitchFamily="34" charset="-122"/>
                <a:cs typeface="Roboto" pitchFamily="34" charset="-120"/>
              </a:rPr>
              <a:t>Core semantic search, basic analytics, and UI.</a:t>
            </a:r>
            <a:endParaRPr lang="en-US" sz="750" dirty="0"/>
          </a:p>
        </p:txBody>
      </p:sp>
      <p:sp>
        <p:nvSpPr>
          <p:cNvPr id="36" name="Shape 29"/>
          <p:cNvSpPr/>
          <p:nvPr/>
        </p:nvSpPr>
        <p:spPr>
          <a:xfrm>
            <a:off x="9013203" y="5183188"/>
            <a:ext cx="2523268" cy="531614"/>
          </a:xfrm>
          <a:prstGeom prst="roundRect">
            <a:avLst>
              <a:gd name="adj" fmla="val 2708"/>
            </a:avLst>
          </a:prstGeom>
          <a:solidFill>
            <a:srgbClr val="FBFCFE"/>
          </a:solidFill>
          <a:ln w="12700">
            <a:solidFill>
              <a:srgbClr val="CFD2D8"/>
            </a:solidFill>
            <a:prstDash val="solid"/>
          </a:ln>
        </p:spPr>
      </p:sp>
      <p:sp>
        <p:nvSpPr>
          <p:cNvPr id="37" name="Text 30"/>
          <p:cNvSpPr/>
          <p:nvPr/>
        </p:nvSpPr>
        <p:spPr>
          <a:xfrm>
            <a:off x="9121844" y="5291832"/>
            <a:ext cx="2305984" cy="149920"/>
          </a:xfrm>
          <a:prstGeom prst="rect">
            <a:avLst/>
          </a:prstGeom>
          <a:noFill/>
          <a:ln/>
        </p:spPr>
        <p:txBody>
          <a:bodyPr wrap="none" lIns="0" tIns="0" rIns="0" bIns="0" rtlCol="0" anchor="t"/>
          <a:lstStyle/>
          <a:p>
            <a:pPr algn="l" indent="0" marL="0">
              <a:lnSpc>
                <a:spcPct val="104000"/>
              </a:lnSpc>
              <a:buNone/>
            </a:pPr>
            <a:r>
              <a:rPr lang="en-US" sz="900" dirty="0">
                <a:solidFill>
                  <a:srgbClr val="15213F"/>
                </a:solidFill>
                <a:latin typeface="Roboto Slab" pitchFamily="34" charset="0"/>
                <a:ea typeface="Roboto Slab" pitchFamily="34" charset="-122"/>
                <a:cs typeface="Roboto Slab" pitchFamily="34" charset="-120"/>
              </a:rPr>
              <a:t>Planned</a:t>
            </a:r>
            <a:endParaRPr lang="en-US" sz="900" dirty="0"/>
          </a:p>
        </p:txBody>
      </p:sp>
      <p:sp>
        <p:nvSpPr>
          <p:cNvPr id="38" name="Text 31"/>
          <p:cNvSpPr/>
          <p:nvPr/>
        </p:nvSpPr>
        <p:spPr>
          <a:xfrm>
            <a:off x="9121844" y="5490468"/>
            <a:ext cx="2305984" cy="115689"/>
          </a:xfrm>
          <a:prstGeom prst="rect">
            <a:avLst/>
          </a:prstGeom>
          <a:noFill/>
          <a:ln/>
        </p:spPr>
        <p:txBody>
          <a:bodyPr wrap="none" lIns="0" tIns="0" rIns="0" bIns="0" rtlCol="0" anchor="t"/>
          <a:lstStyle/>
          <a:p>
            <a:pPr algn="l" indent="0" marL="0">
              <a:lnSpc>
                <a:spcPct val="101000"/>
              </a:lnSpc>
              <a:buNone/>
            </a:pPr>
            <a:r>
              <a:rPr lang="en-US" sz="750" dirty="0">
                <a:solidFill>
                  <a:srgbClr val="15213F"/>
                </a:solidFill>
                <a:latin typeface="Roboto" pitchFamily="34" charset="0"/>
                <a:ea typeface="Roboto" pitchFamily="34" charset="-122"/>
                <a:cs typeface="Roboto" pitchFamily="34" charset="-120"/>
              </a:rPr>
              <a:t>Multi-language support and expanded format support.</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661475" y="1127621"/>
            <a:ext cx="2543310" cy="287139"/>
          </a:xfrm>
          <a:prstGeom prst="roundRect">
            <a:avLst>
              <a:gd name="adj" fmla="val 7899"/>
            </a:avLst>
          </a:prstGeom>
          <a:solidFill>
            <a:srgbClr val="D7DFF4"/>
          </a:solidFill>
          <a:ln/>
        </p:spPr>
      </p:sp>
      <p:sp>
        <p:nvSpPr>
          <p:cNvPr id="3" name="Text 1"/>
          <p:cNvSpPr/>
          <p:nvPr/>
        </p:nvSpPr>
        <p:spPr>
          <a:xfrm>
            <a:off x="774879" y="1187009"/>
            <a:ext cx="2926086" cy="173831"/>
          </a:xfrm>
          <a:prstGeom prst="rect">
            <a:avLst/>
          </a:prstGeom>
          <a:noFill/>
          <a:ln/>
        </p:spPr>
        <p:txBody>
          <a:bodyPr wrap="none" lIns="0" tIns="0" rIns="0" bIns="0" rtlCol="0" anchor="t"/>
          <a:lstStyle/>
          <a:p>
            <a:pPr algn="l" indent="0" marL="0">
              <a:lnSpc>
                <a:spcPct val="96000"/>
              </a:lnSpc>
              <a:buNone/>
            </a:pPr>
            <a:r>
              <a:rPr lang="en-US" sz="1150" dirty="0">
                <a:solidFill>
                  <a:srgbClr val="15213F"/>
                </a:solidFill>
                <a:latin typeface="Roboto" pitchFamily="34" charset="0"/>
                <a:ea typeface="Roboto" pitchFamily="34" charset="-122"/>
                <a:cs typeface="Roboto" pitchFamily="34" charset="-120"/>
              </a:rPr>
              <a:t>SLIDE 5— ACCURACY OF RESULTS</a:t>
            </a:r>
            <a:endParaRPr lang="en-US" sz="1150" dirty="0"/>
          </a:p>
        </p:txBody>
      </p:sp>
      <p:sp>
        <p:nvSpPr>
          <p:cNvPr id="4" name="Text 2"/>
          <p:cNvSpPr/>
          <p:nvPr/>
        </p:nvSpPr>
        <p:spPr>
          <a:xfrm>
            <a:off x="661475" y="1526840"/>
            <a:ext cx="10868745" cy="590649"/>
          </a:xfrm>
          <a:prstGeom prst="rect">
            <a:avLst/>
          </a:prstGeom>
          <a:noFill/>
          <a:ln/>
        </p:spPr>
        <p:txBody>
          <a:bodyPr wrap="none" lIns="0" tIns="0" rIns="0" bIns="0" rtlCol="0" anchor="t"/>
          <a:lstStyle/>
          <a:p>
            <a:pPr algn="l" indent="0" marL="0">
              <a:lnSpc>
                <a:spcPct val="104000"/>
              </a:lnSpc>
              <a:buNone/>
            </a:pPr>
            <a:r>
              <a:rPr lang="en-US" sz="3700" dirty="0">
                <a:solidFill>
                  <a:srgbClr val="3257B8"/>
                </a:solidFill>
                <a:latin typeface="Roboto Slab" pitchFamily="34" charset="0"/>
                <a:ea typeface="Roboto Slab" pitchFamily="34" charset="-122"/>
                <a:cs typeface="Roboto Slab" pitchFamily="34" charset="-120"/>
              </a:rPr>
              <a:t>Accuracy of Results </a:t>
            </a:r>
            <a:endParaRPr lang="en-US" sz="3700" dirty="0"/>
          </a:p>
        </p:txBody>
      </p:sp>
      <p:sp>
        <p:nvSpPr>
          <p:cNvPr id="5" name="Text 3"/>
          <p:cNvSpPr/>
          <p:nvPr/>
        </p:nvSpPr>
        <p:spPr>
          <a:xfrm>
            <a:off x="661475" y="2364482"/>
            <a:ext cx="10868745"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5213F"/>
                </a:solidFill>
                <a:latin typeface="Roboto" pitchFamily="34" charset="0"/>
                <a:ea typeface="Roboto" pitchFamily="34" charset="-122"/>
                <a:cs typeface="Roboto" pitchFamily="34" charset="-120"/>
              </a:rPr>
              <a:t>This slide summarizes how the system’s output accuracy was evaluated and what the early results showed. The main checks focused on whether returned documents matched the expected ground truth and whether results were relevant and consistent.</a:t>
            </a:r>
            <a:endParaRPr lang="en-US" sz="1450" dirty="0"/>
          </a:p>
        </p:txBody>
      </p:sp>
      <p:sp>
        <p:nvSpPr>
          <p:cNvPr id="6" name="Text 4"/>
          <p:cNvSpPr/>
          <p:nvPr/>
        </p:nvSpPr>
        <p:spPr>
          <a:xfrm>
            <a:off x="661475" y="3271025"/>
            <a:ext cx="10868745" cy="295275"/>
          </a:xfrm>
          <a:prstGeom prst="rect">
            <a:avLst/>
          </a:prstGeom>
          <a:noFill/>
          <a:ln/>
        </p:spPr>
        <p:txBody>
          <a:bodyPr wrap="none" lIns="0" tIns="0" rIns="0" bIns="0" rtlCol="0" anchor="t"/>
          <a:lstStyle/>
          <a:p>
            <a:pPr algn="l" indent="0" marL="0">
              <a:lnSpc>
                <a:spcPct val="104000"/>
              </a:lnSpc>
              <a:buNone/>
            </a:pPr>
            <a:r>
              <a:rPr lang="en-US" sz="1850" dirty="0">
                <a:solidFill>
                  <a:srgbClr val="3257B8"/>
                </a:solidFill>
                <a:latin typeface="Roboto Slab" pitchFamily="34" charset="0"/>
                <a:ea typeface="Roboto Slab" pitchFamily="34" charset="-122"/>
                <a:cs typeface="Roboto Slab" pitchFamily="34" charset="-120"/>
              </a:rPr>
              <a:t>Evaluation Approach</a:t>
            </a:r>
            <a:endParaRPr lang="en-US" sz="1850" dirty="0"/>
          </a:p>
        </p:txBody>
      </p:sp>
      <p:sp>
        <p:nvSpPr>
          <p:cNvPr id="7" name="Text 5"/>
          <p:cNvSpPr/>
          <p:nvPr/>
        </p:nvSpPr>
        <p:spPr>
          <a:xfrm>
            <a:off x="661475" y="3831530"/>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5213F"/>
                </a:solidFill>
                <a:latin typeface="Roboto Slab" pitchFamily="34" charset="0"/>
                <a:ea typeface="Roboto Slab" pitchFamily="34" charset="-122"/>
                <a:cs typeface="Roboto Slab" pitchFamily="34" charset="-120"/>
              </a:rPr>
              <a:t>01</a:t>
            </a:r>
            <a:endParaRPr lang="en-US" sz="1450" dirty="0"/>
          </a:p>
        </p:txBody>
      </p:sp>
      <p:sp>
        <p:nvSpPr>
          <p:cNvPr id="8" name="Shape 6"/>
          <p:cNvSpPr/>
          <p:nvPr/>
        </p:nvSpPr>
        <p:spPr>
          <a:xfrm>
            <a:off x="661475" y="4127401"/>
            <a:ext cx="3496877" cy="25400"/>
          </a:xfrm>
          <a:prstGeom prst="rect">
            <a:avLst/>
          </a:prstGeom>
          <a:solidFill>
            <a:srgbClr val="476FD6"/>
          </a:solidFill>
          <a:ln/>
        </p:spPr>
      </p:sp>
      <p:sp>
        <p:nvSpPr>
          <p:cNvPr id="9" name="Text 7"/>
          <p:cNvSpPr/>
          <p:nvPr/>
        </p:nvSpPr>
        <p:spPr>
          <a:xfrm>
            <a:off x="661475" y="4272657"/>
            <a:ext cx="3496877" cy="295275"/>
          </a:xfrm>
          <a:prstGeom prst="rect">
            <a:avLst/>
          </a:prstGeom>
          <a:noFill/>
          <a:ln/>
        </p:spPr>
        <p:txBody>
          <a:bodyPr wrap="none" lIns="0" tIns="0" rIns="0" bIns="0" rtlCol="0" anchor="t"/>
          <a:lstStyle/>
          <a:p>
            <a:pPr algn="l" indent="0" marL="0">
              <a:lnSpc>
                <a:spcPct val="104000"/>
              </a:lnSpc>
              <a:buNone/>
            </a:pPr>
            <a:r>
              <a:rPr lang="en-US" sz="1850" dirty="0">
                <a:solidFill>
                  <a:srgbClr val="15213F"/>
                </a:solidFill>
                <a:latin typeface="Roboto Slab" pitchFamily="34" charset="0"/>
                <a:ea typeface="Roboto Slab" pitchFamily="34" charset="-122"/>
                <a:cs typeface="Roboto Slab" pitchFamily="34" charset="-120"/>
              </a:rPr>
              <a:t>Test cases performed</a:t>
            </a:r>
            <a:endParaRPr lang="en-US" sz="1850" dirty="0"/>
          </a:p>
        </p:txBody>
      </p:sp>
      <p:sp>
        <p:nvSpPr>
          <p:cNvPr id="10" name="Text 8"/>
          <p:cNvSpPr/>
          <p:nvPr/>
        </p:nvSpPr>
        <p:spPr>
          <a:xfrm>
            <a:off x="661475" y="4681339"/>
            <a:ext cx="3496877"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5213F"/>
                </a:solidFill>
                <a:latin typeface="Roboto" pitchFamily="34" charset="0"/>
                <a:ea typeface="Roboto" pitchFamily="34" charset="-122"/>
                <a:cs typeface="Roboto" pitchFamily="34" charset="-120"/>
              </a:rPr>
              <a:t>Representative search queries were used to check expected document retrieval.</a:t>
            </a:r>
            <a:endParaRPr lang="en-US" sz="1450" dirty="0"/>
          </a:p>
        </p:txBody>
      </p:sp>
      <p:sp>
        <p:nvSpPr>
          <p:cNvPr id="11" name="Text 9"/>
          <p:cNvSpPr/>
          <p:nvPr/>
        </p:nvSpPr>
        <p:spPr>
          <a:xfrm>
            <a:off x="4347359" y="3831530"/>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5213F"/>
                </a:solidFill>
                <a:latin typeface="Roboto Slab" pitchFamily="34" charset="0"/>
                <a:ea typeface="Roboto Slab" pitchFamily="34" charset="-122"/>
                <a:cs typeface="Roboto Slab" pitchFamily="34" charset="-120"/>
              </a:rPr>
              <a:t>02</a:t>
            </a:r>
            <a:endParaRPr lang="en-US" sz="1450" dirty="0"/>
          </a:p>
        </p:txBody>
      </p:sp>
      <p:sp>
        <p:nvSpPr>
          <p:cNvPr id="12" name="Shape 10"/>
          <p:cNvSpPr/>
          <p:nvPr/>
        </p:nvSpPr>
        <p:spPr>
          <a:xfrm>
            <a:off x="4347359" y="4127401"/>
            <a:ext cx="3496877" cy="25400"/>
          </a:xfrm>
          <a:prstGeom prst="rect">
            <a:avLst/>
          </a:prstGeom>
          <a:solidFill>
            <a:srgbClr val="476FD6"/>
          </a:solidFill>
          <a:ln/>
        </p:spPr>
      </p:sp>
      <p:sp>
        <p:nvSpPr>
          <p:cNvPr id="13" name="Text 11"/>
          <p:cNvSpPr/>
          <p:nvPr/>
        </p:nvSpPr>
        <p:spPr>
          <a:xfrm>
            <a:off x="4347359" y="4272657"/>
            <a:ext cx="3496877" cy="295275"/>
          </a:xfrm>
          <a:prstGeom prst="rect">
            <a:avLst/>
          </a:prstGeom>
          <a:noFill/>
          <a:ln/>
        </p:spPr>
        <p:txBody>
          <a:bodyPr wrap="none" lIns="0" tIns="0" rIns="0" bIns="0" rtlCol="0" anchor="t"/>
          <a:lstStyle/>
          <a:p>
            <a:pPr algn="l" indent="0" marL="0">
              <a:lnSpc>
                <a:spcPct val="104000"/>
              </a:lnSpc>
              <a:buNone/>
            </a:pPr>
            <a:r>
              <a:rPr lang="en-US" sz="1850" dirty="0">
                <a:solidFill>
                  <a:srgbClr val="15213F"/>
                </a:solidFill>
                <a:latin typeface="Roboto Slab" pitchFamily="34" charset="0"/>
                <a:ea typeface="Roboto Slab" pitchFamily="34" charset="-122"/>
                <a:cs typeface="Roboto Slab" pitchFamily="34" charset="-120"/>
              </a:rPr>
              <a:t>Procedure and methodology</a:t>
            </a:r>
            <a:endParaRPr lang="en-US" sz="1850" dirty="0"/>
          </a:p>
        </p:txBody>
      </p:sp>
      <p:sp>
        <p:nvSpPr>
          <p:cNvPr id="14" name="Text 12"/>
          <p:cNvSpPr/>
          <p:nvPr/>
        </p:nvSpPr>
        <p:spPr>
          <a:xfrm>
            <a:off x="4347359" y="4681339"/>
            <a:ext cx="3496877"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5213F"/>
                </a:solidFill>
                <a:latin typeface="Roboto" pitchFamily="34" charset="0"/>
                <a:ea typeface="Roboto" pitchFamily="34" charset="-122"/>
                <a:cs typeface="Roboto" pitchFamily="34" charset="-120"/>
              </a:rPr>
              <a:t>Each query was compared with the expected answer set and reviewed for relevance.</a:t>
            </a:r>
            <a:endParaRPr lang="en-US" sz="1450" dirty="0"/>
          </a:p>
        </p:txBody>
      </p:sp>
      <p:sp>
        <p:nvSpPr>
          <p:cNvPr id="15" name="Text 13"/>
          <p:cNvSpPr/>
          <p:nvPr/>
        </p:nvSpPr>
        <p:spPr>
          <a:xfrm>
            <a:off x="8033244" y="3831530"/>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5213F"/>
                </a:solidFill>
                <a:latin typeface="Roboto Slab" pitchFamily="34" charset="0"/>
                <a:ea typeface="Roboto Slab" pitchFamily="34" charset="-122"/>
                <a:cs typeface="Roboto Slab" pitchFamily="34" charset="-120"/>
              </a:rPr>
              <a:t>03</a:t>
            </a:r>
            <a:endParaRPr lang="en-US" sz="1450" dirty="0"/>
          </a:p>
        </p:txBody>
      </p:sp>
      <p:sp>
        <p:nvSpPr>
          <p:cNvPr id="16" name="Shape 14"/>
          <p:cNvSpPr/>
          <p:nvPr/>
        </p:nvSpPr>
        <p:spPr>
          <a:xfrm>
            <a:off x="8033244" y="4127401"/>
            <a:ext cx="3496877" cy="25400"/>
          </a:xfrm>
          <a:prstGeom prst="rect">
            <a:avLst/>
          </a:prstGeom>
          <a:solidFill>
            <a:srgbClr val="476FD6"/>
          </a:solidFill>
          <a:ln/>
        </p:spPr>
      </p:sp>
      <p:sp>
        <p:nvSpPr>
          <p:cNvPr id="17" name="Text 15"/>
          <p:cNvSpPr/>
          <p:nvPr/>
        </p:nvSpPr>
        <p:spPr>
          <a:xfrm>
            <a:off x="8033244" y="4272657"/>
            <a:ext cx="3496877" cy="295275"/>
          </a:xfrm>
          <a:prstGeom prst="rect">
            <a:avLst/>
          </a:prstGeom>
          <a:noFill/>
          <a:ln/>
        </p:spPr>
        <p:txBody>
          <a:bodyPr wrap="none" lIns="0" tIns="0" rIns="0" bIns="0" rtlCol="0" anchor="t"/>
          <a:lstStyle/>
          <a:p>
            <a:pPr algn="l" indent="0" marL="0">
              <a:lnSpc>
                <a:spcPct val="104000"/>
              </a:lnSpc>
              <a:buNone/>
            </a:pPr>
            <a:r>
              <a:rPr lang="en-US" sz="1850" dirty="0">
                <a:solidFill>
                  <a:srgbClr val="15213F"/>
                </a:solidFill>
                <a:latin typeface="Roboto Slab" pitchFamily="34" charset="0"/>
                <a:ea typeface="Roboto Slab" pitchFamily="34" charset="-122"/>
                <a:cs typeface="Roboto Slab" pitchFamily="34" charset="-120"/>
              </a:rPr>
              <a:t>Metrics used</a:t>
            </a:r>
            <a:endParaRPr lang="en-US" sz="1850" dirty="0"/>
          </a:p>
        </p:txBody>
      </p:sp>
      <p:sp>
        <p:nvSpPr>
          <p:cNvPr id="18" name="Text 16"/>
          <p:cNvSpPr/>
          <p:nvPr/>
        </p:nvSpPr>
        <p:spPr>
          <a:xfrm>
            <a:off x="8033244" y="4681339"/>
            <a:ext cx="3496877"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5213F"/>
                </a:solidFill>
                <a:latin typeface="Roboto" pitchFamily="34" charset="0"/>
                <a:ea typeface="Roboto" pitchFamily="34" charset="-122"/>
                <a:cs typeface="Roboto" pitchFamily="34" charset="-120"/>
              </a:rPr>
              <a:t>Accuracy was reviewed using precision, recall, F1-score, relevance, and response time.</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661475" y="555923"/>
            <a:ext cx="2642725" cy="282674"/>
          </a:xfrm>
          <a:prstGeom prst="roundRect">
            <a:avLst>
              <a:gd name="adj" fmla="val 7899"/>
            </a:avLst>
          </a:prstGeom>
          <a:solidFill>
            <a:srgbClr val="D7DFF4"/>
          </a:solidFill>
          <a:ln/>
        </p:spPr>
      </p:sp>
      <p:sp>
        <p:nvSpPr>
          <p:cNvPr id="3" name="Text 1"/>
          <p:cNvSpPr/>
          <p:nvPr/>
        </p:nvSpPr>
        <p:spPr>
          <a:xfrm>
            <a:off x="773093" y="615169"/>
            <a:ext cx="3029073" cy="171152"/>
          </a:xfrm>
          <a:prstGeom prst="rect">
            <a:avLst/>
          </a:prstGeom>
          <a:noFill/>
          <a:ln/>
        </p:spPr>
        <p:txBody>
          <a:bodyPr wrap="none" lIns="0" tIns="0" rIns="0" bIns="0" rtlCol="0" anchor="t"/>
          <a:lstStyle/>
          <a:p>
            <a:pPr algn="l" indent="0" marL="0">
              <a:lnSpc>
                <a:spcPct val="96000"/>
              </a:lnSpc>
              <a:buNone/>
            </a:pPr>
            <a:r>
              <a:rPr lang="en-US" sz="1150" dirty="0">
                <a:solidFill>
                  <a:srgbClr val="15213F"/>
                </a:solidFill>
                <a:latin typeface="Roboto" pitchFamily="34" charset="0"/>
                <a:ea typeface="Roboto" pitchFamily="34" charset="-122"/>
                <a:cs typeface="Roboto" pitchFamily="34" charset="-120"/>
              </a:rPr>
              <a:t>SLIDE  — TECHNICAL COMPETENCE</a:t>
            </a:r>
            <a:endParaRPr lang="en-US" sz="1150" dirty="0"/>
          </a:p>
        </p:txBody>
      </p:sp>
      <p:sp>
        <p:nvSpPr>
          <p:cNvPr id="4" name="Text 2"/>
          <p:cNvSpPr/>
          <p:nvPr/>
        </p:nvSpPr>
        <p:spPr>
          <a:xfrm>
            <a:off x="661475" y="947428"/>
            <a:ext cx="10868745" cy="581422"/>
          </a:xfrm>
          <a:prstGeom prst="rect">
            <a:avLst/>
          </a:prstGeom>
          <a:noFill/>
          <a:ln/>
        </p:spPr>
        <p:txBody>
          <a:bodyPr wrap="none" lIns="0" tIns="0" rIns="0" bIns="0" rtlCol="0" anchor="t"/>
          <a:lstStyle/>
          <a:p>
            <a:pPr algn="l" indent="0" marL="0">
              <a:lnSpc>
                <a:spcPct val="104000"/>
              </a:lnSpc>
              <a:buNone/>
            </a:pPr>
            <a:r>
              <a:rPr lang="en-US" sz="3650" dirty="0">
                <a:solidFill>
                  <a:srgbClr val="3257B8"/>
                </a:solidFill>
                <a:latin typeface="Roboto Slab" pitchFamily="34" charset="0"/>
                <a:ea typeface="Roboto Slab" pitchFamily="34" charset="-122"/>
                <a:cs typeface="Roboto Slab" pitchFamily="34" charset="-120"/>
              </a:rPr>
              <a:t>Technical Competence </a:t>
            </a:r>
            <a:endParaRPr lang="en-US" sz="3650" dirty="0"/>
          </a:p>
        </p:txBody>
      </p:sp>
      <p:sp>
        <p:nvSpPr>
          <p:cNvPr id="5" name="Text 3"/>
          <p:cNvSpPr/>
          <p:nvPr/>
        </p:nvSpPr>
        <p:spPr>
          <a:xfrm>
            <a:off x="661475" y="1767979"/>
            <a:ext cx="11478330" cy="295275"/>
          </a:xfrm>
          <a:prstGeom prst="rect">
            <a:avLst/>
          </a:prstGeom>
          <a:noFill/>
          <a:ln/>
        </p:spPr>
        <p:txBody>
          <a:bodyPr wrap="none" lIns="0" tIns="0" rIns="0" bIns="0" rtlCol="0" anchor="t"/>
          <a:lstStyle/>
          <a:p>
            <a:pPr algn="l" indent="0" marL="0">
              <a:lnSpc>
                <a:spcPct val="132000"/>
              </a:lnSpc>
              <a:buNone/>
            </a:pPr>
            <a:r>
              <a:rPr lang="en-US" sz="1450" dirty="0">
                <a:solidFill>
                  <a:srgbClr val="15213F"/>
                </a:solidFill>
                <a:latin typeface="Roboto" pitchFamily="34" charset="0"/>
                <a:ea typeface="Roboto" pitchFamily="34" charset="-122"/>
                <a:cs typeface="Roboto" pitchFamily="34" charset="-120"/>
              </a:rPr>
              <a:t>This slide highlights the project's core technical depth: document processing, semantic retrieval, and system integration.</a:t>
            </a:r>
            <a:endParaRPr lang="en-US" sz="1450" dirty="0"/>
          </a:p>
        </p:txBody>
      </p:sp>
      <p:sp>
        <p:nvSpPr>
          <p:cNvPr id="6" name="Text 4"/>
          <p:cNvSpPr/>
          <p:nvPr/>
        </p:nvSpPr>
        <p:spPr>
          <a:xfrm>
            <a:off x="661475" y="2269232"/>
            <a:ext cx="372061" cy="232569"/>
          </a:xfrm>
          <a:prstGeom prst="rect">
            <a:avLst/>
          </a:prstGeom>
          <a:noFill/>
          <a:ln/>
        </p:spPr>
        <p:txBody>
          <a:bodyPr wrap="none" lIns="0" tIns="0" rIns="0" bIns="0" rtlCol="0" anchor="ctr"/>
          <a:lstStyle/>
          <a:p>
            <a:pPr algn="l" indent="0" marL="0">
              <a:lnSpc>
                <a:spcPct val="100000"/>
              </a:lnSpc>
              <a:buNone/>
            </a:pPr>
            <a:r>
              <a:rPr lang="en-US" sz="1450" dirty="0">
                <a:solidFill>
                  <a:srgbClr val="15213F"/>
                </a:solidFill>
                <a:latin typeface="Roboto Slab" pitchFamily="34" charset="0"/>
                <a:ea typeface="Roboto Slab" pitchFamily="34" charset="-122"/>
                <a:cs typeface="Roboto Slab" pitchFamily="34" charset="-120"/>
              </a:rPr>
              <a:t>01</a:t>
            </a:r>
            <a:endParaRPr lang="en-US" sz="1450" dirty="0"/>
          </a:p>
        </p:txBody>
      </p:sp>
      <p:sp>
        <p:nvSpPr>
          <p:cNvPr id="7" name="Shape 5"/>
          <p:cNvSpPr/>
          <p:nvPr/>
        </p:nvSpPr>
        <p:spPr>
          <a:xfrm>
            <a:off x="661475" y="2560042"/>
            <a:ext cx="3500747" cy="25400"/>
          </a:xfrm>
          <a:prstGeom prst="rect">
            <a:avLst/>
          </a:prstGeom>
          <a:solidFill>
            <a:srgbClr val="476FD6"/>
          </a:solidFill>
          <a:ln/>
        </p:spPr>
      </p:sp>
      <p:sp>
        <p:nvSpPr>
          <p:cNvPr id="8" name="Text 6"/>
          <p:cNvSpPr/>
          <p:nvPr/>
        </p:nvSpPr>
        <p:spPr>
          <a:xfrm>
            <a:off x="661475" y="2703810"/>
            <a:ext cx="3500747" cy="290711"/>
          </a:xfrm>
          <a:prstGeom prst="rect">
            <a:avLst/>
          </a:prstGeom>
          <a:noFill/>
          <a:ln/>
        </p:spPr>
        <p:txBody>
          <a:bodyPr wrap="none" lIns="0" tIns="0" rIns="0" bIns="0" rtlCol="0" anchor="t"/>
          <a:lstStyle/>
          <a:p>
            <a:pPr algn="l" indent="0" marL="0">
              <a:lnSpc>
                <a:spcPct val="104000"/>
              </a:lnSpc>
              <a:buNone/>
            </a:pPr>
            <a:r>
              <a:rPr lang="en-US" sz="1800" dirty="0">
                <a:solidFill>
                  <a:srgbClr val="15213F"/>
                </a:solidFill>
                <a:latin typeface="Roboto Slab" pitchFamily="34" charset="0"/>
                <a:ea typeface="Roboto Slab" pitchFamily="34" charset="-122"/>
                <a:cs typeface="Roboto Slab" pitchFamily="34" charset="-120"/>
              </a:rPr>
              <a:t>Preprocessing</a:t>
            </a:r>
            <a:endParaRPr lang="en-US" sz="1800" dirty="0"/>
          </a:p>
        </p:txBody>
      </p:sp>
      <p:sp>
        <p:nvSpPr>
          <p:cNvPr id="9" name="Text 7"/>
          <p:cNvSpPr/>
          <p:nvPr/>
        </p:nvSpPr>
        <p:spPr>
          <a:xfrm>
            <a:off x="661475" y="3104356"/>
            <a:ext cx="3500747" cy="590550"/>
          </a:xfrm>
          <a:prstGeom prst="rect">
            <a:avLst/>
          </a:prstGeom>
          <a:noFill/>
          <a:ln/>
        </p:spPr>
        <p:txBody>
          <a:bodyPr wrap="square" lIns="0" tIns="0" rIns="0" bIns="0" rtlCol="0" anchor="t">
            <a:normAutofit/>
          </a:bodyPr>
          <a:lstStyle/>
          <a:p>
            <a:pPr algn="l" indent="0" marL="0">
              <a:lnSpc>
                <a:spcPct val="132000"/>
              </a:lnSpc>
              <a:buNone/>
            </a:pPr>
            <a:r>
              <a:rPr lang="en-US" sz="1450" dirty="0">
                <a:solidFill>
                  <a:srgbClr val="15213F"/>
                </a:solidFill>
                <a:latin typeface="Roboto" pitchFamily="34" charset="0"/>
                <a:ea typeface="Roboto" pitchFamily="34" charset="-122"/>
                <a:cs typeface="Roboto" pitchFamily="34" charset="-120"/>
              </a:rPr>
              <a:t>Documents are extracted, cleaned, normalized, and prepared for search.</a:t>
            </a:r>
            <a:endParaRPr lang="en-US" sz="1450" dirty="0"/>
          </a:p>
        </p:txBody>
      </p:sp>
      <p:sp>
        <p:nvSpPr>
          <p:cNvPr id="10" name="Text 8"/>
          <p:cNvSpPr/>
          <p:nvPr/>
        </p:nvSpPr>
        <p:spPr>
          <a:xfrm>
            <a:off x="4345375" y="2269232"/>
            <a:ext cx="372061" cy="232569"/>
          </a:xfrm>
          <a:prstGeom prst="rect">
            <a:avLst/>
          </a:prstGeom>
          <a:noFill/>
          <a:ln/>
        </p:spPr>
        <p:txBody>
          <a:bodyPr wrap="none" lIns="0" tIns="0" rIns="0" bIns="0" rtlCol="0" anchor="ctr"/>
          <a:lstStyle/>
          <a:p>
            <a:pPr algn="l" indent="0" marL="0">
              <a:lnSpc>
                <a:spcPct val="100000"/>
              </a:lnSpc>
              <a:buNone/>
            </a:pPr>
            <a:r>
              <a:rPr lang="en-US" sz="1450" dirty="0">
                <a:solidFill>
                  <a:srgbClr val="15213F"/>
                </a:solidFill>
                <a:latin typeface="Roboto Slab" pitchFamily="34" charset="0"/>
                <a:ea typeface="Roboto Slab" pitchFamily="34" charset="-122"/>
                <a:cs typeface="Roboto Slab" pitchFamily="34" charset="-120"/>
              </a:rPr>
              <a:t>02</a:t>
            </a:r>
            <a:endParaRPr lang="en-US" sz="1450" dirty="0"/>
          </a:p>
        </p:txBody>
      </p:sp>
      <p:sp>
        <p:nvSpPr>
          <p:cNvPr id="11" name="Shape 9"/>
          <p:cNvSpPr/>
          <p:nvPr/>
        </p:nvSpPr>
        <p:spPr>
          <a:xfrm>
            <a:off x="4345375" y="2560042"/>
            <a:ext cx="3500846" cy="25400"/>
          </a:xfrm>
          <a:prstGeom prst="rect">
            <a:avLst/>
          </a:prstGeom>
          <a:solidFill>
            <a:srgbClr val="476FD6"/>
          </a:solidFill>
          <a:ln/>
        </p:spPr>
      </p:sp>
      <p:sp>
        <p:nvSpPr>
          <p:cNvPr id="12" name="Text 10"/>
          <p:cNvSpPr/>
          <p:nvPr/>
        </p:nvSpPr>
        <p:spPr>
          <a:xfrm>
            <a:off x="4345375" y="2703810"/>
            <a:ext cx="3500846" cy="290711"/>
          </a:xfrm>
          <a:prstGeom prst="rect">
            <a:avLst/>
          </a:prstGeom>
          <a:noFill/>
          <a:ln/>
        </p:spPr>
        <p:txBody>
          <a:bodyPr wrap="none" lIns="0" tIns="0" rIns="0" bIns="0" rtlCol="0" anchor="t"/>
          <a:lstStyle/>
          <a:p>
            <a:pPr algn="l" indent="0" marL="0">
              <a:lnSpc>
                <a:spcPct val="104000"/>
              </a:lnSpc>
              <a:buNone/>
            </a:pPr>
            <a:r>
              <a:rPr lang="en-US" sz="1800" dirty="0">
                <a:solidFill>
                  <a:srgbClr val="15213F"/>
                </a:solidFill>
                <a:latin typeface="Roboto Slab" pitchFamily="34" charset="0"/>
                <a:ea typeface="Roboto Slab" pitchFamily="34" charset="-122"/>
                <a:cs typeface="Roboto Slab" pitchFamily="34" charset="-120"/>
              </a:rPr>
              <a:t>Semantic Retrieval</a:t>
            </a:r>
            <a:endParaRPr lang="en-US" sz="1800" dirty="0"/>
          </a:p>
        </p:txBody>
      </p:sp>
      <p:sp>
        <p:nvSpPr>
          <p:cNvPr id="13" name="Text 11"/>
          <p:cNvSpPr/>
          <p:nvPr/>
        </p:nvSpPr>
        <p:spPr>
          <a:xfrm>
            <a:off x="4345375" y="3104356"/>
            <a:ext cx="3500846" cy="885825"/>
          </a:xfrm>
          <a:prstGeom prst="rect">
            <a:avLst/>
          </a:prstGeom>
          <a:noFill/>
          <a:ln/>
        </p:spPr>
        <p:txBody>
          <a:bodyPr wrap="square" lIns="0" tIns="0" rIns="0" bIns="0" rtlCol="0" anchor="t">
            <a:normAutofit/>
          </a:bodyPr>
          <a:lstStyle/>
          <a:p>
            <a:pPr algn="l" indent="0" marL="0">
              <a:lnSpc>
                <a:spcPct val="132000"/>
              </a:lnSpc>
              <a:buNone/>
            </a:pPr>
            <a:r>
              <a:rPr lang="en-US" sz="1450" dirty="0">
                <a:solidFill>
                  <a:srgbClr val="15213F"/>
                </a:solidFill>
                <a:latin typeface="Roboto" pitchFamily="34" charset="0"/>
                <a:ea typeface="Roboto" pitchFamily="34" charset="-122"/>
                <a:cs typeface="Roboto" pitchFamily="34" charset="-120"/>
              </a:rPr>
              <a:t>Embeddings and vector similarity are used to rank relevant results beyond exact keyword matching.</a:t>
            </a:r>
            <a:endParaRPr lang="en-US" sz="1450" dirty="0"/>
          </a:p>
        </p:txBody>
      </p:sp>
      <p:sp>
        <p:nvSpPr>
          <p:cNvPr id="14" name="Text 12"/>
          <p:cNvSpPr/>
          <p:nvPr/>
        </p:nvSpPr>
        <p:spPr>
          <a:xfrm>
            <a:off x="8029374" y="2269232"/>
            <a:ext cx="372061" cy="232569"/>
          </a:xfrm>
          <a:prstGeom prst="rect">
            <a:avLst/>
          </a:prstGeom>
          <a:noFill/>
          <a:ln/>
        </p:spPr>
        <p:txBody>
          <a:bodyPr wrap="none" lIns="0" tIns="0" rIns="0" bIns="0" rtlCol="0" anchor="ctr"/>
          <a:lstStyle/>
          <a:p>
            <a:pPr algn="l" indent="0" marL="0">
              <a:lnSpc>
                <a:spcPct val="100000"/>
              </a:lnSpc>
              <a:buNone/>
            </a:pPr>
            <a:r>
              <a:rPr lang="en-US" sz="1450" dirty="0">
                <a:solidFill>
                  <a:srgbClr val="15213F"/>
                </a:solidFill>
                <a:latin typeface="Roboto Slab" pitchFamily="34" charset="0"/>
                <a:ea typeface="Roboto Slab" pitchFamily="34" charset="-122"/>
                <a:cs typeface="Roboto Slab" pitchFamily="34" charset="-120"/>
              </a:rPr>
              <a:t>03</a:t>
            </a:r>
            <a:endParaRPr lang="en-US" sz="1450" dirty="0"/>
          </a:p>
        </p:txBody>
      </p:sp>
      <p:sp>
        <p:nvSpPr>
          <p:cNvPr id="15" name="Shape 13"/>
          <p:cNvSpPr/>
          <p:nvPr/>
        </p:nvSpPr>
        <p:spPr>
          <a:xfrm>
            <a:off x="8029374" y="2560042"/>
            <a:ext cx="3500747" cy="25400"/>
          </a:xfrm>
          <a:prstGeom prst="rect">
            <a:avLst/>
          </a:prstGeom>
          <a:solidFill>
            <a:srgbClr val="476FD6"/>
          </a:solidFill>
          <a:ln/>
        </p:spPr>
      </p:sp>
      <p:sp>
        <p:nvSpPr>
          <p:cNvPr id="16" name="Text 14"/>
          <p:cNvSpPr/>
          <p:nvPr/>
        </p:nvSpPr>
        <p:spPr>
          <a:xfrm>
            <a:off x="8029374" y="2703810"/>
            <a:ext cx="3500747" cy="290711"/>
          </a:xfrm>
          <a:prstGeom prst="rect">
            <a:avLst/>
          </a:prstGeom>
          <a:noFill/>
          <a:ln/>
        </p:spPr>
        <p:txBody>
          <a:bodyPr wrap="none" lIns="0" tIns="0" rIns="0" bIns="0" rtlCol="0" anchor="t"/>
          <a:lstStyle/>
          <a:p>
            <a:pPr algn="l" indent="0" marL="0">
              <a:lnSpc>
                <a:spcPct val="104000"/>
              </a:lnSpc>
              <a:buNone/>
            </a:pPr>
            <a:r>
              <a:rPr lang="en-US" sz="1800" dirty="0">
                <a:solidFill>
                  <a:srgbClr val="15213F"/>
                </a:solidFill>
                <a:latin typeface="Roboto Slab" pitchFamily="34" charset="0"/>
                <a:ea typeface="Roboto Slab" pitchFamily="34" charset="-122"/>
                <a:cs typeface="Roboto Slab" pitchFamily="34" charset="-120"/>
              </a:rPr>
              <a:t>Integration</a:t>
            </a:r>
            <a:endParaRPr lang="en-US" sz="1800" dirty="0"/>
          </a:p>
        </p:txBody>
      </p:sp>
      <p:sp>
        <p:nvSpPr>
          <p:cNvPr id="17" name="Text 15"/>
          <p:cNvSpPr/>
          <p:nvPr/>
        </p:nvSpPr>
        <p:spPr>
          <a:xfrm>
            <a:off x="8029374" y="3104356"/>
            <a:ext cx="3500747" cy="885825"/>
          </a:xfrm>
          <a:prstGeom prst="rect">
            <a:avLst/>
          </a:prstGeom>
          <a:noFill/>
          <a:ln/>
        </p:spPr>
        <p:txBody>
          <a:bodyPr wrap="square" lIns="0" tIns="0" rIns="0" bIns="0" rtlCol="0" anchor="t">
            <a:normAutofit/>
          </a:bodyPr>
          <a:lstStyle/>
          <a:p>
            <a:pPr algn="l" indent="0" marL="0">
              <a:lnSpc>
                <a:spcPct val="132000"/>
              </a:lnSpc>
              <a:buNone/>
            </a:pPr>
            <a:r>
              <a:rPr lang="en-US" sz="1450" dirty="0">
                <a:solidFill>
                  <a:srgbClr val="15213F"/>
                </a:solidFill>
                <a:latin typeface="Roboto" pitchFamily="34" charset="0"/>
                <a:ea typeface="Roboto" pitchFamily="34" charset="-122"/>
                <a:cs typeface="Roboto" pitchFamily="34" charset="-120"/>
              </a:rPr>
              <a:t>Upload, processing, search, and result display are connected through working APIs.</a:t>
            </a:r>
            <a:endParaRPr lang="en-US" sz="1450" dirty="0"/>
          </a:p>
        </p:txBody>
      </p:sp>
      <p:sp>
        <p:nvSpPr>
          <p:cNvPr id="18" name="Text 16"/>
          <p:cNvSpPr/>
          <p:nvPr/>
        </p:nvSpPr>
        <p:spPr>
          <a:xfrm>
            <a:off x="661475" y="4535035"/>
            <a:ext cx="5207465" cy="290711"/>
          </a:xfrm>
          <a:prstGeom prst="rect">
            <a:avLst/>
          </a:prstGeom>
          <a:noFill/>
          <a:ln/>
        </p:spPr>
        <p:txBody>
          <a:bodyPr wrap="none" lIns="0" tIns="0" rIns="0" bIns="0" rtlCol="0" anchor="t"/>
          <a:lstStyle/>
          <a:p>
            <a:pPr algn="l" indent="0" marL="0">
              <a:lnSpc>
                <a:spcPct val="104000"/>
              </a:lnSpc>
              <a:buNone/>
            </a:pPr>
            <a:r>
              <a:rPr lang="en-US" sz="1800" dirty="0">
                <a:solidFill>
                  <a:srgbClr val="3257B8"/>
                </a:solidFill>
                <a:latin typeface="Roboto Slab" pitchFamily="34" charset="0"/>
                <a:ea typeface="Roboto Slab" pitchFamily="34" charset="-122"/>
                <a:cs typeface="Roboto Slab" pitchFamily="34" charset="-120"/>
              </a:rPr>
              <a:t>Technical Choices</a:t>
            </a:r>
            <a:endParaRPr lang="en-US" sz="1800" dirty="0"/>
          </a:p>
        </p:txBody>
      </p:sp>
      <p:sp>
        <p:nvSpPr>
          <p:cNvPr id="19" name="Text 17"/>
          <p:cNvSpPr/>
          <p:nvPr/>
        </p:nvSpPr>
        <p:spPr>
          <a:xfrm>
            <a:off x="661475" y="4992687"/>
            <a:ext cx="5207465" cy="1245195"/>
          </a:xfrm>
          <a:prstGeom prst="rect">
            <a:avLst/>
          </a:prstGeom>
          <a:noFill/>
          <a:ln/>
        </p:spPr>
        <p:txBody>
          <a:bodyPr wrap="square" lIns="0" tIns="0" rIns="0" bIns="0" rtlCol="0" anchor="t">
            <a:normAutofit/>
          </a:bodyPr>
          <a:lstStyle/>
          <a:p>
            <a:pPr algn="l" marL="294640" indent="-294640">
              <a:lnSpc>
                <a:spcPct val="132000"/>
              </a:lnSpc>
              <a:buSzPct val="100000"/>
              <a:buChar char="•"/>
            </a:pPr>
            <a:r>
              <a:rPr lang="en-US" sz="1450" dirty="0">
                <a:solidFill>
                  <a:srgbClr val="15213F"/>
                </a:solidFill>
                <a:latin typeface="Roboto" pitchFamily="34" charset="0"/>
                <a:ea typeface="Roboto" pitchFamily="34" charset="-122"/>
                <a:cs typeface="Roboto" pitchFamily="34" charset="-120"/>
              </a:rPr>
              <a:t>Vector-based retrieval improves relevance over exact string matching.</a:t>
            </a:r>
            <a:endParaRPr lang="en-US" sz="1450" dirty="0"/>
          </a:p>
          <a:p>
            <a:pPr algn="l" marL="294640" indent="-294640">
              <a:lnSpc>
                <a:spcPct val="132000"/>
              </a:lnSpc>
              <a:buSzPct val="100000"/>
              <a:buChar char="•"/>
            </a:pPr>
            <a:r>
              <a:rPr lang="en-US" sz="1450" dirty="0">
                <a:solidFill>
                  <a:srgbClr val="15213F"/>
                </a:solidFill>
                <a:latin typeface="Roboto" pitchFamily="34" charset="0"/>
                <a:ea typeface="Roboto" pitchFamily="34" charset="-122"/>
                <a:cs typeface="Roboto" pitchFamily="34" charset="-120"/>
              </a:rPr>
              <a:t>The system is designed to stay practical, maintainable, and easy to demonstrate.</a:t>
            </a:r>
            <a:endParaRPr lang="en-US" sz="1450" dirty="0"/>
          </a:p>
        </p:txBody>
      </p:sp>
      <p:sp>
        <p:nvSpPr>
          <p:cNvPr id="20" name="Text 18"/>
          <p:cNvSpPr/>
          <p:nvPr/>
        </p:nvSpPr>
        <p:spPr>
          <a:xfrm>
            <a:off x="6329105" y="4535035"/>
            <a:ext cx="5207465" cy="290711"/>
          </a:xfrm>
          <a:prstGeom prst="rect">
            <a:avLst/>
          </a:prstGeom>
          <a:noFill/>
          <a:ln/>
        </p:spPr>
        <p:txBody>
          <a:bodyPr wrap="none" lIns="0" tIns="0" rIns="0" bIns="0" rtlCol="0" anchor="t"/>
          <a:lstStyle/>
          <a:p>
            <a:pPr algn="l" indent="0" marL="0">
              <a:lnSpc>
                <a:spcPct val="104000"/>
              </a:lnSpc>
              <a:buNone/>
            </a:pPr>
            <a:r>
              <a:rPr lang="en-US" sz="1800" dirty="0">
                <a:solidFill>
                  <a:srgbClr val="3257B8"/>
                </a:solidFill>
                <a:latin typeface="Roboto Slab" pitchFamily="34" charset="0"/>
                <a:ea typeface="Roboto Slab" pitchFamily="34" charset="-122"/>
                <a:cs typeface="Roboto Slab" pitchFamily="34" charset="-120"/>
              </a:rPr>
              <a:t>Error Handling and Scalability</a:t>
            </a:r>
            <a:endParaRPr lang="en-US" sz="1800" dirty="0"/>
          </a:p>
        </p:txBody>
      </p:sp>
      <p:sp>
        <p:nvSpPr>
          <p:cNvPr id="21" name="Text 19"/>
          <p:cNvSpPr/>
          <p:nvPr/>
        </p:nvSpPr>
        <p:spPr>
          <a:xfrm>
            <a:off x="6329105" y="4992687"/>
            <a:ext cx="5207465" cy="1245195"/>
          </a:xfrm>
          <a:prstGeom prst="rect">
            <a:avLst/>
          </a:prstGeom>
          <a:noFill/>
          <a:ln/>
        </p:spPr>
        <p:txBody>
          <a:bodyPr wrap="square" lIns="0" tIns="0" rIns="0" bIns="0" rtlCol="0" anchor="t">
            <a:normAutofit/>
          </a:bodyPr>
          <a:lstStyle/>
          <a:p>
            <a:pPr algn="l" marL="294640" indent="-294640">
              <a:lnSpc>
                <a:spcPct val="132000"/>
              </a:lnSpc>
              <a:buSzPct val="100000"/>
              <a:buChar char="•"/>
            </a:pPr>
            <a:r>
              <a:rPr lang="en-US" sz="1450" dirty="0">
                <a:solidFill>
                  <a:srgbClr val="15213F"/>
                </a:solidFill>
                <a:latin typeface="Roboto" pitchFamily="34" charset="0"/>
                <a:ea typeface="Roboto" pitchFamily="34" charset="-122"/>
                <a:cs typeface="Roboto" pitchFamily="34" charset="-120"/>
              </a:rPr>
              <a:t>Errors are handled during upload, parsing, indexing, and query execution.</a:t>
            </a:r>
            <a:endParaRPr lang="en-US" sz="1450" dirty="0"/>
          </a:p>
          <a:p>
            <a:pPr algn="l" marL="294640" indent="-294640">
              <a:lnSpc>
                <a:spcPct val="132000"/>
              </a:lnSpc>
              <a:buSzPct val="100000"/>
              <a:buChar char="•"/>
            </a:pPr>
            <a:r>
              <a:rPr lang="en-US" sz="1450" dirty="0">
                <a:solidFill>
                  <a:srgbClr val="15213F"/>
                </a:solidFill>
                <a:latin typeface="Roboto" pitchFamily="34" charset="0"/>
                <a:ea typeface="Roboto" pitchFamily="34" charset="-122"/>
                <a:cs typeface="Roboto" pitchFamily="34" charset="-120"/>
              </a:rPr>
              <a:t>Indexed storage and modular processing support growth to larger document collections.</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661475" y="581124"/>
            <a:ext cx="2231672" cy="166092"/>
          </a:xfrm>
          <a:prstGeom prst="roundRect">
            <a:avLst>
              <a:gd name="adj" fmla="val 7906"/>
            </a:avLst>
          </a:prstGeom>
          <a:solidFill>
            <a:srgbClr val="D7DFF4"/>
          </a:solidFill>
          <a:ln/>
        </p:spPr>
      </p:sp>
      <p:sp>
        <p:nvSpPr>
          <p:cNvPr id="3" name="Text 1"/>
          <p:cNvSpPr/>
          <p:nvPr/>
        </p:nvSpPr>
        <p:spPr>
          <a:xfrm>
            <a:off x="727057" y="614977"/>
            <a:ext cx="2710092" cy="100608"/>
          </a:xfrm>
          <a:prstGeom prst="rect">
            <a:avLst/>
          </a:prstGeom>
          <a:noFill/>
          <a:ln/>
        </p:spPr>
        <p:txBody>
          <a:bodyPr wrap="none" lIns="0" tIns="0" rIns="0" bIns="0" rtlCol="0" anchor="t"/>
          <a:lstStyle/>
          <a:p>
            <a:pPr algn="l" indent="0" marL="0">
              <a:lnSpc>
                <a:spcPct val="96000"/>
              </a:lnSpc>
              <a:buNone/>
            </a:pPr>
            <a:r>
              <a:rPr lang="en-US" sz="650" dirty="0">
                <a:solidFill>
                  <a:srgbClr val="15213F"/>
                </a:solidFill>
                <a:latin typeface="Roboto" pitchFamily="34" charset="0"/>
                <a:ea typeface="Roboto" pitchFamily="34" charset="-122"/>
                <a:cs typeface="Roboto" pitchFamily="34" charset="-120"/>
              </a:rPr>
              <a:t>SLIDE 7— INNOVATIVE AND SUSTAINABLE FEATURES</a:t>
            </a:r>
            <a:endParaRPr lang="en-US" sz="650" dirty="0"/>
          </a:p>
        </p:txBody>
      </p:sp>
      <p:sp>
        <p:nvSpPr>
          <p:cNvPr id="4" name="Text 2"/>
          <p:cNvSpPr/>
          <p:nvPr/>
        </p:nvSpPr>
        <p:spPr>
          <a:xfrm>
            <a:off x="661475" y="791803"/>
            <a:ext cx="10868745" cy="341908"/>
          </a:xfrm>
          <a:prstGeom prst="rect">
            <a:avLst/>
          </a:prstGeom>
          <a:noFill/>
          <a:ln/>
        </p:spPr>
        <p:txBody>
          <a:bodyPr wrap="none" lIns="0" tIns="0" rIns="0" bIns="0" rtlCol="0" anchor="t"/>
          <a:lstStyle/>
          <a:p>
            <a:pPr algn="l" indent="0" marL="0">
              <a:lnSpc>
                <a:spcPct val="104000"/>
              </a:lnSpc>
              <a:buNone/>
            </a:pPr>
            <a:r>
              <a:rPr lang="en-US" sz="2150" dirty="0">
                <a:solidFill>
                  <a:srgbClr val="3257B8"/>
                </a:solidFill>
                <a:latin typeface="Roboto Slab" pitchFamily="34" charset="0"/>
                <a:ea typeface="Roboto Slab" pitchFamily="34" charset="-122"/>
                <a:cs typeface="Roboto Slab" pitchFamily="34" charset="-120"/>
              </a:rPr>
              <a:t>Innovative and Sustainable Features </a:t>
            </a:r>
            <a:endParaRPr lang="en-US" sz="2150" dirty="0"/>
          </a:p>
        </p:txBody>
      </p:sp>
      <p:sp>
        <p:nvSpPr>
          <p:cNvPr id="5" name="Text 3"/>
          <p:cNvSpPr/>
          <p:nvPr/>
        </p:nvSpPr>
        <p:spPr>
          <a:xfrm>
            <a:off x="661475" y="1212922"/>
            <a:ext cx="11478330" cy="138212"/>
          </a:xfrm>
          <a:prstGeom prst="rect">
            <a:avLst/>
          </a:prstGeom>
          <a:noFill/>
          <a:ln/>
        </p:spPr>
        <p:txBody>
          <a:bodyPr wrap="none" lIns="0" tIns="0" rIns="0" bIns="0" rtlCol="0" anchor="t"/>
          <a:lstStyle/>
          <a:p>
            <a:pPr algn="l" indent="0" marL="0">
              <a:lnSpc>
                <a:spcPct val="105000"/>
              </a:lnSpc>
              <a:buNone/>
            </a:pPr>
            <a:r>
              <a:rPr lang="en-US" sz="850" dirty="0">
                <a:solidFill>
                  <a:srgbClr val="15213F"/>
                </a:solidFill>
                <a:latin typeface="Roboto" pitchFamily="34" charset="0"/>
                <a:ea typeface="Roboto" pitchFamily="34" charset="-122"/>
                <a:cs typeface="Roboto" pitchFamily="34" charset="-120"/>
              </a:rPr>
              <a:t>Our project combines semantic retrieval, analytics, and a unified workflow to improve document search while remaining maintainable and ready for future expansion.</a:t>
            </a:r>
            <a:endParaRPr lang="en-US" sz="850" dirty="0"/>
          </a:p>
        </p:txBody>
      </p:sp>
      <p:sp>
        <p:nvSpPr>
          <p:cNvPr id="6" name="Text 4"/>
          <p:cNvSpPr/>
          <p:nvPr/>
        </p:nvSpPr>
        <p:spPr>
          <a:xfrm>
            <a:off x="661475" y="1493360"/>
            <a:ext cx="5300927" cy="170954"/>
          </a:xfrm>
          <a:prstGeom prst="rect">
            <a:avLst/>
          </a:prstGeom>
          <a:noFill/>
          <a:ln/>
        </p:spPr>
        <p:txBody>
          <a:bodyPr wrap="none" lIns="0" tIns="0" rIns="0" bIns="0" rtlCol="0" anchor="t"/>
          <a:lstStyle/>
          <a:p>
            <a:pPr algn="l" indent="0" marL="0">
              <a:lnSpc>
                <a:spcPct val="104000"/>
              </a:lnSpc>
              <a:buNone/>
            </a:pPr>
            <a:r>
              <a:rPr lang="en-US" sz="1050" dirty="0">
                <a:solidFill>
                  <a:srgbClr val="3257B8"/>
                </a:solidFill>
                <a:latin typeface="Roboto Slab" pitchFamily="34" charset="0"/>
                <a:ea typeface="Roboto Slab" pitchFamily="34" charset="-122"/>
                <a:cs typeface="Roboto Slab" pitchFamily="34" charset="-120"/>
              </a:rPr>
              <a:t>Innovation Beyond Conventional Search</a:t>
            </a:r>
            <a:endParaRPr lang="en-US" sz="1050" dirty="0"/>
          </a:p>
        </p:txBody>
      </p:sp>
      <p:sp>
        <p:nvSpPr>
          <p:cNvPr id="7" name="Shape 5"/>
          <p:cNvSpPr/>
          <p:nvPr/>
        </p:nvSpPr>
        <p:spPr>
          <a:xfrm>
            <a:off x="661475" y="1724323"/>
            <a:ext cx="246156" cy="246162"/>
          </a:xfrm>
          <a:prstGeom prst="roundRect">
            <a:avLst>
              <a:gd name="adj" fmla="val 6668"/>
            </a:avLst>
          </a:prstGeom>
          <a:solidFill>
            <a:srgbClr val="E9ECF2"/>
          </a:solidFill>
          <a:ln/>
        </p:spPr>
      </p:sp>
      <p:sp>
        <p:nvSpPr>
          <p:cNvPr id="8" name="Text 6"/>
          <p:cNvSpPr/>
          <p:nvPr/>
        </p:nvSpPr>
        <p:spPr>
          <a:xfrm>
            <a:off x="970930" y="1761927"/>
            <a:ext cx="4991471" cy="170954"/>
          </a:xfrm>
          <a:prstGeom prst="rect">
            <a:avLst/>
          </a:prstGeom>
          <a:noFill/>
          <a:ln/>
        </p:spPr>
        <p:txBody>
          <a:bodyPr wrap="none" lIns="0" tIns="0" rIns="0" bIns="0" rtlCol="0" anchor="t"/>
          <a:lstStyle/>
          <a:p>
            <a:pPr algn="l" indent="0" marL="0">
              <a:lnSpc>
                <a:spcPct val="104000"/>
              </a:lnSpc>
              <a:buNone/>
            </a:pPr>
            <a:r>
              <a:rPr lang="en-US" sz="1050" dirty="0">
                <a:solidFill>
                  <a:srgbClr val="15213F"/>
                </a:solidFill>
                <a:latin typeface="Roboto Slab" pitchFamily="34" charset="0"/>
                <a:ea typeface="Roboto Slab" pitchFamily="34" charset="-122"/>
                <a:cs typeface="Roboto Slab" pitchFamily="34" charset="-120"/>
              </a:rPr>
              <a:t>Context-aware retrieval</a:t>
            </a:r>
            <a:endParaRPr lang="en-US" sz="1050" dirty="0"/>
          </a:p>
        </p:txBody>
      </p:sp>
      <p:sp>
        <p:nvSpPr>
          <p:cNvPr id="9" name="Text 7"/>
          <p:cNvSpPr/>
          <p:nvPr/>
        </p:nvSpPr>
        <p:spPr>
          <a:xfrm>
            <a:off x="970930" y="1996182"/>
            <a:ext cx="4991471" cy="138212"/>
          </a:xfrm>
          <a:prstGeom prst="rect">
            <a:avLst/>
          </a:prstGeom>
          <a:noFill/>
          <a:ln/>
        </p:spPr>
        <p:txBody>
          <a:bodyPr wrap="none" lIns="0" tIns="0" rIns="0" bIns="0" rtlCol="0" anchor="t"/>
          <a:lstStyle/>
          <a:p>
            <a:pPr algn="l" indent="0" marL="0">
              <a:lnSpc>
                <a:spcPct val="105000"/>
              </a:lnSpc>
              <a:buNone/>
            </a:pPr>
            <a:r>
              <a:rPr lang="en-US" sz="850" dirty="0">
                <a:solidFill>
                  <a:srgbClr val="15213F"/>
                </a:solidFill>
                <a:latin typeface="Roboto" pitchFamily="34" charset="0"/>
                <a:ea typeface="Roboto" pitchFamily="34" charset="-122"/>
                <a:cs typeface="Roboto" pitchFamily="34" charset="-120"/>
              </a:rPr>
              <a:t>Search is based on semantic meaning, not just exact keyword matching.</a:t>
            </a:r>
            <a:endParaRPr lang="en-US" sz="850" dirty="0"/>
          </a:p>
        </p:txBody>
      </p:sp>
      <p:sp>
        <p:nvSpPr>
          <p:cNvPr id="10" name="Shape 8"/>
          <p:cNvSpPr/>
          <p:nvPr/>
        </p:nvSpPr>
        <p:spPr>
          <a:xfrm>
            <a:off x="661475" y="2260997"/>
            <a:ext cx="246156" cy="246162"/>
          </a:xfrm>
          <a:prstGeom prst="roundRect">
            <a:avLst>
              <a:gd name="adj" fmla="val 6668"/>
            </a:avLst>
          </a:prstGeom>
          <a:solidFill>
            <a:srgbClr val="E9ECF2"/>
          </a:solidFill>
          <a:ln/>
        </p:spPr>
      </p:sp>
      <p:sp>
        <p:nvSpPr>
          <p:cNvPr id="11" name="Text 9"/>
          <p:cNvSpPr/>
          <p:nvPr/>
        </p:nvSpPr>
        <p:spPr>
          <a:xfrm>
            <a:off x="970930" y="2298601"/>
            <a:ext cx="4991471" cy="170954"/>
          </a:xfrm>
          <a:prstGeom prst="rect">
            <a:avLst/>
          </a:prstGeom>
          <a:noFill/>
          <a:ln/>
        </p:spPr>
        <p:txBody>
          <a:bodyPr wrap="none" lIns="0" tIns="0" rIns="0" bIns="0" rtlCol="0" anchor="t"/>
          <a:lstStyle/>
          <a:p>
            <a:pPr algn="l" indent="0" marL="0">
              <a:lnSpc>
                <a:spcPct val="104000"/>
              </a:lnSpc>
              <a:buNone/>
            </a:pPr>
            <a:r>
              <a:rPr lang="en-US" sz="1050" dirty="0">
                <a:solidFill>
                  <a:srgbClr val="15213F"/>
                </a:solidFill>
                <a:latin typeface="Roboto Slab" pitchFamily="34" charset="0"/>
                <a:ea typeface="Roboto Slab" pitchFamily="34" charset="-122"/>
                <a:cs typeface="Roboto Slab" pitchFamily="34" charset="-120"/>
              </a:rPr>
              <a:t>Unified workflow</a:t>
            </a:r>
            <a:endParaRPr lang="en-US" sz="1050" dirty="0"/>
          </a:p>
        </p:txBody>
      </p:sp>
      <p:sp>
        <p:nvSpPr>
          <p:cNvPr id="12" name="Text 10"/>
          <p:cNvSpPr/>
          <p:nvPr/>
        </p:nvSpPr>
        <p:spPr>
          <a:xfrm>
            <a:off x="970930" y="2532856"/>
            <a:ext cx="4991471" cy="138212"/>
          </a:xfrm>
          <a:prstGeom prst="rect">
            <a:avLst/>
          </a:prstGeom>
          <a:noFill/>
          <a:ln/>
        </p:spPr>
        <p:txBody>
          <a:bodyPr wrap="none" lIns="0" tIns="0" rIns="0" bIns="0" rtlCol="0" anchor="t"/>
          <a:lstStyle/>
          <a:p>
            <a:pPr algn="l" indent="0" marL="0">
              <a:lnSpc>
                <a:spcPct val="105000"/>
              </a:lnSpc>
              <a:buNone/>
            </a:pPr>
            <a:r>
              <a:rPr lang="en-US" sz="850" dirty="0">
                <a:solidFill>
                  <a:srgbClr val="15213F"/>
                </a:solidFill>
                <a:latin typeface="Roboto" pitchFamily="34" charset="0"/>
                <a:ea typeface="Roboto" pitchFamily="34" charset="-122"/>
                <a:cs typeface="Roboto" pitchFamily="34" charset="-120"/>
              </a:rPr>
              <a:t>Document search and analytical insights are combined in one interface.</a:t>
            </a:r>
            <a:endParaRPr lang="en-US" sz="850" dirty="0"/>
          </a:p>
        </p:txBody>
      </p:sp>
      <p:sp>
        <p:nvSpPr>
          <p:cNvPr id="13" name="Shape 11"/>
          <p:cNvSpPr/>
          <p:nvPr/>
        </p:nvSpPr>
        <p:spPr>
          <a:xfrm>
            <a:off x="661475" y="2797671"/>
            <a:ext cx="246156" cy="246162"/>
          </a:xfrm>
          <a:prstGeom prst="roundRect">
            <a:avLst>
              <a:gd name="adj" fmla="val 6668"/>
            </a:avLst>
          </a:prstGeom>
          <a:solidFill>
            <a:srgbClr val="E9ECF2"/>
          </a:solidFill>
          <a:ln/>
        </p:spPr>
      </p:sp>
      <p:sp>
        <p:nvSpPr>
          <p:cNvPr id="14" name="Text 12"/>
          <p:cNvSpPr/>
          <p:nvPr/>
        </p:nvSpPr>
        <p:spPr>
          <a:xfrm>
            <a:off x="970930" y="2835275"/>
            <a:ext cx="4991471" cy="170954"/>
          </a:xfrm>
          <a:prstGeom prst="rect">
            <a:avLst/>
          </a:prstGeom>
          <a:noFill/>
          <a:ln/>
        </p:spPr>
        <p:txBody>
          <a:bodyPr wrap="none" lIns="0" tIns="0" rIns="0" bIns="0" rtlCol="0" anchor="t"/>
          <a:lstStyle/>
          <a:p>
            <a:pPr algn="l" indent="0" marL="0">
              <a:lnSpc>
                <a:spcPct val="104000"/>
              </a:lnSpc>
              <a:buNone/>
            </a:pPr>
            <a:r>
              <a:rPr lang="en-US" sz="1050" dirty="0">
                <a:solidFill>
                  <a:srgbClr val="15213F"/>
                </a:solidFill>
                <a:latin typeface="Roboto Slab" pitchFamily="34" charset="0"/>
                <a:ea typeface="Roboto Slab" pitchFamily="34" charset="-122"/>
                <a:cs typeface="Roboto Slab" pitchFamily="34" charset="-120"/>
              </a:rPr>
              <a:t>Better discovery</a:t>
            </a:r>
            <a:endParaRPr lang="en-US" sz="1050" dirty="0"/>
          </a:p>
        </p:txBody>
      </p:sp>
      <p:sp>
        <p:nvSpPr>
          <p:cNvPr id="15" name="Text 13"/>
          <p:cNvSpPr/>
          <p:nvPr/>
        </p:nvSpPr>
        <p:spPr>
          <a:xfrm>
            <a:off x="970930" y="3069530"/>
            <a:ext cx="4991471" cy="138212"/>
          </a:xfrm>
          <a:prstGeom prst="rect">
            <a:avLst/>
          </a:prstGeom>
          <a:noFill/>
          <a:ln/>
        </p:spPr>
        <p:txBody>
          <a:bodyPr wrap="none" lIns="0" tIns="0" rIns="0" bIns="0" rtlCol="0" anchor="t"/>
          <a:lstStyle/>
          <a:p>
            <a:pPr algn="l" indent="0" marL="0">
              <a:lnSpc>
                <a:spcPct val="105000"/>
              </a:lnSpc>
              <a:buNone/>
            </a:pPr>
            <a:r>
              <a:rPr lang="en-US" sz="850" dirty="0">
                <a:solidFill>
                  <a:srgbClr val="15213F"/>
                </a:solidFill>
                <a:latin typeface="Roboto" pitchFamily="34" charset="0"/>
                <a:ea typeface="Roboto" pitchFamily="34" charset="-122"/>
                <a:cs typeface="Roboto" pitchFamily="34" charset="-120"/>
              </a:rPr>
              <a:t>Users find relevant information faster with less manual searching.</a:t>
            </a:r>
            <a:endParaRPr lang="en-US" sz="850" dirty="0"/>
          </a:p>
        </p:txBody>
      </p:sp>
      <p:sp>
        <p:nvSpPr>
          <p:cNvPr id="16" name="Text 14"/>
          <p:cNvSpPr/>
          <p:nvPr/>
        </p:nvSpPr>
        <p:spPr>
          <a:xfrm>
            <a:off x="6235643" y="1493360"/>
            <a:ext cx="5300927" cy="170954"/>
          </a:xfrm>
          <a:prstGeom prst="rect">
            <a:avLst/>
          </a:prstGeom>
          <a:noFill/>
          <a:ln/>
        </p:spPr>
        <p:txBody>
          <a:bodyPr wrap="none" lIns="0" tIns="0" rIns="0" bIns="0" rtlCol="0" anchor="t"/>
          <a:lstStyle/>
          <a:p>
            <a:pPr algn="l" indent="0" marL="0">
              <a:lnSpc>
                <a:spcPct val="104000"/>
              </a:lnSpc>
              <a:buNone/>
            </a:pPr>
            <a:r>
              <a:rPr lang="en-US" sz="1050" dirty="0">
                <a:solidFill>
                  <a:srgbClr val="3257B8"/>
                </a:solidFill>
                <a:latin typeface="Roboto Slab" pitchFamily="34" charset="0"/>
                <a:ea typeface="Roboto Slab" pitchFamily="34" charset="-122"/>
                <a:cs typeface="Roboto Slab" pitchFamily="34" charset="-120"/>
              </a:rPr>
              <a:t>Sustainability and Responsible Design</a:t>
            </a:r>
            <a:endParaRPr lang="en-US" sz="1050" dirty="0"/>
          </a:p>
        </p:txBody>
      </p:sp>
      <p:pic>
        <p:nvPicPr>
          <p:cNvPr id="1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235643" y="1724323"/>
            <a:ext cx="5300927" cy="616545"/>
          </a:xfrm>
          <a:prstGeom prst="rect">
            <a:avLst/>
          </a:prstGeom>
        </p:spPr>
      </p:pic>
      <p:sp>
        <p:nvSpPr>
          <p:cNvPr id="18" name="Text 15"/>
          <p:cNvSpPr/>
          <p:nvPr/>
        </p:nvSpPr>
        <p:spPr>
          <a:xfrm>
            <a:off x="6408478" y="1846362"/>
            <a:ext cx="5006056" cy="170954"/>
          </a:xfrm>
          <a:prstGeom prst="rect">
            <a:avLst/>
          </a:prstGeom>
          <a:noFill/>
          <a:ln/>
        </p:spPr>
        <p:txBody>
          <a:bodyPr wrap="none" lIns="0" tIns="0" rIns="0" bIns="0" rtlCol="0" anchor="t"/>
          <a:lstStyle/>
          <a:p>
            <a:pPr algn="l" indent="0" marL="0">
              <a:lnSpc>
                <a:spcPct val="104000"/>
              </a:lnSpc>
              <a:buNone/>
            </a:pPr>
            <a:r>
              <a:rPr lang="en-US" sz="1050" dirty="0">
                <a:solidFill>
                  <a:srgbClr val="15213F"/>
                </a:solidFill>
                <a:latin typeface="Roboto Slab" pitchFamily="34" charset="0"/>
                <a:ea typeface="Roboto Slab" pitchFamily="34" charset="-122"/>
                <a:cs typeface="Roboto Slab" pitchFamily="34" charset="-120"/>
              </a:rPr>
              <a:t>Maintainability</a:t>
            </a:r>
            <a:endParaRPr lang="en-US" sz="1050" dirty="0"/>
          </a:p>
        </p:txBody>
      </p:sp>
      <p:sp>
        <p:nvSpPr>
          <p:cNvPr id="19" name="Text 16"/>
          <p:cNvSpPr/>
          <p:nvPr/>
        </p:nvSpPr>
        <p:spPr>
          <a:xfrm>
            <a:off x="6408478" y="2080617"/>
            <a:ext cx="5006056" cy="138212"/>
          </a:xfrm>
          <a:prstGeom prst="rect">
            <a:avLst/>
          </a:prstGeom>
          <a:noFill/>
          <a:ln/>
        </p:spPr>
        <p:txBody>
          <a:bodyPr wrap="none" lIns="0" tIns="0" rIns="0" bIns="0" rtlCol="0" anchor="t"/>
          <a:lstStyle/>
          <a:p>
            <a:pPr algn="l" indent="0" marL="0">
              <a:lnSpc>
                <a:spcPct val="105000"/>
              </a:lnSpc>
              <a:buNone/>
            </a:pPr>
            <a:r>
              <a:rPr lang="en-US" sz="850" dirty="0">
                <a:solidFill>
                  <a:srgbClr val="15213F"/>
                </a:solidFill>
                <a:latin typeface="Roboto" pitchFamily="34" charset="0"/>
                <a:ea typeface="Roboto" pitchFamily="34" charset="-122"/>
                <a:cs typeface="Roboto" pitchFamily="34" charset="-120"/>
              </a:rPr>
              <a:t>Clear modular code structure makes future updates easier.</a:t>
            </a:r>
            <a:endParaRPr lang="en-US" sz="850" dirty="0"/>
          </a:p>
        </p:txBody>
      </p:sp>
      <p:pic>
        <p:nvPicPr>
          <p:cNvPr id="2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35643" y="2404170"/>
            <a:ext cx="5300927" cy="616545"/>
          </a:xfrm>
          <a:prstGeom prst="rect">
            <a:avLst/>
          </a:prstGeom>
        </p:spPr>
      </p:pic>
      <p:sp>
        <p:nvSpPr>
          <p:cNvPr id="21" name="Text 17"/>
          <p:cNvSpPr/>
          <p:nvPr/>
        </p:nvSpPr>
        <p:spPr>
          <a:xfrm>
            <a:off x="6408478" y="2526209"/>
            <a:ext cx="5006056" cy="170954"/>
          </a:xfrm>
          <a:prstGeom prst="rect">
            <a:avLst/>
          </a:prstGeom>
          <a:noFill/>
          <a:ln/>
        </p:spPr>
        <p:txBody>
          <a:bodyPr wrap="none" lIns="0" tIns="0" rIns="0" bIns="0" rtlCol="0" anchor="t"/>
          <a:lstStyle/>
          <a:p>
            <a:pPr algn="l" indent="0" marL="0">
              <a:lnSpc>
                <a:spcPct val="104000"/>
              </a:lnSpc>
              <a:buNone/>
            </a:pPr>
            <a:r>
              <a:rPr lang="en-US" sz="1050" dirty="0">
                <a:solidFill>
                  <a:srgbClr val="15213F"/>
                </a:solidFill>
                <a:latin typeface="Roboto Slab" pitchFamily="34" charset="0"/>
                <a:ea typeface="Roboto Slab" pitchFamily="34" charset="-122"/>
                <a:cs typeface="Roboto Slab" pitchFamily="34" charset="-120"/>
              </a:rPr>
              <a:t>Efficient resource usage</a:t>
            </a:r>
            <a:endParaRPr lang="en-US" sz="1050" dirty="0"/>
          </a:p>
        </p:txBody>
      </p:sp>
      <p:sp>
        <p:nvSpPr>
          <p:cNvPr id="22" name="Text 18"/>
          <p:cNvSpPr/>
          <p:nvPr/>
        </p:nvSpPr>
        <p:spPr>
          <a:xfrm>
            <a:off x="6408478" y="2760464"/>
            <a:ext cx="5006056" cy="138212"/>
          </a:xfrm>
          <a:prstGeom prst="rect">
            <a:avLst/>
          </a:prstGeom>
          <a:noFill/>
          <a:ln/>
        </p:spPr>
        <p:txBody>
          <a:bodyPr wrap="none" lIns="0" tIns="0" rIns="0" bIns="0" rtlCol="0" anchor="t"/>
          <a:lstStyle/>
          <a:p>
            <a:pPr algn="l" indent="0" marL="0">
              <a:lnSpc>
                <a:spcPct val="105000"/>
              </a:lnSpc>
              <a:buNone/>
            </a:pPr>
            <a:r>
              <a:rPr lang="en-US" sz="850" dirty="0">
                <a:solidFill>
                  <a:srgbClr val="15213F"/>
                </a:solidFill>
                <a:latin typeface="Roboto" pitchFamily="34" charset="0"/>
                <a:ea typeface="Roboto" pitchFamily="34" charset="-122"/>
                <a:cs typeface="Roboto" pitchFamily="34" charset="-120"/>
              </a:rPr>
              <a:t>Optimized indexing and retrieval help keep processing lightweight.</a:t>
            </a:r>
            <a:endParaRPr lang="en-US" sz="850" dirty="0"/>
          </a:p>
        </p:txBody>
      </p:sp>
      <p:pic>
        <p:nvPicPr>
          <p:cNvPr id="2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35643" y="3084016"/>
            <a:ext cx="5300927" cy="616545"/>
          </a:xfrm>
          <a:prstGeom prst="rect">
            <a:avLst/>
          </a:prstGeom>
        </p:spPr>
      </p:pic>
      <p:sp>
        <p:nvSpPr>
          <p:cNvPr id="24" name="Text 19"/>
          <p:cNvSpPr/>
          <p:nvPr/>
        </p:nvSpPr>
        <p:spPr>
          <a:xfrm>
            <a:off x="6408478" y="3206055"/>
            <a:ext cx="5006056" cy="170954"/>
          </a:xfrm>
          <a:prstGeom prst="rect">
            <a:avLst/>
          </a:prstGeom>
          <a:noFill/>
          <a:ln/>
        </p:spPr>
        <p:txBody>
          <a:bodyPr wrap="none" lIns="0" tIns="0" rIns="0" bIns="0" rtlCol="0" anchor="t"/>
          <a:lstStyle/>
          <a:p>
            <a:pPr algn="l" indent="0" marL="0">
              <a:lnSpc>
                <a:spcPct val="104000"/>
              </a:lnSpc>
              <a:buNone/>
            </a:pPr>
            <a:r>
              <a:rPr lang="en-US" sz="1050" dirty="0">
                <a:solidFill>
                  <a:srgbClr val="15213F"/>
                </a:solidFill>
                <a:latin typeface="Roboto Slab" pitchFamily="34" charset="0"/>
                <a:ea typeface="Roboto Slab" pitchFamily="34" charset="-122"/>
                <a:cs typeface="Roboto Slab" pitchFamily="34" charset="-120"/>
              </a:rPr>
              <a:t>Accessibility</a:t>
            </a:r>
            <a:endParaRPr lang="en-US" sz="1050" dirty="0"/>
          </a:p>
        </p:txBody>
      </p:sp>
      <p:sp>
        <p:nvSpPr>
          <p:cNvPr id="25" name="Text 20"/>
          <p:cNvSpPr/>
          <p:nvPr/>
        </p:nvSpPr>
        <p:spPr>
          <a:xfrm>
            <a:off x="6408478" y="3440311"/>
            <a:ext cx="5006056" cy="138212"/>
          </a:xfrm>
          <a:prstGeom prst="rect">
            <a:avLst/>
          </a:prstGeom>
          <a:noFill/>
          <a:ln/>
        </p:spPr>
        <p:txBody>
          <a:bodyPr wrap="none" lIns="0" tIns="0" rIns="0" bIns="0" rtlCol="0" anchor="t"/>
          <a:lstStyle/>
          <a:p>
            <a:pPr algn="l" indent="0" marL="0">
              <a:lnSpc>
                <a:spcPct val="105000"/>
              </a:lnSpc>
              <a:buNone/>
            </a:pPr>
            <a:r>
              <a:rPr lang="en-US" sz="850" dirty="0">
                <a:solidFill>
                  <a:srgbClr val="15213F"/>
                </a:solidFill>
                <a:latin typeface="Roboto" pitchFamily="34" charset="0"/>
                <a:ea typeface="Roboto" pitchFamily="34" charset="-122"/>
                <a:cs typeface="Roboto" pitchFamily="34" charset="-120"/>
              </a:rPr>
              <a:t>User-friendly design supports diverse users and easy interaction.</a:t>
            </a:r>
            <a:endParaRPr lang="en-US" sz="850" dirty="0"/>
          </a:p>
        </p:txBody>
      </p:sp>
      <p:sp>
        <p:nvSpPr>
          <p:cNvPr id="26" name="Text 21"/>
          <p:cNvSpPr/>
          <p:nvPr/>
        </p:nvSpPr>
        <p:spPr>
          <a:xfrm>
            <a:off x="661475" y="3877983"/>
            <a:ext cx="10868745" cy="170954"/>
          </a:xfrm>
          <a:prstGeom prst="rect">
            <a:avLst/>
          </a:prstGeom>
          <a:noFill/>
          <a:ln/>
        </p:spPr>
        <p:txBody>
          <a:bodyPr wrap="none" lIns="0" tIns="0" rIns="0" bIns="0" rtlCol="0" anchor="t"/>
          <a:lstStyle/>
          <a:p>
            <a:pPr algn="l" indent="0" marL="0">
              <a:lnSpc>
                <a:spcPct val="104000"/>
              </a:lnSpc>
              <a:buNone/>
            </a:pPr>
            <a:r>
              <a:rPr lang="en-US" sz="1050" dirty="0">
                <a:solidFill>
                  <a:srgbClr val="3257B8"/>
                </a:solidFill>
                <a:latin typeface="Roboto Slab" pitchFamily="34" charset="0"/>
                <a:ea typeface="Roboto Slab" pitchFamily="34" charset="-122"/>
                <a:cs typeface="Roboto Slab" pitchFamily="34" charset="-120"/>
              </a:rPr>
              <a:t>Comparison with Conventional Approaches</a:t>
            </a:r>
            <a:endParaRPr lang="en-US" sz="10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61475" y="4132659"/>
          <a:ext cx="10868745" cy="914400"/>
        </p:xfrm>
        <a:graphic>
          <a:graphicData uri="http://schemas.openxmlformats.org/drawingml/2006/table">
            <a:tbl>
              <a:tblPr/>
              <a:tblGrid>
                <a:gridCol w="3260614"/>
                <a:gridCol w="3804066"/>
                <a:gridCol w="3804066"/>
              </a:tblGrid>
              <a:tr h="230083">
                <a:tc>
                  <a:txBody>
                    <a:bodyPr/>
                    <a:lstStyle/>
                    <a:p>
                      <a:pPr algn="l" indent="0" marL="0">
                        <a:buNone/>
                      </a:pPr>
                      <a:r>
                        <a:rPr lang="en-US" sz="850" b="1" dirty="0">
                          <a:solidFill>
                            <a:srgbClr val="15213F"/>
                          </a:solidFill>
                          <a:latin typeface="Roboto" pitchFamily="34" charset="0"/>
                          <a:ea typeface="Roboto" pitchFamily="34" charset="-122"/>
                          <a:cs typeface="Roboto" pitchFamily="34" charset="-120"/>
                        </a:rPr>
                        <a:t>Approach</a:t>
                      </a:r>
                      <a:endParaRPr lang="en-US" sz="850" dirty="0">
                        <a:latin typeface="Roboto" charset="0"/>
                        <a:ea typeface="Roboto" charset="0"/>
                        <a:cs typeface="Roboto" charset="0"/>
                      </a:endParaRPr>
                    </a:p>
                  </a:txBody>
                  <a:tcPr marL="109424" marR="109424" marT="6350" marB="6350" anchor="ctr">
                    <a:lnL w="12700" cap="flat" cmpd="sng" algn="ctr">
                      <a:solidFill>
                        <a:srgbClr val="CFD2D8"/>
                      </a:solidFill>
                      <a:prstDash val="solid"/>
                      <a:round/>
                      <a:headEnd type="none" w="med" len="med"/>
                      <a:tailEnd type="none" w="med" len="med"/>
                    </a:lnL>
                    <a:lnR w="12700" cap="flat" cmpd="sng" algn="ctr">
                      <a:solidFill>
                        <a:srgbClr val="CFD2D8"/>
                      </a:solidFill>
                      <a:prstDash val="solid"/>
                      <a:round/>
                      <a:headEnd type="none" w="med" len="med"/>
                      <a:tailEnd type="none" w="med" len="med"/>
                    </a:lnR>
                    <a:lnT w="12700" cap="flat" cmpd="sng" algn="ctr">
                      <a:solidFill>
                        <a:srgbClr val="CFD2D8"/>
                      </a:solidFill>
                      <a:prstDash val="solid"/>
                      <a:round/>
                      <a:headEnd type="none" w="med" len="med"/>
                      <a:tailEnd type="none" w="med" len="med"/>
                    </a:lnT>
                    <a:lnB w="12700" cap="flat" cmpd="sng" algn="ctr">
                      <a:solidFill>
                        <a:srgbClr val="CFD2D8"/>
                      </a:solidFill>
                      <a:prstDash val="solid"/>
                      <a:round/>
                      <a:headEnd type="none" w="med" len="med"/>
                      <a:tailEnd type="none" w="med" len="med"/>
                    </a:lnB>
                  </a:tcPr>
                </a:tc>
                <a:tc>
                  <a:txBody>
                    <a:bodyPr/>
                    <a:lstStyle/>
                    <a:p>
                      <a:pPr algn="l" indent="0" marL="0">
                        <a:buNone/>
                      </a:pPr>
                      <a:r>
                        <a:rPr lang="en-US" sz="850" b="1" dirty="0">
                          <a:solidFill>
                            <a:srgbClr val="15213F"/>
                          </a:solidFill>
                          <a:latin typeface="Roboto" pitchFamily="34" charset="0"/>
                          <a:ea typeface="Roboto" pitchFamily="34" charset="-122"/>
                          <a:cs typeface="Roboto" pitchFamily="34" charset="-120"/>
                        </a:rPr>
                        <a:t>What it does</a:t>
                      </a:r>
                      <a:endParaRPr lang="en-US" sz="850" dirty="0">
                        <a:latin typeface="Roboto" charset="0"/>
                        <a:ea typeface="Roboto" charset="0"/>
                        <a:cs typeface="Roboto" charset="0"/>
                      </a:endParaRPr>
                    </a:p>
                  </a:txBody>
                  <a:tcPr marL="109424" marR="109424" marT="6350" marB="6350" anchor="ctr">
                    <a:lnL w="12700" cap="flat" cmpd="sng" algn="ctr">
                      <a:solidFill>
                        <a:srgbClr val="CFD2D8"/>
                      </a:solidFill>
                      <a:prstDash val="solid"/>
                      <a:round/>
                      <a:headEnd type="none" w="med" len="med"/>
                      <a:tailEnd type="none" w="med" len="med"/>
                    </a:lnL>
                    <a:lnR w="12700" cap="flat" cmpd="sng" algn="ctr">
                      <a:solidFill>
                        <a:srgbClr val="CFD2D8"/>
                      </a:solidFill>
                      <a:prstDash val="solid"/>
                      <a:round/>
                      <a:headEnd type="none" w="med" len="med"/>
                      <a:tailEnd type="none" w="med" len="med"/>
                    </a:lnR>
                    <a:lnT w="12700" cap="flat" cmpd="sng" algn="ctr">
                      <a:solidFill>
                        <a:srgbClr val="CFD2D8"/>
                      </a:solidFill>
                      <a:prstDash val="solid"/>
                      <a:round/>
                      <a:headEnd type="none" w="med" len="med"/>
                      <a:tailEnd type="none" w="med" len="med"/>
                    </a:lnT>
                    <a:lnB w="12700" cap="flat" cmpd="sng" algn="ctr">
                      <a:solidFill>
                        <a:srgbClr val="CFD2D8"/>
                      </a:solidFill>
                      <a:prstDash val="solid"/>
                      <a:round/>
                      <a:headEnd type="none" w="med" len="med"/>
                      <a:tailEnd type="none" w="med" len="med"/>
                    </a:lnB>
                  </a:tcPr>
                </a:tc>
                <a:tc>
                  <a:txBody>
                    <a:bodyPr/>
                    <a:lstStyle/>
                    <a:p>
                      <a:pPr algn="l" indent="0" marL="0">
                        <a:buNone/>
                      </a:pPr>
                      <a:r>
                        <a:rPr lang="en-US" sz="850" b="1" dirty="0">
                          <a:solidFill>
                            <a:srgbClr val="15213F"/>
                          </a:solidFill>
                          <a:latin typeface="Roboto" pitchFamily="34" charset="0"/>
                          <a:ea typeface="Roboto" pitchFamily="34" charset="-122"/>
                          <a:cs typeface="Roboto" pitchFamily="34" charset="-120"/>
                        </a:rPr>
                        <a:t>Key advantage</a:t>
                      </a:r>
                      <a:endParaRPr lang="en-US" sz="850" dirty="0">
                        <a:latin typeface="Roboto" charset="0"/>
                        <a:ea typeface="Roboto" charset="0"/>
                        <a:cs typeface="Roboto" charset="0"/>
                      </a:endParaRPr>
                    </a:p>
                  </a:txBody>
                  <a:tcPr marL="109424" marR="109424" marT="6350" marB="6350" anchor="ctr">
                    <a:lnL w="12700" cap="flat" cmpd="sng" algn="ctr">
                      <a:solidFill>
                        <a:srgbClr val="CFD2D8"/>
                      </a:solidFill>
                      <a:prstDash val="solid"/>
                      <a:round/>
                      <a:headEnd type="none" w="med" len="med"/>
                      <a:tailEnd type="none" w="med" len="med"/>
                    </a:lnL>
                    <a:lnR w="12700" cap="flat" cmpd="sng" algn="ctr">
                      <a:solidFill>
                        <a:srgbClr val="CFD2D8"/>
                      </a:solidFill>
                      <a:prstDash val="solid"/>
                      <a:round/>
                      <a:headEnd type="none" w="med" len="med"/>
                      <a:tailEnd type="none" w="med" len="med"/>
                    </a:lnR>
                    <a:lnT w="12700" cap="flat" cmpd="sng" algn="ctr">
                      <a:solidFill>
                        <a:srgbClr val="CFD2D8"/>
                      </a:solidFill>
                      <a:prstDash val="solid"/>
                      <a:round/>
                      <a:headEnd type="none" w="med" len="med"/>
                      <a:tailEnd type="none" w="med" len="med"/>
                    </a:lnT>
                    <a:lnB w="12700" cap="flat" cmpd="sng" algn="ctr">
                      <a:solidFill>
                        <a:srgbClr val="CFD2D8"/>
                      </a:solidFill>
                      <a:prstDash val="solid"/>
                      <a:round/>
                      <a:headEnd type="none" w="med" len="med"/>
                      <a:tailEnd type="none" w="med" len="med"/>
                    </a:lnB>
                  </a:tcPr>
                </a:tc>
              </a:tr>
              <a:tr h="233257">
                <a:tc>
                  <a:txBody>
                    <a:bodyPr/>
                    <a:lstStyle/>
                    <a:p>
                      <a:pPr algn="l" indent="0" marL="0">
                        <a:buNone/>
                      </a:pPr>
                      <a:r>
                        <a:rPr lang="en-US" sz="850" dirty="0">
                          <a:solidFill>
                            <a:srgbClr val="15213F"/>
                          </a:solidFill>
                          <a:latin typeface="Roboto" pitchFamily="34" charset="0"/>
                          <a:ea typeface="Roboto" pitchFamily="34" charset="-122"/>
                          <a:cs typeface="Roboto" pitchFamily="34" charset="-120"/>
                        </a:rPr>
                        <a:t>Traditional keyword search</a:t>
                      </a:r>
                      <a:endParaRPr lang="en-US" sz="850" dirty="0">
                        <a:latin typeface="Roboto" charset="0"/>
                        <a:ea typeface="Roboto" charset="0"/>
                        <a:cs typeface="Roboto" charset="0"/>
                      </a:endParaRPr>
                    </a:p>
                  </a:txBody>
                  <a:tcPr marL="109424" marR="109424" marT="6350" marB="6350" anchor="ctr">
                    <a:lnL w="12700" cap="flat" cmpd="sng" algn="ctr">
                      <a:solidFill>
                        <a:srgbClr val="CFD2D8"/>
                      </a:solidFill>
                      <a:prstDash val="solid"/>
                      <a:round/>
                      <a:headEnd type="none" w="med" len="med"/>
                      <a:tailEnd type="none" w="med" len="med"/>
                    </a:lnL>
                    <a:lnR w="12700" cap="flat" cmpd="sng" algn="ctr">
                      <a:solidFill>
                        <a:srgbClr val="CFD2D8"/>
                      </a:solidFill>
                      <a:prstDash val="solid"/>
                      <a:round/>
                      <a:headEnd type="none" w="med" len="med"/>
                      <a:tailEnd type="none" w="med" len="med"/>
                    </a:lnR>
                    <a:lnT w="12700" cap="flat" cmpd="sng" algn="ctr">
                      <a:solidFill>
                        <a:srgbClr val="CFD2D8"/>
                      </a:solidFill>
                      <a:prstDash val="solid"/>
                      <a:round/>
                      <a:headEnd type="none" w="med" len="med"/>
                      <a:tailEnd type="none" w="med" len="med"/>
                    </a:lnT>
                    <a:lnB w="12700" cap="flat" cmpd="sng" algn="ctr">
                      <a:solidFill>
                        <a:srgbClr val="CFD2D8"/>
                      </a:solidFill>
                      <a:prstDash val="solid"/>
                      <a:round/>
                      <a:headEnd type="none" w="med" len="med"/>
                      <a:tailEnd type="none" w="med" len="med"/>
                    </a:lnB>
                  </a:tcPr>
                </a:tc>
                <a:tc>
                  <a:txBody>
                    <a:bodyPr/>
                    <a:lstStyle/>
                    <a:p>
                      <a:pPr algn="l" indent="0" marL="0">
                        <a:buNone/>
                      </a:pPr>
                      <a:r>
                        <a:rPr lang="en-US" sz="850" dirty="0">
                          <a:solidFill>
                            <a:srgbClr val="15213F"/>
                          </a:solidFill>
                          <a:latin typeface="Roboto" pitchFamily="34" charset="0"/>
                          <a:ea typeface="Roboto" pitchFamily="34" charset="-122"/>
                          <a:cs typeface="Roboto" pitchFamily="34" charset="-120"/>
                        </a:rPr>
                        <a:t>Relies on exact matches only</a:t>
                      </a:r>
                      <a:endParaRPr lang="en-US" sz="850" dirty="0">
                        <a:latin typeface="Roboto" charset="0"/>
                        <a:ea typeface="Roboto" charset="0"/>
                        <a:cs typeface="Roboto" charset="0"/>
                      </a:endParaRPr>
                    </a:p>
                  </a:txBody>
                  <a:tcPr marL="109424" marR="109424" marT="6350" marB="6350" anchor="ctr">
                    <a:lnL w="12700" cap="flat" cmpd="sng" algn="ctr">
                      <a:solidFill>
                        <a:srgbClr val="CFD2D8"/>
                      </a:solidFill>
                      <a:prstDash val="solid"/>
                      <a:round/>
                      <a:headEnd type="none" w="med" len="med"/>
                      <a:tailEnd type="none" w="med" len="med"/>
                    </a:lnL>
                    <a:lnR w="12700" cap="flat" cmpd="sng" algn="ctr">
                      <a:solidFill>
                        <a:srgbClr val="CFD2D8"/>
                      </a:solidFill>
                      <a:prstDash val="solid"/>
                      <a:round/>
                      <a:headEnd type="none" w="med" len="med"/>
                      <a:tailEnd type="none" w="med" len="med"/>
                    </a:lnR>
                    <a:lnT w="12700" cap="flat" cmpd="sng" algn="ctr">
                      <a:solidFill>
                        <a:srgbClr val="CFD2D8"/>
                      </a:solidFill>
                      <a:prstDash val="solid"/>
                      <a:round/>
                      <a:headEnd type="none" w="med" len="med"/>
                      <a:tailEnd type="none" w="med" len="med"/>
                    </a:lnT>
                    <a:lnB w="12700" cap="flat" cmpd="sng" algn="ctr">
                      <a:solidFill>
                        <a:srgbClr val="CFD2D8"/>
                      </a:solidFill>
                      <a:prstDash val="solid"/>
                      <a:round/>
                      <a:headEnd type="none" w="med" len="med"/>
                      <a:tailEnd type="none" w="med" len="med"/>
                    </a:lnB>
                  </a:tcPr>
                </a:tc>
                <a:tc>
                  <a:txBody>
                    <a:bodyPr/>
                    <a:lstStyle/>
                    <a:p>
                      <a:pPr algn="l" indent="0" marL="0">
                        <a:buNone/>
                      </a:pPr>
                      <a:r>
                        <a:rPr lang="en-US" sz="850" dirty="0">
                          <a:solidFill>
                            <a:srgbClr val="15213F"/>
                          </a:solidFill>
                          <a:latin typeface="Roboto" pitchFamily="34" charset="0"/>
                          <a:ea typeface="Roboto" pitchFamily="34" charset="-122"/>
                          <a:cs typeface="Roboto" pitchFamily="34" charset="-120"/>
                        </a:rPr>
                        <a:t>Simple, but limited in relevance and flexibility</a:t>
                      </a:r>
                      <a:endParaRPr lang="en-US" sz="850" dirty="0">
                        <a:latin typeface="Roboto" charset="0"/>
                        <a:ea typeface="Roboto" charset="0"/>
                        <a:cs typeface="Roboto" charset="0"/>
                      </a:endParaRPr>
                    </a:p>
                  </a:txBody>
                  <a:tcPr marL="109424" marR="109424" marT="6350" marB="6350" anchor="ctr">
                    <a:lnL w="12700" cap="flat" cmpd="sng" algn="ctr">
                      <a:solidFill>
                        <a:srgbClr val="CFD2D8"/>
                      </a:solidFill>
                      <a:prstDash val="solid"/>
                      <a:round/>
                      <a:headEnd type="none" w="med" len="med"/>
                      <a:tailEnd type="none" w="med" len="med"/>
                    </a:lnL>
                    <a:lnR w="12700" cap="flat" cmpd="sng" algn="ctr">
                      <a:solidFill>
                        <a:srgbClr val="CFD2D8"/>
                      </a:solidFill>
                      <a:prstDash val="solid"/>
                      <a:round/>
                      <a:headEnd type="none" w="med" len="med"/>
                      <a:tailEnd type="none" w="med" len="med"/>
                    </a:lnR>
                    <a:lnT w="12700" cap="flat" cmpd="sng" algn="ctr">
                      <a:solidFill>
                        <a:srgbClr val="CFD2D8"/>
                      </a:solidFill>
                      <a:prstDash val="solid"/>
                      <a:round/>
                      <a:headEnd type="none" w="med" len="med"/>
                      <a:tailEnd type="none" w="med" len="med"/>
                    </a:lnT>
                    <a:lnB w="12700" cap="flat" cmpd="sng" algn="ctr">
                      <a:solidFill>
                        <a:srgbClr val="CFD2D8"/>
                      </a:solidFill>
                      <a:prstDash val="solid"/>
                      <a:round/>
                      <a:headEnd type="none" w="med" len="med"/>
                      <a:tailEnd type="none" w="med" len="med"/>
                    </a:lnB>
                  </a:tcPr>
                </a:tc>
              </a:tr>
              <a:tr h="368291">
                <a:tc>
                  <a:txBody>
                    <a:bodyPr/>
                    <a:lstStyle/>
                    <a:p>
                      <a:pPr algn="l" indent="0" marL="0">
                        <a:buNone/>
                      </a:pPr>
                      <a:r>
                        <a:rPr lang="en-US" sz="850" dirty="0">
                          <a:solidFill>
                            <a:srgbClr val="15213F"/>
                          </a:solidFill>
                          <a:latin typeface="Roboto" pitchFamily="34" charset="0"/>
                          <a:ea typeface="Roboto" pitchFamily="34" charset="-122"/>
                          <a:cs typeface="Roboto" pitchFamily="34" charset="-120"/>
                        </a:rPr>
                        <a:t>Proposed system</a:t>
                      </a:r>
                      <a:endParaRPr lang="en-US" sz="850" dirty="0">
                        <a:latin typeface="Roboto" charset="0"/>
                        <a:ea typeface="Roboto" charset="0"/>
                        <a:cs typeface="Roboto" charset="0"/>
                      </a:endParaRPr>
                    </a:p>
                  </a:txBody>
                  <a:tcPr marL="109424" marR="109424" marT="6350" marB="6350" anchor="ctr">
                    <a:lnL w="12700" cap="flat" cmpd="sng" algn="ctr">
                      <a:solidFill>
                        <a:srgbClr val="CFD2D8"/>
                      </a:solidFill>
                      <a:prstDash val="solid"/>
                      <a:round/>
                      <a:headEnd type="none" w="med" len="med"/>
                      <a:tailEnd type="none" w="med" len="med"/>
                    </a:lnL>
                    <a:lnR w="12700" cap="flat" cmpd="sng" algn="ctr">
                      <a:solidFill>
                        <a:srgbClr val="CFD2D8"/>
                      </a:solidFill>
                      <a:prstDash val="solid"/>
                      <a:round/>
                      <a:headEnd type="none" w="med" len="med"/>
                      <a:tailEnd type="none" w="med" len="med"/>
                    </a:lnR>
                    <a:lnT w="12700" cap="flat" cmpd="sng" algn="ctr">
                      <a:solidFill>
                        <a:srgbClr val="CFD2D8"/>
                      </a:solidFill>
                      <a:prstDash val="solid"/>
                      <a:round/>
                      <a:headEnd type="none" w="med" len="med"/>
                      <a:tailEnd type="none" w="med" len="med"/>
                    </a:lnT>
                    <a:lnB w="12700" cap="flat" cmpd="sng" algn="ctr">
                      <a:solidFill>
                        <a:srgbClr val="CFD2D8"/>
                      </a:solidFill>
                      <a:prstDash val="solid"/>
                      <a:round/>
                      <a:headEnd type="none" w="med" len="med"/>
                      <a:tailEnd type="none" w="med" len="med"/>
                    </a:lnB>
                  </a:tcPr>
                </a:tc>
                <a:tc>
                  <a:txBody>
                    <a:bodyPr/>
                    <a:lstStyle/>
                    <a:p>
                      <a:pPr algn="l" indent="0" marL="0">
                        <a:buNone/>
                      </a:pPr>
                      <a:r>
                        <a:rPr lang="en-US" sz="850" dirty="0">
                          <a:solidFill>
                            <a:srgbClr val="15213F"/>
                          </a:solidFill>
                          <a:latin typeface="Roboto" pitchFamily="34" charset="0"/>
                          <a:ea typeface="Roboto" pitchFamily="34" charset="-122"/>
                          <a:cs typeface="Roboto" pitchFamily="34" charset="-120"/>
                        </a:rPr>
                        <a:t>Uses semantic understanding, context awareness, and integrated analytics</a:t>
                      </a:r>
                      <a:endParaRPr lang="en-US" sz="850" dirty="0">
                        <a:latin typeface="Roboto" charset="0"/>
                        <a:ea typeface="Roboto" charset="0"/>
                        <a:cs typeface="Roboto" charset="0"/>
                      </a:endParaRPr>
                    </a:p>
                  </a:txBody>
                  <a:tcPr marL="109424" marR="109424" marT="6350" marB="6350" anchor="ctr">
                    <a:lnL w="12700" cap="flat" cmpd="sng" algn="ctr">
                      <a:solidFill>
                        <a:srgbClr val="CFD2D8"/>
                      </a:solidFill>
                      <a:prstDash val="solid"/>
                      <a:round/>
                      <a:headEnd type="none" w="med" len="med"/>
                      <a:tailEnd type="none" w="med" len="med"/>
                    </a:lnL>
                    <a:lnR w="12700" cap="flat" cmpd="sng" algn="ctr">
                      <a:solidFill>
                        <a:srgbClr val="CFD2D8"/>
                      </a:solidFill>
                      <a:prstDash val="solid"/>
                      <a:round/>
                      <a:headEnd type="none" w="med" len="med"/>
                      <a:tailEnd type="none" w="med" len="med"/>
                    </a:lnR>
                    <a:lnT w="12700" cap="flat" cmpd="sng" algn="ctr">
                      <a:solidFill>
                        <a:srgbClr val="CFD2D8"/>
                      </a:solidFill>
                      <a:prstDash val="solid"/>
                      <a:round/>
                      <a:headEnd type="none" w="med" len="med"/>
                      <a:tailEnd type="none" w="med" len="med"/>
                    </a:lnT>
                    <a:lnB w="12700" cap="flat" cmpd="sng" algn="ctr">
                      <a:solidFill>
                        <a:srgbClr val="CFD2D8"/>
                      </a:solidFill>
                      <a:prstDash val="solid"/>
                      <a:round/>
                      <a:headEnd type="none" w="med" len="med"/>
                      <a:tailEnd type="none" w="med" len="med"/>
                    </a:lnB>
                  </a:tcPr>
                </a:tc>
                <a:tc>
                  <a:txBody>
                    <a:bodyPr/>
                    <a:lstStyle/>
                    <a:p>
                      <a:pPr algn="l" indent="0" marL="0">
                        <a:buNone/>
                      </a:pPr>
                      <a:r>
                        <a:rPr lang="en-US" sz="850" dirty="0">
                          <a:solidFill>
                            <a:srgbClr val="15213F"/>
                          </a:solidFill>
                          <a:latin typeface="Roboto" pitchFamily="34" charset="0"/>
                          <a:ea typeface="Roboto" pitchFamily="34" charset="-122"/>
                          <a:cs typeface="Roboto" pitchFamily="34" charset="-120"/>
                        </a:rPr>
                        <a:t>Finds more relevant results and improves information discovery</a:t>
                      </a:r>
                      <a:endParaRPr lang="en-US" sz="850" dirty="0">
                        <a:latin typeface="Roboto" charset="0"/>
                        <a:ea typeface="Roboto" charset="0"/>
                        <a:cs typeface="Roboto" charset="0"/>
                      </a:endParaRPr>
                    </a:p>
                  </a:txBody>
                  <a:tcPr marL="109424" marR="109424" marT="6350" marB="6350" anchor="ctr">
                    <a:lnL w="12700" cap="flat" cmpd="sng" algn="ctr">
                      <a:solidFill>
                        <a:srgbClr val="CFD2D8"/>
                      </a:solidFill>
                      <a:prstDash val="solid"/>
                      <a:round/>
                      <a:headEnd type="none" w="med" len="med"/>
                      <a:tailEnd type="none" w="med" len="med"/>
                    </a:lnL>
                    <a:lnR w="12700" cap="flat" cmpd="sng" algn="ctr">
                      <a:solidFill>
                        <a:srgbClr val="CFD2D8"/>
                      </a:solidFill>
                      <a:prstDash val="solid"/>
                      <a:round/>
                      <a:headEnd type="none" w="med" len="med"/>
                      <a:tailEnd type="none" w="med" len="med"/>
                    </a:lnR>
                    <a:lnT w="12700" cap="flat" cmpd="sng" algn="ctr">
                      <a:solidFill>
                        <a:srgbClr val="CFD2D8"/>
                      </a:solidFill>
                      <a:prstDash val="solid"/>
                      <a:round/>
                      <a:headEnd type="none" w="med" len="med"/>
                      <a:tailEnd type="none" w="med" len="med"/>
                    </a:lnT>
                    <a:lnB w="12700" cap="flat" cmpd="sng" algn="ctr">
                      <a:solidFill>
                        <a:srgbClr val="CFD2D8"/>
                      </a:solidFill>
                      <a:prstDash val="solid"/>
                      <a:round/>
                      <a:headEnd type="none" w="med" len="med"/>
                      <a:tailEnd type="none" w="med" len="med"/>
                    </a:lnB>
                  </a:tcPr>
                </a:tc>
              </a:tr>
            </a:tbl>
          </a:graphicData>
        </a:graphic>
      </p:graphicFrame>
      <p:sp>
        <p:nvSpPr>
          <p:cNvPr id="28" name="Text 22"/>
          <p:cNvSpPr/>
          <p:nvPr/>
        </p:nvSpPr>
        <p:spPr>
          <a:xfrm>
            <a:off x="661475" y="5083193"/>
            <a:ext cx="10868745" cy="170954"/>
          </a:xfrm>
          <a:prstGeom prst="rect">
            <a:avLst/>
          </a:prstGeom>
          <a:noFill/>
          <a:ln/>
        </p:spPr>
        <p:txBody>
          <a:bodyPr wrap="none" lIns="0" tIns="0" rIns="0" bIns="0" rtlCol="0" anchor="t"/>
          <a:lstStyle/>
          <a:p>
            <a:pPr algn="l" indent="0" marL="0">
              <a:lnSpc>
                <a:spcPct val="104000"/>
              </a:lnSpc>
              <a:buNone/>
            </a:pPr>
            <a:r>
              <a:rPr lang="en-US" sz="1050" dirty="0">
                <a:solidFill>
                  <a:srgbClr val="3257B8"/>
                </a:solidFill>
                <a:latin typeface="Roboto Slab" pitchFamily="34" charset="0"/>
                <a:ea typeface="Roboto Slab" pitchFamily="34" charset="-122"/>
                <a:cs typeface="Roboto Slab" pitchFamily="34" charset="-120"/>
              </a:rPr>
              <a:t>Demonstrated vs. Planned Innovations</a:t>
            </a:r>
            <a:endParaRPr lang="en-US" sz="1050" dirty="0"/>
          </a:p>
        </p:txBody>
      </p:sp>
      <p:sp>
        <p:nvSpPr>
          <p:cNvPr id="29" name="Text 23"/>
          <p:cNvSpPr/>
          <p:nvPr/>
        </p:nvSpPr>
        <p:spPr>
          <a:xfrm>
            <a:off x="661475" y="5412401"/>
            <a:ext cx="5300927" cy="170954"/>
          </a:xfrm>
          <a:prstGeom prst="rect">
            <a:avLst/>
          </a:prstGeom>
          <a:noFill/>
          <a:ln/>
        </p:spPr>
        <p:txBody>
          <a:bodyPr wrap="none" lIns="0" tIns="0" rIns="0" bIns="0" rtlCol="0" anchor="t"/>
          <a:lstStyle/>
          <a:p>
            <a:pPr algn="l" indent="0" marL="0">
              <a:lnSpc>
                <a:spcPct val="104000"/>
              </a:lnSpc>
              <a:buNone/>
            </a:pPr>
            <a:r>
              <a:rPr lang="en-US" sz="1050" dirty="0">
                <a:solidFill>
                  <a:srgbClr val="3257B8"/>
                </a:solidFill>
                <a:latin typeface="Roboto Slab" pitchFamily="34" charset="0"/>
                <a:ea typeface="Roboto Slab" pitchFamily="34" charset="-122"/>
                <a:cs typeface="Roboto Slab" pitchFamily="34" charset="-120"/>
              </a:rPr>
              <a:t>Demonstrated</a:t>
            </a:r>
            <a:endParaRPr lang="en-US" sz="1050" dirty="0"/>
          </a:p>
        </p:txBody>
      </p:sp>
      <p:sp>
        <p:nvSpPr>
          <p:cNvPr id="30" name="Text 24"/>
          <p:cNvSpPr/>
          <p:nvPr/>
        </p:nvSpPr>
        <p:spPr>
          <a:xfrm>
            <a:off x="661475" y="5635427"/>
            <a:ext cx="5300927" cy="458887"/>
          </a:xfrm>
          <a:prstGeom prst="rect">
            <a:avLst/>
          </a:prstGeom>
          <a:noFill/>
          <a:ln/>
        </p:spPr>
        <p:txBody>
          <a:bodyPr wrap="square" lIns="0" tIns="0" rIns="0" bIns="0" rtlCol="0" anchor="t">
            <a:normAutofit/>
          </a:bodyPr>
          <a:lstStyle/>
          <a:p>
            <a:pPr algn="l" marL="172720" indent="-172720">
              <a:lnSpc>
                <a:spcPct val="105000"/>
              </a:lnSpc>
              <a:buSzPct val="100000"/>
              <a:buChar char="•"/>
            </a:pPr>
            <a:r>
              <a:rPr lang="en-US" sz="850" dirty="0">
                <a:solidFill>
                  <a:srgbClr val="15213F"/>
                </a:solidFill>
                <a:latin typeface="Roboto" pitchFamily="34" charset="0"/>
                <a:ea typeface="Roboto" pitchFamily="34" charset="-122"/>
                <a:cs typeface="Roboto" pitchFamily="34" charset="-120"/>
              </a:rPr>
              <a:t>Semantic search</a:t>
            </a:r>
            <a:endParaRPr lang="en-US" sz="850" dirty="0"/>
          </a:p>
          <a:p>
            <a:pPr algn="l" marL="172720" indent="-172720">
              <a:lnSpc>
                <a:spcPct val="105000"/>
              </a:lnSpc>
              <a:buSzPct val="100000"/>
              <a:buChar char="•"/>
            </a:pPr>
            <a:r>
              <a:rPr lang="en-US" sz="850" dirty="0">
                <a:solidFill>
                  <a:srgbClr val="15213F"/>
                </a:solidFill>
                <a:latin typeface="Roboto" pitchFamily="34" charset="0"/>
                <a:ea typeface="Roboto" pitchFamily="34" charset="-122"/>
                <a:cs typeface="Roboto" pitchFamily="34" charset="-120"/>
              </a:rPr>
              <a:t>Basic analytics</a:t>
            </a:r>
            <a:endParaRPr lang="en-US" sz="850" dirty="0"/>
          </a:p>
          <a:p>
            <a:pPr algn="l" marL="172720" indent="-172720">
              <a:lnSpc>
                <a:spcPct val="105000"/>
              </a:lnSpc>
              <a:buSzPct val="100000"/>
              <a:buChar char="•"/>
            </a:pPr>
            <a:r>
              <a:rPr lang="en-US" sz="850" dirty="0">
                <a:solidFill>
                  <a:srgbClr val="15213F"/>
                </a:solidFill>
                <a:latin typeface="Roboto" pitchFamily="34" charset="0"/>
                <a:ea typeface="Roboto" pitchFamily="34" charset="-122"/>
                <a:cs typeface="Roboto" pitchFamily="34" charset="-120"/>
              </a:rPr>
              <a:t>Unified interface</a:t>
            </a:r>
            <a:endParaRPr lang="en-US" sz="850" dirty="0"/>
          </a:p>
        </p:txBody>
      </p:sp>
      <p:sp>
        <p:nvSpPr>
          <p:cNvPr id="31" name="Text 25"/>
          <p:cNvSpPr/>
          <p:nvPr/>
        </p:nvSpPr>
        <p:spPr>
          <a:xfrm>
            <a:off x="6235643" y="5412401"/>
            <a:ext cx="5300927" cy="170954"/>
          </a:xfrm>
          <a:prstGeom prst="rect">
            <a:avLst/>
          </a:prstGeom>
          <a:noFill/>
          <a:ln/>
        </p:spPr>
        <p:txBody>
          <a:bodyPr wrap="none" lIns="0" tIns="0" rIns="0" bIns="0" rtlCol="0" anchor="t"/>
          <a:lstStyle/>
          <a:p>
            <a:pPr algn="l" indent="0" marL="0">
              <a:lnSpc>
                <a:spcPct val="104000"/>
              </a:lnSpc>
              <a:buNone/>
            </a:pPr>
            <a:r>
              <a:rPr lang="en-US" sz="1050" dirty="0">
                <a:solidFill>
                  <a:srgbClr val="3257B8"/>
                </a:solidFill>
                <a:latin typeface="Roboto Slab" pitchFamily="34" charset="0"/>
                <a:ea typeface="Roboto Slab" pitchFamily="34" charset="-122"/>
                <a:cs typeface="Roboto Slab" pitchFamily="34" charset="-120"/>
              </a:rPr>
              <a:t>Planned</a:t>
            </a:r>
            <a:endParaRPr lang="en-US" sz="1050" dirty="0"/>
          </a:p>
        </p:txBody>
      </p:sp>
      <p:sp>
        <p:nvSpPr>
          <p:cNvPr id="32" name="Text 26"/>
          <p:cNvSpPr/>
          <p:nvPr/>
        </p:nvSpPr>
        <p:spPr>
          <a:xfrm>
            <a:off x="6235643" y="5635427"/>
            <a:ext cx="5300927" cy="619224"/>
          </a:xfrm>
          <a:prstGeom prst="rect">
            <a:avLst/>
          </a:prstGeom>
          <a:noFill/>
          <a:ln/>
        </p:spPr>
        <p:txBody>
          <a:bodyPr wrap="square" lIns="0" tIns="0" rIns="0" bIns="0" rtlCol="0" anchor="t">
            <a:normAutofit/>
          </a:bodyPr>
          <a:lstStyle/>
          <a:p>
            <a:pPr algn="l" marL="172720" indent="-172720">
              <a:lnSpc>
                <a:spcPct val="105000"/>
              </a:lnSpc>
              <a:buSzPct val="100000"/>
              <a:buChar char="•"/>
            </a:pPr>
            <a:r>
              <a:rPr lang="en-US" sz="850" dirty="0">
                <a:solidFill>
                  <a:srgbClr val="15213F"/>
                </a:solidFill>
                <a:latin typeface="Roboto" pitchFamily="34" charset="0"/>
                <a:ea typeface="Roboto" pitchFamily="34" charset="-122"/>
                <a:cs typeface="Roboto" pitchFamily="34" charset="-120"/>
              </a:rPr>
              <a:t>Multi-language support</a:t>
            </a:r>
            <a:endParaRPr lang="en-US" sz="850" dirty="0"/>
          </a:p>
          <a:p>
            <a:pPr algn="l" marL="172720" indent="-172720">
              <a:lnSpc>
                <a:spcPct val="105000"/>
              </a:lnSpc>
              <a:buSzPct val="100000"/>
              <a:buChar char="•"/>
            </a:pPr>
            <a:r>
              <a:rPr lang="en-US" sz="850" dirty="0">
                <a:solidFill>
                  <a:srgbClr val="15213F"/>
                </a:solidFill>
                <a:latin typeface="Roboto" pitchFamily="34" charset="0"/>
                <a:ea typeface="Roboto" pitchFamily="34" charset="-122"/>
                <a:cs typeface="Roboto" pitchFamily="34" charset="-120"/>
              </a:rPr>
              <a:t>Advanced analytics</a:t>
            </a:r>
            <a:endParaRPr lang="en-US" sz="850" dirty="0"/>
          </a:p>
          <a:p>
            <a:pPr algn="l" marL="172720" indent="-172720">
              <a:lnSpc>
                <a:spcPct val="105000"/>
              </a:lnSpc>
              <a:buSzPct val="100000"/>
              <a:buChar char="•"/>
            </a:pPr>
            <a:r>
              <a:rPr lang="en-US" sz="850" dirty="0">
                <a:solidFill>
                  <a:srgbClr val="15213F"/>
                </a:solidFill>
                <a:latin typeface="Roboto" pitchFamily="34" charset="0"/>
                <a:ea typeface="Roboto" pitchFamily="34" charset="-122"/>
                <a:cs typeface="Roboto" pitchFamily="34" charset="-120"/>
              </a:rPr>
              <a:t>Expanded format support</a:t>
            </a:r>
            <a:endParaRPr lang="en-US" sz="850" dirty="0"/>
          </a:p>
          <a:p>
            <a:pPr algn="l" marL="172720" indent="-172720">
              <a:lnSpc>
                <a:spcPct val="105000"/>
              </a:lnSpc>
              <a:buSzPct val="100000"/>
              <a:buChar char="•"/>
            </a:pPr>
            <a:r>
              <a:rPr lang="en-US" sz="850" dirty="0">
                <a:solidFill>
                  <a:srgbClr val="15213F"/>
                </a:solidFill>
                <a:latin typeface="Roboto" pitchFamily="34" charset="0"/>
                <a:ea typeface="Roboto" pitchFamily="34" charset="-122"/>
                <a:cs typeface="Roboto" pitchFamily="34" charset="-120"/>
              </a:rPr>
              <a:t>Performance optimization</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661475" y="650875"/>
            <a:ext cx="1987599" cy="243979"/>
          </a:xfrm>
          <a:prstGeom prst="roundRect">
            <a:avLst>
              <a:gd name="adj" fmla="val 7902"/>
            </a:avLst>
          </a:prstGeom>
          <a:solidFill>
            <a:srgbClr val="5E98F1"/>
          </a:solidFill>
          <a:ln/>
        </p:spPr>
      </p:sp>
      <p:sp>
        <p:nvSpPr>
          <p:cNvPr id="3" name="Text 1"/>
          <p:cNvSpPr/>
          <p:nvPr/>
        </p:nvSpPr>
        <p:spPr>
          <a:xfrm>
            <a:off x="757814" y="701672"/>
            <a:ext cx="2404506" cy="147737"/>
          </a:xfrm>
          <a:prstGeom prst="rect">
            <a:avLst/>
          </a:prstGeom>
          <a:noFill/>
          <a:ln/>
        </p:spPr>
        <p:txBody>
          <a:bodyPr wrap="none" lIns="0" tIns="0" rIns="0" bIns="0" rtlCol="0" anchor="t"/>
          <a:lstStyle/>
          <a:p>
            <a:pPr algn="l" indent="0" marL="0">
              <a:lnSpc>
                <a:spcPct val="96000"/>
              </a:lnSpc>
              <a:buNone/>
            </a:pPr>
            <a:r>
              <a:rPr lang="en-US" sz="1000" dirty="0">
                <a:solidFill>
                  <a:srgbClr val="000000"/>
                </a:solidFill>
                <a:latin typeface="Roboto" pitchFamily="34" charset="0"/>
                <a:ea typeface="Roboto" pitchFamily="34" charset="-122"/>
                <a:cs typeface="Roboto" pitchFamily="34" charset="-120"/>
              </a:rPr>
              <a:t>SLIDE 8 — UTILITY TO SOCIETY</a:t>
            </a:r>
            <a:endParaRPr lang="en-US" sz="1000" dirty="0"/>
          </a:p>
        </p:txBody>
      </p:sp>
      <p:sp>
        <p:nvSpPr>
          <p:cNvPr id="4" name="Text 2"/>
          <p:cNvSpPr/>
          <p:nvPr/>
        </p:nvSpPr>
        <p:spPr>
          <a:xfrm>
            <a:off x="661475" y="979476"/>
            <a:ext cx="10868745" cy="502047"/>
          </a:xfrm>
          <a:prstGeom prst="rect">
            <a:avLst/>
          </a:prstGeom>
          <a:noFill/>
          <a:ln/>
        </p:spPr>
        <p:txBody>
          <a:bodyPr wrap="none" lIns="0" tIns="0" rIns="0" bIns="0" rtlCol="0" anchor="t"/>
          <a:lstStyle/>
          <a:p>
            <a:pPr algn="l" indent="0" marL="0">
              <a:lnSpc>
                <a:spcPct val="104000"/>
              </a:lnSpc>
              <a:buNone/>
            </a:pPr>
            <a:r>
              <a:rPr lang="en-US" sz="3150" dirty="0">
                <a:solidFill>
                  <a:srgbClr val="3257B8"/>
                </a:solidFill>
                <a:latin typeface="Roboto Slab" pitchFamily="34" charset="0"/>
                <a:ea typeface="Roboto Slab" pitchFamily="34" charset="-122"/>
                <a:cs typeface="Roboto Slab" pitchFamily="34" charset="-120"/>
              </a:rPr>
              <a:t>Utility to Society</a:t>
            </a:r>
            <a:endParaRPr lang="en-US" sz="3150" dirty="0"/>
          </a:p>
        </p:txBody>
      </p:sp>
      <p:sp>
        <p:nvSpPr>
          <p:cNvPr id="5" name="Text 3"/>
          <p:cNvSpPr/>
          <p:nvPr/>
        </p:nvSpPr>
        <p:spPr>
          <a:xfrm>
            <a:off x="661475" y="1656259"/>
            <a:ext cx="11478330" cy="237728"/>
          </a:xfrm>
          <a:prstGeom prst="rect">
            <a:avLst/>
          </a:prstGeom>
          <a:noFill/>
          <a:ln/>
        </p:spPr>
        <p:txBody>
          <a:bodyPr wrap="none" lIns="0" tIns="0" rIns="0" bIns="0" rtlCol="0" anchor="t"/>
          <a:lstStyle/>
          <a:p>
            <a:pPr algn="l" indent="0" marL="0">
              <a:lnSpc>
                <a:spcPct val="123000"/>
              </a:lnSpc>
              <a:buNone/>
            </a:pPr>
            <a:r>
              <a:rPr lang="en-US" sz="1250" dirty="0">
                <a:solidFill>
                  <a:srgbClr val="15213F"/>
                </a:solidFill>
                <a:latin typeface="Roboto" pitchFamily="34" charset="0"/>
                <a:ea typeface="Roboto" pitchFamily="34" charset="-122"/>
                <a:cs typeface="Roboto" pitchFamily="34" charset="-120"/>
              </a:rPr>
              <a:t>The proposed system makes document search more useful by helping people find relevant information faster.</a:t>
            </a:r>
            <a:endParaRPr lang="en-US" sz="1250" dirty="0"/>
          </a:p>
        </p:txBody>
      </p:sp>
      <p:sp>
        <p:nvSpPr>
          <p:cNvPr id="6" name="Text 4"/>
          <p:cNvSpPr/>
          <p:nvPr/>
        </p:nvSpPr>
        <p:spPr>
          <a:xfrm>
            <a:off x="661475" y="2197541"/>
            <a:ext cx="5238421" cy="251023"/>
          </a:xfrm>
          <a:prstGeom prst="rect">
            <a:avLst/>
          </a:prstGeom>
          <a:noFill/>
          <a:ln/>
        </p:spPr>
        <p:txBody>
          <a:bodyPr wrap="none" lIns="0" tIns="0" rIns="0" bIns="0" rtlCol="0" anchor="t"/>
          <a:lstStyle/>
          <a:p>
            <a:pPr algn="l" indent="0" marL="0">
              <a:lnSpc>
                <a:spcPct val="104000"/>
              </a:lnSpc>
              <a:buNone/>
            </a:pPr>
            <a:r>
              <a:rPr lang="en-US" sz="1550" dirty="0">
                <a:solidFill>
                  <a:srgbClr val="3257B8"/>
                </a:solidFill>
                <a:latin typeface="Roboto Slab" pitchFamily="34" charset="0"/>
                <a:ea typeface="Roboto Slab" pitchFamily="34" charset="-122"/>
                <a:cs typeface="Roboto Slab" pitchFamily="34" charset="-120"/>
              </a:rPr>
              <a:t>Real-World Use Cases</a:t>
            </a:r>
            <a:endParaRPr lang="en-US" sz="1550" dirty="0"/>
          </a:p>
        </p:txBody>
      </p:sp>
      <p:sp>
        <p:nvSpPr>
          <p:cNvPr id="7" name="Shape 5"/>
          <p:cNvSpPr/>
          <p:nvPr/>
        </p:nvSpPr>
        <p:spPr>
          <a:xfrm>
            <a:off x="661475" y="2588716"/>
            <a:ext cx="361445" cy="361454"/>
          </a:xfrm>
          <a:prstGeom prst="roundRect">
            <a:avLst>
              <a:gd name="adj" fmla="val 6668"/>
            </a:avLst>
          </a:prstGeom>
          <a:solidFill>
            <a:srgbClr val="E9ECF2"/>
          </a:solidFill>
          <a:ln/>
        </p:spPr>
      </p:sp>
      <p:sp>
        <p:nvSpPr>
          <p:cNvPr id="8" name="Text 6"/>
          <p:cNvSpPr/>
          <p:nvPr/>
        </p:nvSpPr>
        <p:spPr>
          <a:xfrm>
            <a:off x="1159441" y="2643882"/>
            <a:ext cx="4740454" cy="251023"/>
          </a:xfrm>
          <a:prstGeom prst="rect">
            <a:avLst/>
          </a:prstGeom>
          <a:noFill/>
          <a:ln/>
        </p:spPr>
        <p:txBody>
          <a:bodyPr wrap="none" lIns="0" tIns="0" rIns="0" bIns="0" rtlCol="0" anchor="t"/>
          <a:lstStyle/>
          <a:p>
            <a:pPr algn="l" indent="0" marL="0">
              <a:lnSpc>
                <a:spcPct val="104000"/>
              </a:lnSpc>
              <a:buNone/>
            </a:pPr>
            <a:r>
              <a:rPr lang="en-US" sz="1550" dirty="0">
                <a:solidFill>
                  <a:srgbClr val="15213F"/>
                </a:solidFill>
                <a:latin typeface="Roboto Slab" pitchFamily="34" charset="0"/>
                <a:ea typeface="Roboto Slab" pitchFamily="34" charset="-122"/>
                <a:cs typeface="Roboto Slab" pitchFamily="34" charset="-120"/>
              </a:rPr>
              <a:t>Educational institutions</a:t>
            </a:r>
            <a:endParaRPr lang="en-US" sz="1550" dirty="0"/>
          </a:p>
        </p:txBody>
      </p:sp>
      <p:sp>
        <p:nvSpPr>
          <p:cNvPr id="9" name="Text 7"/>
          <p:cNvSpPr/>
          <p:nvPr/>
        </p:nvSpPr>
        <p:spPr>
          <a:xfrm>
            <a:off x="1159441" y="3031430"/>
            <a:ext cx="4740454" cy="475456"/>
          </a:xfrm>
          <a:prstGeom prst="rect">
            <a:avLst/>
          </a:prstGeom>
          <a:noFill/>
          <a:ln/>
        </p:spPr>
        <p:txBody>
          <a:bodyPr wrap="square" lIns="0" tIns="0" rIns="0" bIns="0" rtlCol="0" anchor="t">
            <a:normAutofit/>
          </a:bodyPr>
          <a:lstStyle/>
          <a:p>
            <a:pPr algn="l" indent="0" marL="0">
              <a:lnSpc>
                <a:spcPct val="123000"/>
              </a:lnSpc>
              <a:buNone/>
            </a:pPr>
            <a:r>
              <a:rPr lang="en-US" sz="1250" dirty="0">
                <a:solidFill>
                  <a:srgbClr val="15213F"/>
                </a:solidFill>
                <a:latin typeface="Roboto" pitchFamily="34" charset="0"/>
                <a:ea typeface="Roboto" pitchFamily="34" charset="-122"/>
                <a:cs typeface="Roboto" pitchFamily="34" charset="-120"/>
              </a:rPr>
              <a:t>Students and researchers can find papers and course materials faster.</a:t>
            </a:r>
            <a:endParaRPr lang="en-US" sz="1250" dirty="0"/>
          </a:p>
        </p:txBody>
      </p:sp>
      <p:sp>
        <p:nvSpPr>
          <p:cNvPr id="10" name="Shape 8"/>
          <p:cNvSpPr/>
          <p:nvPr/>
        </p:nvSpPr>
        <p:spPr>
          <a:xfrm>
            <a:off x="661475" y="3779937"/>
            <a:ext cx="361445" cy="361454"/>
          </a:xfrm>
          <a:prstGeom prst="roundRect">
            <a:avLst>
              <a:gd name="adj" fmla="val 6668"/>
            </a:avLst>
          </a:prstGeom>
          <a:solidFill>
            <a:srgbClr val="E9ECF2"/>
          </a:solidFill>
          <a:ln/>
        </p:spPr>
      </p:sp>
      <p:sp>
        <p:nvSpPr>
          <p:cNvPr id="11" name="Text 9"/>
          <p:cNvSpPr/>
          <p:nvPr/>
        </p:nvSpPr>
        <p:spPr>
          <a:xfrm>
            <a:off x="1159441" y="3835102"/>
            <a:ext cx="4740454" cy="251023"/>
          </a:xfrm>
          <a:prstGeom prst="rect">
            <a:avLst/>
          </a:prstGeom>
          <a:noFill/>
          <a:ln/>
        </p:spPr>
        <p:txBody>
          <a:bodyPr wrap="none" lIns="0" tIns="0" rIns="0" bIns="0" rtlCol="0" anchor="t"/>
          <a:lstStyle/>
          <a:p>
            <a:pPr algn="l" indent="0" marL="0">
              <a:lnSpc>
                <a:spcPct val="104000"/>
              </a:lnSpc>
              <a:buNone/>
            </a:pPr>
            <a:r>
              <a:rPr lang="en-US" sz="1550" dirty="0">
                <a:solidFill>
                  <a:srgbClr val="15213F"/>
                </a:solidFill>
                <a:latin typeface="Roboto Slab" pitchFamily="34" charset="0"/>
                <a:ea typeface="Roboto Slab" pitchFamily="34" charset="-122"/>
                <a:cs typeface="Roboto Slab" pitchFamily="34" charset="-120"/>
              </a:rPr>
              <a:t>Research teams</a:t>
            </a:r>
            <a:endParaRPr lang="en-US" sz="1550" dirty="0"/>
          </a:p>
        </p:txBody>
      </p:sp>
      <p:sp>
        <p:nvSpPr>
          <p:cNvPr id="12" name="Text 10"/>
          <p:cNvSpPr/>
          <p:nvPr/>
        </p:nvSpPr>
        <p:spPr>
          <a:xfrm>
            <a:off x="1159441" y="4222651"/>
            <a:ext cx="4740454" cy="475456"/>
          </a:xfrm>
          <a:prstGeom prst="rect">
            <a:avLst/>
          </a:prstGeom>
          <a:noFill/>
          <a:ln/>
        </p:spPr>
        <p:txBody>
          <a:bodyPr wrap="square" lIns="0" tIns="0" rIns="0" bIns="0" rtlCol="0" anchor="t">
            <a:normAutofit/>
          </a:bodyPr>
          <a:lstStyle/>
          <a:p>
            <a:pPr algn="l" indent="0" marL="0">
              <a:lnSpc>
                <a:spcPct val="123000"/>
              </a:lnSpc>
              <a:buNone/>
            </a:pPr>
            <a:r>
              <a:rPr lang="en-US" sz="1250" dirty="0">
                <a:solidFill>
                  <a:srgbClr val="15213F"/>
                </a:solidFill>
                <a:latin typeface="Roboto" pitchFamily="34" charset="0"/>
                <a:ea typeface="Roboto" pitchFamily="34" charset="-122"/>
                <a:cs typeface="Roboto" pitchFamily="34" charset="-120"/>
              </a:rPr>
              <a:t>Scientists can discover related studies and supporting data across large collections.</a:t>
            </a:r>
            <a:endParaRPr lang="en-US" sz="1250" dirty="0"/>
          </a:p>
        </p:txBody>
      </p:sp>
      <p:sp>
        <p:nvSpPr>
          <p:cNvPr id="13" name="Shape 11"/>
          <p:cNvSpPr/>
          <p:nvPr/>
        </p:nvSpPr>
        <p:spPr>
          <a:xfrm>
            <a:off x="661475" y="4971157"/>
            <a:ext cx="361445" cy="361454"/>
          </a:xfrm>
          <a:prstGeom prst="roundRect">
            <a:avLst>
              <a:gd name="adj" fmla="val 6668"/>
            </a:avLst>
          </a:prstGeom>
          <a:solidFill>
            <a:srgbClr val="E9ECF2"/>
          </a:solidFill>
          <a:ln/>
        </p:spPr>
      </p:sp>
      <p:sp>
        <p:nvSpPr>
          <p:cNvPr id="14" name="Text 12"/>
          <p:cNvSpPr/>
          <p:nvPr/>
        </p:nvSpPr>
        <p:spPr>
          <a:xfrm>
            <a:off x="1159441" y="5026323"/>
            <a:ext cx="4740454" cy="251023"/>
          </a:xfrm>
          <a:prstGeom prst="rect">
            <a:avLst/>
          </a:prstGeom>
          <a:noFill/>
          <a:ln/>
        </p:spPr>
        <p:txBody>
          <a:bodyPr wrap="none" lIns="0" tIns="0" rIns="0" bIns="0" rtlCol="0" anchor="t"/>
          <a:lstStyle/>
          <a:p>
            <a:pPr algn="l" indent="0" marL="0">
              <a:lnSpc>
                <a:spcPct val="104000"/>
              </a:lnSpc>
              <a:buNone/>
            </a:pPr>
            <a:r>
              <a:rPr lang="en-US" sz="1550" dirty="0">
                <a:solidFill>
                  <a:srgbClr val="15213F"/>
                </a:solidFill>
                <a:latin typeface="Roboto Slab" pitchFamily="34" charset="0"/>
                <a:ea typeface="Roboto Slab" pitchFamily="34" charset="-122"/>
                <a:cs typeface="Roboto Slab" pitchFamily="34" charset="-120"/>
              </a:rPr>
              <a:t>Organizations</a:t>
            </a:r>
            <a:endParaRPr lang="en-US" sz="1550" dirty="0"/>
          </a:p>
        </p:txBody>
      </p:sp>
      <p:sp>
        <p:nvSpPr>
          <p:cNvPr id="15" name="Text 13"/>
          <p:cNvSpPr/>
          <p:nvPr/>
        </p:nvSpPr>
        <p:spPr>
          <a:xfrm>
            <a:off x="1159441" y="5413871"/>
            <a:ext cx="4740454" cy="475456"/>
          </a:xfrm>
          <a:prstGeom prst="rect">
            <a:avLst/>
          </a:prstGeom>
          <a:noFill/>
          <a:ln/>
        </p:spPr>
        <p:txBody>
          <a:bodyPr wrap="square" lIns="0" tIns="0" rIns="0" bIns="0" rtlCol="0" anchor="t">
            <a:normAutofit/>
          </a:bodyPr>
          <a:lstStyle/>
          <a:p>
            <a:pPr algn="l" indent="0" marL="0">
              <a:lnSpc>
                <a:spcPct val="123000"/>
              </a:lnSpc>
              <a:buNone/>
            </a:pPr>
            <a:r>
              <a:rPr lang="en-US" sz="1250" dirty="0">
                <a:solidFill>
                  <a:srgbClr val="15213F"/>
                </a:solidFill>
                <a:latin typeface="Roboto" pitchFamily="34" charset="0"/>
                <a:ea typeface="Roboto" pitchFamily="34" charset="-122"/>
                <a:cs typeface="Roboto" pitchFamily="34" charset="-120"/>
              </a:rPr>
              <a:t>Employees can access company documents and internal knowledge more efficiently.</a:t>
            </a:r>
            <a:endParaRPr lang="en-US" sz="1250" dirty="0"/>
          </a:p>
        </p:txBody>
      </p:sp>
      <p:sp>
        <p:nvSpPr>
          <p:cNvPr id="16" name="Text 14"/>
          <p:cNvSpPr/>
          <p:nvPr/>
        </p:nvSpPr>
        <p:spPr>
          <a:xfrm>
            <a:off x="6298149" y="2197541"/>
            <a:ext cx="5238421" cy="251023"/>
          </a:xfrm>
          <a:prstGeom prst="rect">
            <a:avLst/>
          </a:prstGeom>
          <a:noFill/>
          <a:ln/>
        </p:spPr>
        <p:txBody>
          <a:bodyPr wrap="none" lIns="0" tIns="0" rIns="0" bIns="0" rtlCol="0" anchor="t"/>
          <a:lstStyle/>
          <a:p>
            <a:pPr algn="l" indent="0" marL="0">
              <a:lnSpc>
                <a:spcPct val="104000"/>
              </a:lnSpc>
              <a:buNone/>
            </a:pPr>
            <a:r>
              <a:rPr lang="en-US" sz="1550" dirty="0">
                <a:solidFill>
                  <a:srgbClr val="3257B8"/>
                </a:solidFill>
                <a:latin typeface="Roboto Slab" pitchFamily="34" charset="0"/>
                <a:ea typeface="Roboto Slab" pitchFamily="34" charset="-122"/>
                <a:cs typeface="Roboto Slab" pitchFamily="34" charset="-120"/>
              </a:rPr>
              <a:t>Expected Benefits</a:t>
            </a:r>
            <a:endParaRPr lang="en-US" sz="1550" dirty="0"/>
          </a:p>
        </p:txBody>
      </p:sp>
      <p:pic>
        <p:nvPicPr>
          <p:cNvPr id="1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298149" y="2588716"/>
            <a:ext cx="5238421" cy="984647"/>
          </a:xfrm>
          <a:prstGeom prst="rect">
            <a:avLst/>
          </a:prstGeom>
        </p:spPr>
      </p:pic>
      <p:sp>
        <p:nvSpPr>
          <p:cNvPr id="18" name="Text 15"/>
          <p:cNvSpPr/>
          <p:nvPr/>
        </p:nvSpPr>
        <p:spPr>
          <a:xfrm>
            <a:off x="6554028" y="2768402"/>
            <a:ext cx="4802861" cy="251023"/>
          </a:xfrm>
          <a:prstGeom prst="rect">
            <a:avLst/>
          </a:prstGeom>
          <a:noFill/>
          <a:ln/>
        </p:spPr>
        <p:txBody>
          <a:bodyPr wrap="none" lIns="0" tIns="0" rIns="0" bIns="0" rtlCol="0" anchor="t"/>
          <a:lstStyle/>
          <a:p>
            <a:pPr algn="l" indent="0" marL="0">
              <a:lnSpc>
                <a:spcPct val="104000"/>
              </a:lnSpc>
              <a:buNone/>
            </a:pPr>
            <a:r>
              <a:rPr lang="en-US" sz="1550" dirty="0">
                <a:solidFill>
                  <a:srgbClr val="15213F"/>
                </a:solidFill>
                <a:latin typeface="Roboto Slab" pitchFamily="34" charset="0"/>
                <a:ea typeface="Roboto Slab" pitchFamily="34" charset="-122"/>
                <a:cs typeface="Roboto Slab" pitchFamily="34" charset="-120"/>
              </a:rPr>
              <a:t>Time savings</a:t>
            </a:r>
            <a:endParaRPr lang="en-US" sz="1550" dirty="0"/>
          </a:p>
        </p:txBody>
      </p:sp>
      <p:sp>
        <p:nvSpPr>
          <p:cNvPr id="19" name="Text 16"/>
          <p:cNvSpPr/>
          <p:nvPr/>
        </p:nvSpPr>
        <p:spPr>
          <a:xfrm>
            <a:off x="6554028" y="3155950"/>
            <a:ext cx="4802861" cy="237728"/>
          </a:xfrm>
          <a:prstGeom prst="rect">
            <a:avLst/>
          </a:prstGeom>
          <a:noFill/>
          <a:ln/>
        </p:spPr>
        <p:txBody>
          <a:bodyPr wrap="none" lIns="0" tIns="0" rIns="0" bIns="0" rtlCol="0" anchor="t"/>
          <a:lstStyle/>
          <a:p>
            <a:pPr algn="l" indent="0" marL="0">
              <a:lnSpc>
                <a:spcPct val="123000"/>
              </a:lnSpc>
              <a:buNone/>
            </a:pPr>
            <a:r>
              <a:rPr lang="en-US" sz="1250" dirty="0">
                <a:solidFill>
                  <a:srgbClr val="15213F"/>
                </a:solidFill>
                <a:latin typeface="Roboto" pitchFamily="34" charset="0"/>
                <a:ea typeface="Roboto" pitchFamily="34" charset="-122"/>
                <a:cs typeface="Roboto" pitchFamily="34" charset="-120"/>
              </a:rPr>
              <a:t>Users reach relevant information faster.</a:t>
            </a:r>
            <a:endParaRPr lang="en-US" sz="1250" dirty="0"/>
          </a:p>
        </p:txBody>
      </p:sp>
      <p:pic>
        <p:nvPicPr>
          <p:cNvPr id="2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98149" y="3709888"/>
            <a:ext cx="5238421" cy="1222375"/>
          </a:xfrm>
          <a:prstGeom prst="rect">
            <a:avLst/>
          </a:prstGeom>
        </p:spPr>
      </p:pic>
      <p:sp>
        <p:nvSpPr>
          <p:cNvPr id="21" name="Text 17"/>
          <p:cNvSpPr/>
          <p:nvPr/>
        </p:nvSpPr>
        <p:spPr>
          <a:xfrm>
            <a:off x="6554028" y="3889573"/>
            <a:ext cx="4802861" cy="251023"/>
          </a:xfrm>
          <a:prstGeom prst="rect">
            <a:avLst/>
          </a:prstGeom>
          <a:noFill/>
          <a:ln/>
        </p:spPr>
        <p:txBody>
          <a:bodyPr wrap="none" lIns="0" tIns="0" rIns="0" bIns="0" rtlCol="0" anchor="t"/>
          <a:lstStyle/>
          <a:p>
            <a:pPr algn="l" indent="0" marL="0">
              <a:lnSpc>
                <a:spcPct val="104000"/>
              </a:lnSpc>
              <a:buNone/>
            </a:pPr>
            <a:r>
              <a:rPr lang="en-US" sz="1550" dirty="0">
                <a:solidFill>
                  <a:srgbClr val="15213F"/>
                </a:solidFill>
                <a:latin typeface="Roboto Slab" pitchFamily="34" charset="0"/>
                <a:ea typeface="Roboto Slab" pitchFamily="34" charset="-122"/>
                <a:cs typeface="Roboto Slab" pitchFamily="34" charset="-120"/>
              </a:rPr>
              <a:t>Productivity</a:t>
            </a:r>
            <a:endParaRPr lang="en-US" sz="1550" dirty="0"/>
          </a:p>
        </p:txBody>
      </p:sp>
      <p:sp>
        <p:nvSpPr>
          <p:cNvPr id="22" name="Text 18"/>
          <p:cNvSpPr/>
          <p:nvPr/>
        </p:nvSpPr>
        <p:spPr>
          <a:xfrm>
            <a:off x="6554028" y="4277122"/>
            <a:ext cx="4802861" cy="475456"/>
          </a:xfrm>
          <a:prstGeom prst="rect">
            <a:avLst/>
          </a:prstGeom>
          <a:noFill/>
          <a:ln/>
        </p:spPr>
        <p:txBody>
          <a:bodyPr wrap="square" lIns="0" tIns="0" rIns="0" bIns="0" rtlCol="0" anchor="t">
            <a:normAutofit/>
          </a:bodyPr>
          <a:lstStyle/>
          <a:p>
            <a:pPr algn="l" indent="0" marL="0">
              <a:lnSpc>
                <a:spcPct val="123000"/>
              </a:lnSpc>
              <a:buNone/>
            </a:pPr>
            <a:r>
              <a:rPr lang="en-US" sz="1250" dirty="0">
                <a:solidFill>
                  <a:srgbClr val="15213F"/>
                </a:solidFill>
                <a:latin typeface="Roboto" pitchFamily="34" charset="0"/>
                <a:ea typeface="Roboto" pitchFamily="34" charset="-122"/>
                <a:cs typeface="Roboto" pitchFamily="34" charset="-120"/>
              </a:rPr>
              <a:t>Teams spend less time searching and more time using information.</a:t>
            </a:r>
            <a:endParaRPr lang="en-US" sz="1250" dirty="0"/>
          </a:p>
        </p:txBody>
      </p:sp>
      <p:pic>
        <p:nvPicPr>
          <p:cNvPr id="2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98149" y="5068788"/>
            <a:ext cx="5238421" cy="984647"/>
          </a:xfrm>
          <a:prstGeom prst="rect">
            <a:avLst/>
          </a:prstGeom>
        </p:spPr>
      </p:pic>
      <p:sp>
        <p:nvSpPr>
          <p:cNvPr id="24" name="Text 19"/>
          <p:cNvSpPr/>
          <p:nvPr/>
        </p:nvSpPr>
        <p:spPr>
          <a:xfrm>
            <a:off x="6554028" y="5248473"/>
            <a:ext cx="4802861" cy="251023"/>
          </a:xfrm>
          <a:prstGeom prst="rect">
            <a:avLst/>
          </a:prstGeom>
          <a:noFill/>
          <a:ln/>
        </p:spPr>
        <p:txBody>
          <a:bodyPr wrap="none" lIns="0" tIns="0" rIns="0" bIns="0" rtlCol="0" anchor="t"/>
          <a:lstStyle/>
          <a:p>
            <a:pPr algn="l" indent="0" marL="0">
              <a:lnSpc>
                <a:spcPct val="104000"/>
              </a:lnSpc>
              <a:buNone/>
            </a:pPr>
            <a:r>
              <a:rPr lang="en-US" sz="1550" dirty="0">
                <a:solidFill>
                  <a:srgbClr val="15213F"/>
                </a:solidFill>
                <a:latin typeface="Roboto Slab" pitchFamily="34" charset="0"/>
                <a:ea typeface="Roboto Slab" pitchFamily="34" charset="-122"/>
                <a:cs typeface="Roboto Slab" pitchFamily="34" charset="-120"/>
              </a:rPr>
              <a:t>Quality</a:t>
            </a:r>
            <a:endParaRPr lang="en-US" sz="1550" dirty="0"/>
          </a:p>
        </p:txBody>
      </p:sp>
      <p:sp>
        <p:nvSpPr>
          <p:cNvPr id="25" name="Text 20"/>
          <p:cNvSpPr/>
          <p:nvPr/>
        </p:nvSpPr>
        <p:spPr>
          <a:xfrm>
            <a:off x="6554028" y="5636022"/>
            <a:ext cx="4802861" cy="237728"/>
          </a:xfrm>
          <a:prstGeom prst="rect">
            <a:avLst/>
          </a:prstGeom>
          <a:noFill/>
          <a:ln/>
        </p:spPr>
        <p:txBody>
          <a:bodyPr wrap="none" lIns="0" tIns="0" rIns="0" bIns="0" rtlCol="0" anchor="t"/>
          <a:lstStyle/>
          <a:p>
            <a:pPr algn="l" indent="0" marL="0">
              <a:lnSpc>
                <a:spcPct val="123000"/>
              </a:lnSpc>
              <a:buNone/>
            </a:pPr>
            <a:r>
              <a:rPr lang="en-US" sz="1250" dirty="0">
                <a:solidFill>
                  <a:srgbClr val="15213F"/>
                </a:solidFill>
                <a:latin typeface="Roboto" pitchFamily="34" charset="0"/>
                <a:ea typeface="Roboto" pitchFamily="34" charset="-122"/>
                <a:cs typeface="Roboto" pitchFamily="34" charset="-120"/>
              </a:rPr>
              <a:t>Search returns more relevant results.</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661475" y="543223"/>
            <a:ext cx="2987203" cy="215305"/>
          </a:xfrm>
          <a:prstGeom prst="roundRect">
            <a:avLst>
              <a:gd name="adj" fmla="val 7901"/>
            </a:avLst>
          </a:prstGeom>
          <a:solidFill>
            <a:srgbClr val="D7DFF4"/>
          </a:solidFill>
          <a:ln/>
        </p:spPr>
      </p:sp>
      <p:sp>
        <p:nvSpPr>
          <p:cNvPr id="3" name="Text 1"/>
          <p:cNvSpPr/>
          <p:nvPr/>
        </p:nvSpPr>
        <p:spPr>
          <a:xfrm>
            <a:off x="746503" y="587674"/>
            <a:ext cx="3426731" cy="130373"/>
          </a:xfrm>
          <a:prstGeom prst="rect">
            <a:avLst/>
          </a:prstGeom>
          <a:noFill/>
          <a:ln/>
        </p:spPr>
        <p:txBody>
          <a:bodyPr wrap="none" lIns="0" tIns="0" rIns="0" bIns="0" rtlCol="0" anchor="t"/>
          <a:lstStyle/>
          <a:p>
            <a:pPr algn="l" indent="0" marL="0">
              <a:lnSpc>
                <a:spcPct val="96000"/>
              </a:lnSpc>
              <a:buNone/>
            </a:pPr>
            <a:r>
              <a:rPr lang="en-US" sz="850" dirty="0">
                <a:solidFill>
                  <a:srgbClr val="15213F"/>
                </a:solidFill>
                <a:latin typeface="Roboto" pitchFamily="34" charset="0"/>
                <a:ea typeface="Roboto" pitchFamily="34" charset="-122"/>
                <a:cs typeface="Roboto" pitchFamily="34" charset="-120"/>
              </a:rPr>
              <a:t>SLIDE 9 — TESTING, LIMITATIONS, AND FUTURE SCOPE</a:t>
            </a:r>
            <a:endParaRPr lang="en-US" sz="850" dirty="0"/>
          </a:p>
        </p:txBody>
      </p:sp>
      <p:sp>
        <p:nvSpPr>
          <p:cNvPr id="4" name="Text 2"/>
          <p:cNvSpPr/>
          <p:nvPr/>
        </p:nvSpPr>
        <p:spPr>
          <a:xfrm>
            <a:off x="661475" y="826762"/>
            <a:ext cx="10868745" cy="443012"/>
          </a:xfrm>
          <a:prstGeom prst="rect">
            <a:avLst/>
          </a:prstGeom>
          <a:noFill/>
          <a:ln/>
        </p:spPr>
        <p:txBody>
          <a:bodyPr wrap="none" lIns="0" tIns="0" rIns="0" bIns="0" rtlCol="0" anchor="t"/>
          <a:lstStyle/>
          <a:p>
            <a:pPr algn="l" indent="0" marL="0">
              <a:lnSpc>
                <a:spcPct val="104000"/>
              </a:lnSpc>
              <a:buNone/>
            </a:pPr>
            <a:r>
              <a:rPr lang="en-US" sz="2750" dirty="0">
                <a:solidFill>
                  <a:srgbClr val="3257B8"/>
                </a:solidFill>
                <a:latin typeface="Roboto Slab" pitchFamily="34" charset="0"/>
                <a:ea typeface="Roboto Slab" pitchFamily="34" charset="-122"/>
                <a:cs typeface="Roboto Slab" pitchFamily="34" charset="-120"/>
              </a:rPr>
              <a:t>Testing, Limitations, and Future Scope</a:t>
            </a:r>
            <a:endParaRPr lang="en-US" sz="2750" dirty="0"/>
          </a:p>
        </p:txBody>
      </p:sp>
      <p:sp>
        <p:nvSpPr>
          <p:cNvPr id="5" name="Text 3"/>
          <p:cNvSpPr/>
          <p:nvPr/>
        </p:nvSpPr>
        <p:spPr>
          <a:xfrm>
            <a:off x="661475" y="1404631"/>
            <a:ext cx="11478330" cy="198438"/>
          </a:xfrm>
          <a:prstGeom prst="rect">
            <a:avLst/>
          </a:prstGeom>
          <a:noFill/>
          <a:ln/>
        </p:spPr>
        <p:txBody>
          <a:bodyPr wrap="none" lIns="0" tIns="0" rIns="0" bIns="0" rtlCol="0" anchor="t"/>
          <a:lstStyle/>
          <a:p>
            <a:pPr algn="l" indent="0" marL="0">
              <a:lnSpc>
                <a:spcPct val="117000"/>
              </a:lnSpc>
              <a:buNone/>
            </a:pPr>
            <a:r>
              <a:rPr lang="en-US" sz="1100" dirty="0">
                <a:solidFill>
                  <a:srgbClr val="15213F"/>
                </a:solidFill>
                <a:latin typeface="Roboto" pitchFamily="34" charset="0"/>
                <a:ea typeface="Roboto" pitchFamily="34" charset="-122"/>
                <a:cs typeface="Roboto" pitchFamily="34" charset="-120"/>
              </a:rPr>
              <a:t>This slide summarizes the validation already completed, the current constraints of the system, and a realistic roadmap for future improvements.</a:t>
            </a:r>
            <a:endParaRPr lang="en-US" sz="1100" dirty="0"/>
          </a:p>
        </p:txBody>
      </p:sp>
      <p:sp>
        <p:nvSpPr>
          <p:cNvPr id="6" name="Text 4"/>
          <p:cNvSpPr/>
          <p:nvPr/>
        </p:nvSpPr>
        <p:spPr>
          <a:xfrm>
            <a:off x="661475" y="1839006"/>
            <a:ext cx="5261439" cy="221456"/>
          </a:xfrm>
          <a:prstGeom prst="rect">
            <a:avLst/>
          </a:prstGeom>
          <a:noFill/>
          <a:ln/>
        </p:spPr>
        <p:txBody>
          <a:bodyPr wrap="none" lIns="0" tIns="0" rIns="0" bIns="0" rtlCol="0" anchor="t"/>
          <a:lstStyle/>
          <a:p>
            <a:pPr algn="l" indent="0" marL="0">
              <a:lnSpc>
                <a:spcPct val="104000"/>
              </a:lnSpc>
              <a:buNone/>
            </a:pPr>
            <a:r>
              <a:rPr lang="en-US" sz="1350" dirty="0">
                <a:solidFill>
                  <a:srgbClr val="3257B8"/>
                </a:solidFill>
                <a:latin typeface="Roboto Slab" pitchFamily="34" charset="0"/>
                <a:ea typeface="Roboto Slab" pitchFamily="34" charset="-122"/>
                <a:cs typeface="Roboto Slab" pitchFamily="34" charset="-120"/>
              </a:rPr>
              <a:t>Testing Completed</a:t>
            </a:r>
            <a:endParaRPr lang="en-US" sz="1350" dirty="0"/>
          </a:p>
        </p:txBody>
      </p:sp>
      <p:sp>
        <p:nvSpPr>
          <p:cNvPr id="7" name="Shape 5"/>
          <p:cNvSpPr/>
          <p:nvPr/>
        </p:nvSpPr>
        <p:spPr>
          <a:xfrm>
            <a:off x="661475" y="2168723"/>
            <a:ext cx="318881" cy="318889"/>
          </a:xfrm>
          <a:prstGeom prst="roundRect">
            <a:avLst>
              <a:gd name="adj" fmla="val 6669"/>
            </a:avLst>
          </a:prstGeom>
          <a:solidFill>
            <a:srgbClr val="E9ECF2"/>
          </a:solidFill>
          <a:ln/>
        </p:spPr>
      </p:sp>
      <p:sp>
        <p:nvSpPr>
          <p:cNvPr id="8" name="Text 6"/>
          <p:cNvSpPr/>
          <p:nvPr/>
        </p:nvSpPr>
        <p:spPr>
          <a:xfrm>
            <a:off x="1086617" y="2217440"/>
            <a:ext cx="2139103" cy="221456"/>
          </a:xfrm>
          <a:prstGeom prst="rect">
            <a:avLst/>
          </a:prstGeom>
          <a:noFill/>
          <a:ln/>
        </p:spPr>
        <p:txBody>
          <a:bodyPr wrap="none" lIns="0" tIns="0" rIns="0" bIns="0" rtlCol="0" anchor="t"/>
          <a:lstStyle/>
          <a:p>
            <a:pPr algn="l" indent="0" marL="0">
              <a:lnSpc>
                <a:spcPct val="104000"/>
              </a:lnSpc>
              <a:buNone/>
            </a:pPr>
            <a:r>
              <a:rPr lang="en-US" sz="1350" dirty="0">
                <a:solidFill>
                  <a:srgbClr val="15213F"/>
                </a:solidFill>
                <a:latin typeface="Roboto Slab" pitchFamily="34" charset="0"/>
                <a:ea typeface="Roboto Slab" pitchFamily="34" charset="-122"/>
                <a:cs typeface="Roboto Slab" pitchFamily="34" charset="-120"/>
              </a:rPr>
              <a:t>Unit tests</a:t>
            </a:r>
            <a:endParaRPr lang="en-US" sz="1350" dirty="0"/>
          </a:p>
        </p:txBody>
      </p:sp>
      <p:sp>
        <p:nvSpPr>
          <p:cNvPr id="9" name="Text 7"/>
          <p:cNvSpPr/>
          <p:nvPr/>
        </p:nvSpPr>
        <p:spPr>
          <a:xfrm>
            <a:off x="1086617" y="2545159"/>
            <a:ext cx="2139103" cy="396875"/>
          </a:xfrm>
          <a:prstGeom prst="rect">
            <a:avLst/>
          </a:prstGeom>
          <a:noFill/>
          <a:ln/>
        </p:spPr>
        <p:txBody>
          <a:bodyPr wrap="square" lIns="0" tIns="0" rIns="0" bIns="0" rtlCol="0" anchor="t">
            <a:normAutofit/>
          </a:bodyPr>
          <a:lstStyle/>
          <a:p>
            <a:pPr algn="l" indent="0" marL="0">
              <a:lnSpc>
                <a:spcPct val="117000"/>
              </a:lnSpc>
              <a:buNone/>
            </a:pPr>
            <a:r>
              <a:rPr lang="en-US" sz="1100" dirty="0">
                <a:solidFill>
                  <a:srgbClr val="15213F"/>
                </a:solidFill>
                <a:latin typeface="Roboto" pitchFamily="34" charset="0"/>
                <a:ea typeface="Roboto" pitchFamily="34" charset="-122"/>
                <a:cs typeface="Roboto" pitchFamily="34" charset="-120"/>
              </a:rPr>
              <a:t>Covered preprocessing and retrieval modules.</a:t>
            </a:r>
            <a:endParaRPr lang="en-US" sz="1100" dirty="0"/>
          </a:p>
        </p:txBody>
      </p:sp>
      <p:sp>
        <p:nvSpPr>
          <p:cNvPr id="10" name="Shape 8"/>
          <p:cNvSpPr/>
          <p:nvPr/>
        </p:nvSpPr>
        <p:spPr>
          <a:xfrm>
            <a:off x="3358570" y="2168723"/>
            <a:ext cx="318881" cy="318889"/>
          </a:xfrm>
          <a:prstGeom prst="roundRect">
            <a:avLst>
              <a:gd name="adj" fmla="val 6669"/>
            </a:avLst>
          </a:prstGeom>
          <a:solidFill>
            <a:srgbClr val="E9ECF2"/>
          </a:solidFill>
          <a:ln/>
        </p:spPr>
      </p:sp>
      <p:sp>
        <p:nvSpPr>
          <p:cNvPr id="11" name="Text 9"/>
          <p:cNvSpPr/>
          <p:nvPr/>
        </p:nvSpPr>
        <p:spPr>
          <a:xfrm>
            <a:off x="3783712" y="2217440"/>
            <a:ext cx="2139202" cy="221456"/>
          </a:xfrm>
          <a:prstGeom prst="rect">
            <a:avLst/>
          </a:prstGeom>
          <a:noFill/>
          <a:ln/>
        </p:spPr>
        <p:txBody>
          <a:bodyPr wrap="none" lIns="0" tIns="0" rIns="0" bIns="0" rtlCol="0" anchor="t"/>
          <a:lstStyle/>
          <a:p>
            <a:pPr algn="l" indent="0" marL="0">
              <a:lnSpc>
                <a:spcPct val="104000"/>
              </a:lnSpc>
              <a:buNone/>
            </a:pPr>
            <a:r>
              <a:rPr lang="en-US" sz="1350" dirty="0">
                <a:solidFill>
                  <a:srgbClr val="15213F"/>
                </a:solidFill>
                <a:latin typeface="Roboto Slab" pitchFamily="34" charset="0"/>
                <a:ea typeface="Roboto Slab" pitchFamily="34" charset="-122"/>
                <a:cs typeface="Roboto Slab" pitchFamily="34" charset="-120"/>
              </a:rPr>
              <a:t>Integration tests</a:t>
            </a:r>
            <a:endParaRPr lang="en-US" sz="1350" dirty="0"/>
          </a:p>
        </p:txBody>
      </p:sp>
      <p:sp>
        <p:nvSpPr>
          <p:cNvPr id="12" name="Text 10"/>
          <p:cNvSpPr/>
          <p:nvPr/>
        </p:nvSpPr>
        <p:spPr>
          <a:xfrm>
            <a:off x="3783712" y="2545159"/>
            <a:ext cx="2139202" cy="396875"/>
          </a:xfrm>
          <a:prstGeom prst="rect">
            <a:avLst/>
          </a:prstGeom>
          <a:noFill/>
          <a:ln/>
        </p:spPr>
        <p:txBody>
          <a:bodyPr wrap="square" lIns="0" tIns="0" rIns="0" bIns="0" rtlCol="0" anchor="t">
            <a:normAutofit/>
          </a:bodyPr>
          <a:lstStyle/>
          <a:p>
            <a:pPr algn="l" indent="0" marL="0">
              <a:lnSpc>
                <a:spcPct val="117000"/>
              </a:lnSpc>
              <a:buNone/>
            </a:pPr>
            <a:r>
              <a:rPr lang="en-US" sz="1100" dirty="0">
                <a:solidFill>
                  <a:srgbClr val="15213F"/>
                </a:solidFill>
                <a:latin typeface="Roboto" pitchFamily="34" charset="0"/>
                <a:ea typeface="Roboto" pitchFamily="34" charset="-122"/>
                <a:cs typeface="Roboto" pitchFamily="34" charset="-120"/>
              </a:rPr>
              <a:t>Validated the end-to-end workflow.</a:t>
            </a:r>
            <a:endParaRPr lang="en-US" sz="1100" dirty="0"/>
          </a:p>
        </p:txBody>
      </p:sp>
      <p:sp>
        <p:nvSpPr>
          <p:cNvPr id="13" name="Shape 11"/>
          <p:cNvSpPr/>
          <p:nvPr/>
        </p:nvSpPr>
        <p:spPr>
          <a:xfrm>
            <a:off x="661475" y="3154660"/>
            <a:ext cx="318881" cy="318889"/>
          </a:xfrm>
          <a:prstGeom prst="roundRect">
            <a:avLst>
              <a:gd name="adj" fmla="val 6669"/>
            </a:avLst>
          </a:prstGeom>
          <a:solidFill>
            <a:srgbClr val="E9ECF2"/>
          </a:solidFill>
          <a:ln/>
        </p:spPr>
      </p:sp>
      <p:sp>
        <p:nvSpPr>
          <p:cNvPr id="14" name="Text 12"/>
          <p:cNvSpPr/>
          <p:nvPr/>
        </p:nvSpPr>
        <p:spPr>
          <a:xfrm>
            <a:off x="1086617" y="3203377"/>
            <a:ext cx="4836297" cy="221456"/>
          </a:xfrm>
          <a:prstGeom prst="rect">
            <a:avLst/>
          </a:prstGeom>
          <a:noFill/>
          <a:ln/>
        </p:spPr>
        <p:txBody>
          <a:bodyPr wrap="none" lIns="0" tIns="0" rIns="0" bIns="0" rtlCol="0" anchor="t"/>
          <a:lstStyle/>
          <a:p>
            <a:pPr algn="l" indent="0" marL="0">
              <a:lnSpc>
                <a:spcPct val="104000"/>
              </a:lnSpc>
              <a:buNone/>
            </a:pPr>
            <a:r>
              <a:rPr lang="en-US" sz="1350" dirty="0">
                <a:solidFill>
                  <a:srgbClr val="15213F"/>
                </a:solidFill>
                <a:latin typeface="Roboto Slab" pitchFamily="34" charset="0"/>
                <a:ea typeface="Roboto Slab" pitchFamily="34" charset="-122"/>
                <a:cs typeface="Roboto Slab" pitchFamily="34" charset="-120"/>
              </a:rPr>
              <a:t>Manual and UI testing</a:t>
            </a:r>
            <a:endParaRPr lang="en-US" sz="1350" dirty="0"/>
          </a:p>
        </p:txBody>
      </p:sp>
      <p:sp>
        <p:nvSpPr>
          <p:cNvPr id="15" name="Text 13"/>
          <p:cNvSpPr/>
          <p:nvPr/>
        </p:nvSpPr>
        <p:spPr>
          <a:xfrm>
            <a:off x="1086617" y="3531096"/>
            <a:ext cx="4836297" cy="198438"/>
          </a:xfrm>
          <a:prstGeom prst="rect">
            <a:avLst/>
          </a:prstGeom>
          <a:noFill/>
          <a:ln/>
        </p:spPr>
        <p:txBody>
          <a:bodyPr wrap="none" lIns="0" tIns="0" rIns="0" bIns="0" rtlCol="0" anchor="t"/>
          <a:lstStyle/>
          <a:p>
            <a:pPr algn="l" indent="0" marL="0">
              <a:lnSpc>
                <a:spcPct val="117000"/>
              </a:lnSpc>
              <a:buNone/>
            </a:pPr>
            <a:r>
              <a:rPr lang="en-US" sz="1100" dirty="0">
                <a:solidFill>
                  <a:srgbClr val="15213F"/>
                </a:solidFill>
                <a:latin typeface="Roboto" pitchFamily="34" charset="0"/>
                <a:ea typeface="Roboto" pitchFamily="34" charset="-122"/>
                <a:cs typeface="Roboto" pitchFamily="34" charset="-120"/>
              </a:rPr>
              <a:t>Checked search accuracy, analytics output, and usability.</a:t>
            </a:r>
            <a:endParaRPr lang="en-US" sz="1100" dirty="0"/>
          </a:p>
        </p:txBody>
      </p:sp>
      <p:sp>
        <p:nvSpPr>
          <p:cNvPr id="16" name="Text 14"/>
          <p:cNvSpPr/>
          <p:nvPr/>
        </p:nvSpPr>
        <p:spPr>
          <a:xfrm>
            <a:off x="6275131" y="1839006"/>
            <a:ext cx="5261439" cy="221456"/>
          </a:xfrm>
          <a:prstGeom prst="rect">
            <a:avLst/>
          </a:prstGeom>
          <a:noFill/>
          <a:ln/>
        </p:spPr>
        <p:txBody>
          <a:bodyPr wrap="none" lIns="0" tIns="0" rIns="0" bIns="0" rtlCol="0" anchor="t"/>
          <a:lstStyle/>
          <a:p>
            <a:pPr algn="l" indent="0" marL="0">
              <a:lnSpc>
                <a:spcPct val="104000"/>
              </a:lnSpc>
              <a:buNone/>
            </a:pPr>
            <a:r>
              <a:rPr lang="en-US" sz="1350" dirty="0">
                <a:solidFill>
                  <a:srgbClr val="3257B8"/>
                </a:solidFill>
                <a:latin typeface="Roboto Slab" pitchFamily="34" charset="0"/>
                <a:ea typeface="Roboto Slab" pitchFamily="34" charset="-122"/>
                <a:cs typeface="Roboto Slab" pitchFamily="34" charset="-120"/>
              </a:rPr>
              <a:t>Current Limitations</a:t>
            </a:r>
            <a:endParaRPr lang="en-US" sz="1350" dirty="0"/>
          </a:p>
        </p:txBody>
      </p:sp>
      <p:pic>
        <p:nvPicPr>
          <p:cNvPr id="1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275131" y="2168723"/>
            <a:ext cx="5261439" cy="847626"/>
          </a:xfrm>
          <a:prstGeom prst="rect">
            <a:avLst/>
          </a:prstGeom>
        </p:spPr>
      </p:pic>
      <p:sp>
        <p:nvSpPr>
          <p:cNvPr id="18" name="Text 15"/>
          <p:cNvSpPr/>
          <p:nvPr/>
        </p:nvSpPr>
        <p:spPr>
          <a:xfrm>
            <a:off x="6512060" y="2329458"/>
            <a:ext cx="4863780" cy="221456"/>
          </a:xfrm>
          <a:prstGeom prst="rect">
            <a:avLst/>
          </a:prstGeom>
          <a:noFill/>
          <a:ln/>
        </p:spPr>
        <p:txBody>
          <a:bodyPr wrap="none" lIns="0" tIns="0" rIns="0" bIns="0" rtlCol="0" anchor="t"/>
          <a:lstStyle/>
          <a:p>
            <a:pPr algn="l" indent="0" marL="0">
              <a:lnSpc>
                <a:spcPct val="104000"/>
              </a:lnSpc>
              <a:buNone/>
            </a:pPr>
            <a:r>
              <a:rPr lang="en-US" sz="1350" dirty="0">
                <a:solidFill>
                  <a:srgbClr val="15213F"/>
                </a:solidFill>
                <a:latin typeface="Roboto Slab" pitchFamily="34" charset="0"/>
                <a:ea typeface="Roboto Slab" pitchFamily="34" charset="-122"/>
                <a:cs typeface="Roboto Slab" pitchFamily="34" charset="-120"/>
              </a:rPr>
              <a:t>Large-scale processing</a:t>
            </a:r>
            <a:endParaRPr lang="en-US" sz="1350" dirty="0"/>
          </a:p>
        </p:txBody>
      </p:sp>
      <p:sp>
        <p:nvSpPr>
          <p:cNvPr id="19" name="Text 16"/>
          <p:cNvSpPr/>
          <p:nvPr/>
        </p:nvSpPr>
        <p:spPr>
          <a:xfrm>
            <a:off x="6512060" y="2657177"/>
            <a:ext cx="4863780" cy="198438"/>
          </a:xfrm>
          <a:prstGeom prst="rect">
            <a:avLst/>
          </a:prstGeom>
          <a:noFill/>
          <a:ln/>
        </p:spPr>
        <p:txBody>
          <a:bodyPr wrap="none" lIns="0" tIns="0" rIns="0" bIns="0" rtlCol="0" anchor="t"/>
          <a:lstStyle/>
          <a:p>
            <a:pPr algn="l" indent="0" marL="0">
              <a:lnSpc>
                <a:spcPct val="117000"/>
              </a:lnSpc>
              <a:buNone/>
            </a:pPr>
            <a:r>
              <a:rPr lang="en-US" sz="1100" dirty="0">
                <a:solidFill>
                  <a:srgbClr val="15213F"/>
                </a:solidFill>
                <a:latin typeface="Roboto" pitchFamily="34" charset="0"/>
                <a:ea typeface="Roboto" pitchFamily="34" charset="-122"/>
                <a:cs typeface="Roboto" pitchFamily="34" charset="-120"/>
              </a:rPr>
              <a:t>Very large batches need more time and resources.</a:t>
            </a:r>
            <a:endParaRPr lang="en-US" sz="1100" dirty="0"/>
          </a:p>
        </p:txBody>
      </p:sp>
      <p:pic>
        <p:nvPicPr>
          <p:cNvPr id="2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75131" y="3122613"/>
            <a:ext cx="5261439" cy="847626"/>
          </a:xfrm>
          <a:prstGeom prst="rect">
            <a:avLst/>
          </a:prstGeom>
        </p:spPr>
      </p:pic>
      <p:sp>
        <p:nvSpPr>
          <p:cNvPr id="21" name="Text 17"/>
          <p:cNvSpPr/>
          <p:nvPr/>
        </p:nvSpPr>
        <p:spPr>
          <a:xfrm>
            <a:off x="6512060" y="3283347"/>
            <a:ext cx="4863780" cy="221456"/>
          </a:xfrm>
          <a:prstGeom prst="rect">
            <a:avLst/>
          </a:prstGeom>
          <a:noFill/>
          <a:ln/>
        </p:spPr>
        <p:txBody>
          <a:bodyPr wrap="none" lIns="0" tIns="0" rIns="0" bIns="0" rtlCol="0" anchor="t"/>
          <a:lstStyle/>
          <a:p>
            <a:pPr algn="l" indent="0" marL="0">
              <a:lnSpc>
                <a:spcPct val="104000"/>
              </a:lnSpc>
              <a:buNone/>
            </a:pPr>
            <a:r>
              <a:rPr lang="en-US" sz="1350" dirty="0">
                <a:solidFill>
                  <a:srgbClr val="15213F"/>
                </a:solidFill>
                <a:latin typeface="Roboto Slab" pitchFamily="34" charset="0"/>
                <a:ea typeface="Roboto Slab" pitchFamily="34" charset="-122"/>
                <a:cs typeface="Roboto Slab" pitchFamily="34" charset="-120"/>
              </a:rPr>
              <a:t>Data quality dependence</a:t>
            </a:r>
            <a:endParaRPr lang="en-US" sz="1350" dirty="0"/>
          </a:p>
        </p:txBody>
      </p:sp>
      <p:sp>
        <p:nvSpPr>
          <p:cNvPr id="22" name="Text 18"/>
          <p:cNvSpPr/>
          <p:nvPr/>
        </p:nvSpPr>
        <p:spPr>
          <a:xfrm>
            <a:off x="6512060" y="3611066"/>
            <a:ext cx="4863780" cy="198438"/>
          </a:xfrm>
          <a:prstGeom prst="rect">
            <a:avLst/>
          </a:prstGeom>
          <a:noFill/>
          <a:ln/>
        </p:spPr>
        <p:txBody>
          <a:bodyPr wrap="none" lIns="0" tIns="0" rIns="0" bIns="0" rtlCol="0" anchor="t"/>
          <a:lstStyle/>
          <a:p>
            <a:pPr algn="l" indent="0" marL="0">
              <a:lnSpc>
                <a:spcPct val="117000"/>
              </a:lnSpc>
              <a:buNone/>
            </a:pPr>
            <a:r>
              <a:rPr lang="en-US" sz="1100" dirty="0">
                <a:solidFill>
                  <a:srgbClr val="15213F"/>
                </a:solidFill>
                <a:latin typeface="Roboto" pitchFamily="34" charset="0"/>
                <a:ea typeface="Roboto" pitchFamily="34" charset="-122"/>
                <a:cs typeface="Roboto" pitchFamily="34" charset="-120"/>
              </a:rPr>
              <a:t>Noisy or poorly structured text reduces results.</a:t>
            </a:r>
            <a:endParaRPr lang="en-US" sz="1100" dirty="0"/>
          </a:p>
        </p:txBody>
      </p:sp>
      <p:pic>
        <p:nvPicPr>
          <p:cNvPr id="2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75131" y="4076502"/>
            <a:ext cx="5261439" cy="847626"/>
          </a:xfrm>
          <a:prstGeom prst="rect">
            <a:avLst/>
          </a:prstGeom>
        </p:spPr>
      </p:pic>
      <p:sp>
        <p:nvSpPr>
          <p:cNvPr id="24" name="Text 19"/>
          <p:cNvSpPr/>
          <p:nvPr/>
        </p:nvSpPr>
        <p:spPr>
          <a:xfrm>
            <a:off x="6512060" y="4237236"/>
            <a:ext cx="4863780" cy="221456"/>
          </a:xfrm>
          <a:prstGeom prst="rect">
            <a:avLst/>
          </a:prstGeom>
          <a:noFill/>
          <a:ln/>
        </p:spPr>
        <p:txBody>
          <a:bodyPr wrap="none" lIns="0" tIns="0" rIns="0" bIns="0" rtlCol="0" anchor="t"/>
          <a:lstStyle/>
          <a:p>
            <a:pPr algn="l" indent="0" marL="0">
              <a:lnSpc>
                <a:spcPct val="104000"/>
              </a:lnSpc>
              <a:buNone/>
            </a:pPr>
            <a:r>
              <a:rPr lang="en-US" sz="1350" dirty="0">
                <a:solidFill>
                  <a:srgbClr val="15213F"/>
                </a:solidFill>
                <a:latin typeface="Roboto Slab" pitchFamily="34" charset="0"/>
                <a:ea typeface="Roboto Slab" pitchFamily="34" charset="-122"/>
                <a:cs typeface="Roboto Slab" pitchFamily="34" charset="-120"/>
              </a:rPr>
              <a:t>Format and language scope</a:t>
            </a:r>
            <a:endParaRPr lang="en-US" sz="1350" dirty="0"/>
          </a:p>
        </p:txBody>
      </p:sp>
      <p:sp>
        <p:nvSpPr>
          <p:cNvPr id="25" name="Text 20"/>
          <p:cNvSpPr/>
          <p:nvPr/>
        </p:nvSpPr>
        <p:spPr>
          <a:xfrm>
            <a:off x="6512060" y="4564955"/>
            <a:ext cx="4863780" cy="198438"/>
          </a:xfrm>
          <a:prstGeom prst="rect">
            <a:avLst/>
          </a:prstGeom>
          <a:noFill/>
          <a:ln/>
        </p:spPr>
        <p:txBody>
          <a:bodyPr wrap="none" lIns="0" tIns="0" rIns="0" bIns="0" rtlCol="0" anchor="t"/>
          <a:lstStyle/>
          <a:p>
            <a:pPr algn="l" indent="0" marL="0">
              <a:lnSpc>
                <a:spcPct val="117000"/>
              </a:lnSpc>
              <a:buNone/>
            </a:pPr>
            <a:r>
              <a:rPr lang="en-US" sz="1100" dirty="0">
                <a:solidFill>
                  <a:srgbClr val="15213F"/>
                </a:solidFill>
                <a:latin typeface="Roboto" pitchFamily="34" charset="0"/>
                <a:ea typeface="Roboto" pitchFamily="34" charset="-122"/>
                <a:cs typeface="Roboto" pitchFamily="34" charset="-120"/>
              </a:rPr>
              <a:t>Support is limited for non-text formats and currently English only.</a:t>
            </a:r>
            <a:endParaRPr lang="en-US" sz="1100" dirty="0"/>
          </a:p>
        </p:txBody>
      </p:sp>
      <p:sp>
        <p:nvSpPr>
          <p:cNvPr id="26" name="Text 21"/>
          <p:cNvSpPr/>
          <p:nvPr/>
        </p:nvSpPr>
        <p:spPr>
          <a:xfrm>
            <a:off x="661475" y="5214428"/>
            <a:ext cx="10868745" cy="221456"/>
          </a:xfrm>
          <a:prstGeom prst="rect">
            <a:avLst/>
          </a:prstGeom>
          <a:noFill/>
          <a:ln/>
        </p:spPr>
        <p:txBody>
          <a:bodyPr wrap="none" lIns="0" tIns="0" rIns="0" bIns="0" rtlCol="0" anchor="t"/>
          <a:lstStyle/>
          <a:p>
            <a:pPr algn="l" indent="0" marL="0">
              <a:lnSpc>
                <a:spcPct val="104000"/>
              </a:lnSpc>
              <a:buNone/>
            </a:pPr>
            <a:r>
              <a:rPr lang="en-US" sz="1350" dirty="0">
                <a:solidFill>
                  <a:srgbClr val="3257B8"/>
                </a:solidFill>
                <a:latin typeface="Roboto Slab" pitchFamily="34" charset="0"/>
                <a:ea typeface="Roboto Slab" pitchFamily="34" charset="-122"/>
                <a:cs typeface="Roboto Slab" pitchFamily="34" charset="-120"/>
              </a:rPr>
              <a:t>Future Scope</a:t>
            </a:r>
            <a:endParaRPr lang="en-US" sz="1350" dirty="0"/>
          </a:p>
        </p:txBody>
      </p:sp>
      <p:sp>
        <p:nvSpPr>
          <p:cNvPr id="27" name="Shape 22"/>
          <p:cNvSpPr/>
          <p:nvPr/>
        </p:nvSpPr>
        <p:spPr>
          <a:xfrm>
            <a:off x="661475" y="5584031"/>
            <a:ext cx="318881" cy="318889"/>
          </a:xfrm>
          <a:prstGeom prst="roundRect">
            <a:avLst>
              <a:gd name="adj" fmla="val 6669"/>
            </a:avLst>
          </a:prstGeom>
          <a:solidFill>
            <a:srgbClr val="E9ECF2"/>
          </a:solidFill>
          <a:ln/>
        </p:spPr>
      </p:sp>
      <p:sp>
        <p:nvSpPr>
          <p:cNvPr id="28" name="Text 23"/>
          <p:cNvSpPr/>
          <p:nvPr/>
        </p:nvSpPr>
        <p:spPr>
          <a:xfrm>
            <a:off x="1086617" y="5632748"/>
            <a:ext cx="3109140" cy="221456"/>
          </a:xfrm>
          <a:prstGeom prst="rect">
            <a:avLst/>
          </a:prstGeom>
          <a:noFill/>
          <a:ln/>
        </p:spPr>
        <p:txBody>
          <a:bodyPr wrap="none" lIns="0" tIns="0" rIns="0" bIns="0" rtlCol="0" anchor="t"/>
          <a:lstStyle/>
          <a:p>
            <a:pPr algn="l" indent="0" marL="0">
              <a:lnSpc>
                <a:spcPct val="104000"/>
              </a:lnSpc>
              <a:buNone/>
            </a:pPr>
            <a:r>
              <a:rPr lang="en-US" sz="1350" dirty="0">
                <a:solidFill>
                  <a:srgbClr val="15213F"/>
                </a:solidFill>
                <a:latin typeface="Roboto Slab" pitchFamily="34" charset="0"/>
                <a:ea typeface="Roboto Slab" pitchFamily="34" charset="-122"/>
                <a:cs typeface="Roboto Slab" pitchFamily="34" charset="-120"/>
              </a:rPr>
              <a:t>Broader document support</a:t>
            </a:r>
            <a:endParaRPr lang="en-US" sz="1350" dirty="0"/>
          </a:p>
        </p:txBody>
      </p:sp>
      <p:sp>
        <p:nvSpPr>
          <p:cNvPr id="29" name="Text 24"/>
          <p:cNvSpPr/>
          <p:nvPr/>
        </p:nvSpPr>
        <p:spPr>
          <a:xfrm>
            <a:off x="1086617" y="5917902"/>
            <a:ext cx="3109140" cy="396875"/>
          </a:xfrm>
          <a:prstGeom prst="rect">
            <a:avLst/>
          </a:prstGeom>
          <a:noFill/>
          <a:ln/>
        </p:spPr>
        <p:txBody>
          <a:bodyPr wrap="square" lIns="0" tIns="0" rIns="0" bIns="0" rtlCol="0" anchor="t">
            <a:normAutofit/>
          </a:bodyPr>
          <a:lstStyle/>
          <a:p>
            <a:pPr algn="l" indent="0" marL="0">
              <a:lnSpc>
                <a:spcPct val="117000"/>
              </a:lnSpc>
              <a:buNone/>
            </a:pPr>
            <a:r>
              <a:rPr lang="en-US" sz="1100" dirty="0">
                <a:solidFill>
                  <a:srgbClr val="15213F"/>
                </a:solidFill>
                <a:latin typeface="Roboto" pitchFamily="34" charset="0"/>
                <a:ea typeface="Roboto" pitchFamily="34" charset="-122"/>
                <a:cs typeface="Roboto" pitchFamily="34" charset="-120"/>
              </a:rPr>
              <a:t>Add OCR and better handling for PDFs and image-based content.</a:t>
            </a:r>
            <a:endParaRPr lang="en-US" sz="1100" dirty="0"/>
          </a:p>
        </p:txBody>
      </p:sp>
      <p:sp>
        <p:nvSpPr>
          <p:cNvPr id="30" name="Shape 25"/>
          <p:cNvSpPr/>
          <p:nvPr/>
        </p:nvSpPr>
        <p:spPr>
          <a:xfrm>
            <a:off x="4328607" y="5584031"/>
            <a:ext cx="318881" cy="318889"/>
          </a:xfrm>
          <a:prstGeom prst="roundRect">
            <a:avLst>
              <a:gd name="adj" fmla="val 6669"/>
            </a:avLst>
          </a:prstGeom>
          <a:solidFill>
            <a:srgbClr val="E9ECF2"/>
          </a:solidFill>
          <a:ln/>
        </p:spPr>
      </p:sp>
      <p:sp>
        <p:nvSpPr>
          <p:cNvPr id="31" name="Text 26"/>
          <p:cNvSpPr/>
          <p:nvPr/>
        </p:nvSpPr>
        <p:spPr>
          <a:xfrm>
            <a:off x="4753749" y="5632748"/>
            <a:ext cx="3109239" cy="221456"/>
          </a:xfrm>
          <a:prstGeom prst="rect">
            <a:avLst/>
          </a:prstGeom>
          <a:noFill/>
          <a:ln/>
        </p:spPr>
        <p:txBody>
          <a:bodyPr wrap="none" lIns="0" tIns="0" rIns="0" bIns="0" rtlCol="0" anchor="t"/>
          <a:lstStyle/>
          <a:p>
            <a:pPr algn="l" indent="0" marL="0">
              <a:lnSpc>
                <a:spcPct val="104000"/>
              </a:lnSpc>
              <a:buNone/>
            </a:pPr>
            <a:r>
              <a:rPr lang="en-US" sz="1350" dirty="0">
                <a:solidFill>
                  <a:srgbClr val="15213F"/>
                </a:solidFill>
                <a:latin typeface="Roboto Slab" pitchFamily="34" charset="0"/>
                <a:ea typeface="Roboto Slab" pitchFamily="34" charset="-122"/>
                <a:cs typeface="Roboto Slab" pitchFamily="34" charset="-120"/>
              </a:rPr>
              <a:t>Better retrieval and scaling</a:t>
            </a:r>
            <a:endParaRPr lang="en-US" sz="1350" dirty="0"/>
          </a:p>
        </p:txBody>
      </p:sp>
      <p:sp>
        <p:nvSpPr>
          <p:cNvPr id="32" name="Text 27"/>
          <p:cNvSpPr/>
          <p:nvPr/>
        </p:nvSpPr>
        <p:spPr>
          <a:xfrm>
            <a:off x="4753749" y="5917902"/>
            <a:ext cx="3109239" cy="396875"/>
          </a:xfrm>
          <a:prstGeom prst="rect">
            <a:avLst/>
          </a:prstGeom>
          <a:noFill/>
          <a:ln/>
        </p:spPr>
        <p:txBody>
          <a:bodyPr wrap="square" lIns="0" tIns="0" rIns="0" bIns="0" rtlCol="0" anchor="t">
            <a:normAutofit/>
          </a:bodyPr>
          <a:lstStyle/>
          <a:p>
            <a:pPr algn="l" indent="0" marL="0">
              <a:lnSpc>
                <a:spcPct val="117000"/>
              </a:lnSpc>
              <a:buNone/>
            </a:pPr>
            <a:r>
              <a:rPr lang="en-US" sz="1100" dirty="0">
                <a:solidFill>
                  <a:srgbClr val="15213F"/>
                </a:solidFill>
                <a:latin typeface="Roboto" pitchFamily="34" charset="0"/>
                <a:ea typeface="Roboto" pitchFamily="34" charset="-122"/>
                <a:cs typeface="Roboto" pitchFamily="34" charset="-120"/>
              </a:rPr>
              <a:t>Improve relevance scoring, indexing, caching, and performance.</a:t>
            </a:r>
            <a:endParaRPr lang="en-US" sz="1100" dirty="0"/>
          </a:p>
        </p:txBody>
      </p:sp>
      <p:sp>
        <p:nvSpPr>
          <p:cNvPr id="33" name="Shape 28"/>
          <p:cNvSpPr/>
          <p:nvPr/>
        </p:nvSpPr>
        <p:spPr>
          <a:xfrm>
            <a:off x="7995839" y="5584031"/>
            <a:ext cx="318881" cy="318889"/>
          </a:xfrm>
          <a:prstGeom prst="roundRect">
            <a:avLst>
              <a:gd name="adj" fmla="val 6669"/>
            </a:avLst>
          </a:prstGeom>
          <a:solidFill>
            <a:srgbClr val="E9ECF2"/>
          </a:solidFill>
          <a:ln/>
        </p:spPr>
      </p:sp>
      <p:sp>
        <p:nvSpPr>
          <p:cNvPr id="34" name="Text 29"/>
          <p:cNvSpPr/>
          <p:nvPr/>
        </p:nvSpPr>
        <p:spPr>
          <a:xfrm>
            <a:off x="8420981" y="5632748"/>
            <a:ext cx="3109239" cy="221456"/>
          </a:xfrm>
          <a:prstGeom prst="rect">
            <a:avLst/>
          </a:prstGeom>
          <a:noFill/>
          <a:ln/>
        </p:spPr>
        <p:txBody>
          <a:bodyPr wrap="none" lIns="0" tIns="0" rIns="0" bIns="0" rtlCol="0" anchor="t"/>
          <a:lstStyle/>
          <a:p>
            <a:pPr algn="l" indent="0" marL="0">
              <a:lnSpc>
                <a:spcPct val="104000"/>
              </a:lnSpc>
              <a:buNone/>
            </a:pPr>
            <a:r>
              <a:rPr lang="en-US" sz="1350" dirty="0">
                <a:solidFill>
                  <a:srgbClr val="15213F"/>
                </a:solidFill>
                <a:latin typeface="Roboto Slab" pitchFamily="34" charset="0"/>
                <a:ea typeface="Roboto Slab" pitchFamily="34" charset="-122"/>
                <a:cs typeface="Roboto Slab" pitchFamily="34" charset="-120"/>
              </a:rPr>
              <a:t>Multi-language analytics</a:t>
            </a:r>
            <a:endParaRPr lang="en-US" sz="1350" dirty="0"/>
          </a:p>
        </p:txBody>
      </p:sp>
      <p:sp>
        <p:nvSpPr>
          <p:cNvPr id="35" name="Text 30"/>
          <p:cNvSpPr/>
          <p:nvPr/>
        </p:nvSpPr>
        <p:spPr>
          <a:xfrm>
            <a:off x="8420981" y="5917902"/>
            <a:ext cx="3109239" cy="396875"/>
          </a:xfrm>
          <a:prstGeom prst="rect">
            <a:avLst/>
          </a:prstGeom>
          <a:noFill/>
          <a:ln/>
        </p:spPr>
        <p:txBody>
          <a:bodyPr wrap="square" lIns="0" tIns="0" rIns="0" bIns="0" rtlCol="0" anchor="t">
            <a:normAutofit/>
          </a:bodyPr>
          <a:lstStyle/>
          <a:p>
            <a:pPr algn="l" indent="0" marL="0">
              <a:lnSpc>
                <a:spcPct val="117000"/>
              </a:lnSpc>
              <a:buNone/>
            </a:pPr>
            <a:r>
              <a:rPr lang="en-US" sz="1100" dirty="0">
                <a:solidFill>
                  <a:srgbClr val="15213F"/>
                </a:solidFill>
                <a:latin typeface="Roboto" pitchFamily="34" charset="0"/>
                <a:ea typeface="Roboto" pitchFamily="34" charset="-122"/>
                <a:cs typeface="Roboto" pitchFamily="34" charset="-120"/>
              </a:rPr>
              <a:t>Expand beyond English and add richer insight extraction.</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661475" y="555030"/>
            <a:ext cx="3224628" cy="258465"/>
          </a:xfrm>
          <a:prstGeom prst="roundRect">
            <a:avLst>
              <a:gd name="adj" fmla="val 7898"/>
            </a:avLst>
          </a:prstGeom>
          <a:solidFill>
            <a:srgbClr val="D7DFF4"/>
          </a:solidFill>
          <a:ln/>
        </p:spPr>
      </p:sp>
      <p:sp>
        <p:nvSpPr>
          <p:cNvPr id="3" name="Text 1"/>
          <p:cNvSpPr/>
          <p:nvPr/>
        </p:nvSpPr>
        <p:spPr>
          <a:xfrm>
            <a:off x="763469" y="608061"/>
            <a:ext cx="3630224" cy="156468"/>
          </a:xfrm>
          <a:prstGeom prst="rect">
            <a:avLst/>
          </a:prstGeom>
          <a:noFill/>
          <a:ln/>
        </p:spPr>
        <p:txBody>
          <a:bodyPr wrap="none" lIns="0" tIns="0" rIns="0" bIns="0" rtlCol="0" anchor="t"/>
          <a:lstStyle/>
          <a:p>
            <a:pPr algn="l" indent="0" marL="0">
              <a:lnSpc>
                <a:spcPct val="96000"/>
              </a:lnSpc>
              <a:buNone/>
            </a:pPr>
            <a:r>
              <a:rPr lang="en-US" sz="1050" dirty="0">
                <a:solidFill>
                  <a:srgbClr val="15213F"/>
                </a:solidFill>
                <a:latin typeface="Roboto" pitchFamily="34" charset="0"/>
                <a:ea typeface="Roboto" pitchFamily="34" charset="-122"/>
                <a:cs typeface="Roboto" pitchFamily="34" charset="-120"/>
              </a:rPr>
              <a:t>SLIDE 10 — CONCLUSION AND FINAL OUTCOMES</a:t>
            </a:r>
            <a:endParaRPr lang="en-US" sz="1050" dirty="0"/>
          </a:p>
        </p:txBody>
      </p:sp>
      <p:sp>
        <p:nvSpPr>
          <p:cNvPr id="4" name="Text 2"/>
          <p:cNvSpPr/>
          <p:nvPr/>
        </p:nvSpPr>
        <p:spPr>
          <a:xfrm>
            <a:off x="661475" y="906906"/>
            <a:ext cx="10868745" cy="531614"/>
          </a:xfrm>
          <a:prstGeom prst="rect">
            <a:avLst/>
          </a:prstGeom>
          <a:noFill/>
          <a:ln/>
        </p:spPr>
        <p:txBody>
          <a:bodyPr wrap="none" lIns="0" tIns="0" rIns="0" bIns="0" rtlCol="0" anchor="t"/>
          <a:lstStyle/>
          <a:p>
            <a:pPr algn="l" indent="0" marL="0">
              <a:lnSpc>
                <a:spcPct val="104000"/>
              </a:lnSpc>
              <a:buNone/>
            </a:pPr>
            <a:r>
              <a:rPr lang="en-US" sz="3300" dirty="0">
                <a:solidFill>
                  <a:srgbClr val="3257B8"/>
                </a:solidFill>
                <a:latin typeface="Roboto Slab" pitchFamily="34" charset="0"/>
                <a:ea typeface="Roboto Slab" pitchFamily="34" charset="-122"/>
                <a:cs typeface="Roboto Slab" pitchFamily="34" charset="-120"/>
              </a:rPr>
              <a:t>Conclusion and Final Outcomes</a:t>
            </a:r>
            <a:endParaRPr lang="en-US" sz="3300" dirty="0"/>
          </a:p>
        </p:txBody>
      </p:sp>
      <p:sp>
        <p:nvSpPr>
          <p:cNvPr id="5" name="Text 3"/>
          <p:cNvSpPr/>
          <p:nvPr/>
        </p:nvSpPr>
        <p:spPr>
          <a:xfrm>
            <a:off x="661475" y="1635919"/>
            <a:ext cx="11478330" cy="258564"/>
          </a:xfrm>
          <a:prstGeom prst="rect">
            <a:avLst/>
          </a:prstGeom>
          <a:noFill/>
          <a:ln/>
        </p:spPr>
        <p:txBody>
          <a:bodyPr wrap="none" lIns="0" tIns="0" rIns="0" bIns="0" rtlCol="0" anchor="t"/>
          <a:lstStyle/>
          <a:p>
            <a:pPr algn="l" indent="0" marL="0">
              <a:lnSpc>
                <a:spcPct val="127000"/>
              </a:lnSpc>
              <a:buNone/>
            </a:pPr>
            <a:r>
              <a:rPr lang="en-US" sz="1300" dirty="0">
                <a:solidFill>
                  <a:srgbClr val="15213F"/>
                </a:solidFill>
                <a:latin typeface="Roboto" pitchFamily="34" charset="0"/>
                <a:ea typeface="Roboto" pitchFamily="34" charset="-122"/>
                <a:cs typeface="Roboto" pitchFamily="34" charset="-120"/>
              </a:rPr>
              <a:t>This project delivers a practical AI/NLP workflow for semantic search and document analytics.</a:t>
            </a:r>
            <a:endParaRPr lang="en-US" sz="1300" dirty="0"/>
          </a:p>
        </p:txBody>
      </p:sp>
      <p:sp>
        <p:nvSpPr>
          <p:cNvPr id="6" name="Text 4"/>
          <p:cNvSpPr/>
          <p:nvPr/>
        </p:nvSpPr>
        <p:spPr>
          <a:xfrm>
            <a:off x="661475" y="2235918"/>
            <a:ext cx="5226911" cy="265708"/>
          </a:xfrm>
          <a:prstGeom prst="rect">
            <a:avLst/>
          </a:prstGeom>
          <a:noFill/>
          <a:ln/>
        </p:spPr>
        <p:txBody>
          <a:bodyPr wrap="none" lIns="0" tIns="0" rIns="0" bIns="0" rtlCol="0" anchor="t"/>
          <a:lstStyle/>
          <a:p>
            <a:pPr algn="l" indent="0" marL="0">
              <a:lnSpc>
                <a:spcPct val="104000"/>
              </a:lnSpc>
              <a:buNone/>
            </a:pPr>
            <a:r>
              <a:rPr lang="en-US" sz="1650" dirty="0">
                <a:solidFill>
                  <a:srgbClr val="3257B8"/>
                </a:solidFill>
                <a:latin typeface="Roboto Slab" pitchFamily="34" charset="0"/>
                <a:ea typeface="Roboto Slab" pitchFamily="34" charset="-122"/>
                <a:cs typeface="Roboto Slab" pitchFamily="34" charset="-120"/>
              </a:rPr>
              <a:t>Key Outcomes</a:t>
            </a:r>
            <a:endParaRPr lang="en-US" sz="165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657773"/>
            <a:ext cx="5226911" cy="1055588"/>
          </a:xfrm>
          <a:prstGeom prst="rect">
            <a:avLst/>
          </a:prstGeom>
        </p:spPr>
      </p:pic>
      <p:sp>
        <p:nvSpPr>
          <p:cNvPr id="8" name="Text 5"/>
          <p:cNvSpPr/>
          <p:nvPr/>
        </p:nvSpPr>
        <p:spPr>
          <a:xfrm>
            <a:off x="926779" y="2846884"/>
            <a:ext cx="4772501" cy="265708"/>
          </a:xfrm>
          <a:prstGeom prst="rect">
            <a:avLst/>
          </a:prstGeom>
          <a:noFill/>
          <a:ln/>
        </p:spPr>
        <p:txBody>
          <a:bodyPr wrap="none" lIns="0" tIns="0" rIns="0" bIns="0" rtlCol="0" anchor="t"/>
          <a:lstStyle/>
          <a:p>
            <a:pPr algn="l" indent="0" marL="0">
              <a:lnSpc>
                <a:spcPct val="104000"/>
              </a:lnSpc>
              <a:buNone/>
            </a:pPr>
            <a:r>
              <a:rPr lang="en-US" sz="1650" dirty="0">
                <a:solidFill>
                  <a:srgbClr val="15213F"/>
                </a:solidFill>
                <a:latin typeface="Roboto Slab" pitchFamily="34" charset="0"/>
                <a:ea typeface="Roboto Slab" pitchFamily="34" charset="-122"/>
                <a:cs typeface="Roboto Slab" pitchFamily="34" charset="-120"/>
              </a:rPr>
              <a:t>Semantic search</a:t>
            </a:r>
            <a:endParaRPr lang="en-US" sz="1650" dirty="0"/>
          </a:p>
        </p:txBody>
      </p:sp>
      <p:sp>
        <p:nvSpPr>
          <p:cNvPr id="9" name="Text 6"/>
          <p:cNvSpPr/>
          <p:nvPr/>
        </p:nvSpPr>
        <p:spPr>
          <a:xfrm>
            <a:off x="926779" y="3265686"/>
            <a:ext cx="4772501" cy="258564"/>
          </a:xfrm>
          <a:prstGeom prst="rect">
            <a:avLst/>
          </a:prstGeom>
          <a:noFill/>
          <a:ln/>
        </p:spPr>
        <p:txBody>
          <a:bodyPr wrap="none" lIns="0" tIns="0" rIns="0" bIns="0" rtlCol="0" anchor="t"/>
          <a:lstStyle/>
          <a:p>
            <a:pPr algn="l" indent="0" marL="0">
              <a:lnSpc>
                <a:spcPct val="127000"/>
              </a:lnSpc>
              <a:buNone/>
            </a:pPr>
            <a:r>
              <a:rPr lang="en-US" sz="1300" dirty="0">
                <a:solidFill>
                  <a:srgbClr val="15213F"/>
                </a:solidFill>
                <a:latin typeface="Roboto" pitchFamily="34" charset="0"/>
                <a:ea typeface="Roboto" pitchFamily="34" charset="-122"/>
                <a:cs typeface="Roboto" pitchFamily="34" charset="-120"/>
              </a:rPr>
              <a:t>Finds relevant information beyond keyword matching.</a:t>
            </a:r>
            <a:endParaRPr lang="en-US" sz="1300" dirty="0"/>
          </a:p>
        </p:txBody>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1475" y="3866455"/>
            <a:ext cx="5226911" cy="1055588"/>
          </a:xfrm>
          <a:prstGeom prst="rect">
            <a:avLst/>
          </a:prstGeom>
        </p:spPr>
      </p:pic>
      <p:sp>
        <p:nvSpPr>
          <p:cNvPr id="11" name="Text 7"/>
          <p:cNvSpPr/>
          <p:nvPr/>
        </p:nvSpPr>
        <p:spPr>
          <a:xfrm>
            <a:off x="926779" y="4055566"/>
            <a:ext cx="4772501" cy="265708"/>
          </a:xfrm>
          <a:prstGeom prst="rect">
            <a:avLst/>
          </a:prstGeom>
          <a:noFill/>
          <a:ln/>
        </p:spPr>
        <p:txBody>
          <a:bodyPr wrap="none" lIns="0" tIns="0" rIns="0" bIns="0" rtlCol="0" anchor="t"/>
          <a:lstStyle/>
          <a:p>
            <a:pPr algn="l" indent="0" marL="0">
              <a:lnSpc>
                <a:spcPct val="104000"/>
              </a:lnSpc>
              <a:buNone/>
            </a:pPr>
            <a:r>
              <a:rPr lang="en-US" sz="1650" dirty="0">
                <a:solidFill>
                  <a:srgbClr val="15213F"/>
                </a:solidFill>
                <a:latin typeface="Roboto Slab" pitchFamily="34" charset="0"/>
                <a:ea typeface="Roboto Slab" pitchFamily="34" charset="-122"/>
                <a:cs typeface="Roboto Slab" pitchFamily="34" charset="-120"/>
              </a:rPr>
              <a:t>Document analytics</a:t>
            </a:r>
            <a:endParaRPr lang="en-US" sz="1650" dirty="0"/>
          </a:p>
        </p:txBody>
      </p:sp>
      <p:sp>
        <p:nvSpPr>
          <p:cNvPr id="12" name="Text 8"/>
          <p:cNvSpPr/>
          <p:nvPr/>
        </p:nvSpPr>
        <p:spPr>
          <a:xfrm>
            <a:off x="926779" y="4474369"/>
            <a:ext cx="4772501" cy="258564"/>
          </a:xfrm>
          <a:prstGeom prst="rect">
            <a:avLst/>
          </a:prstGeom>
          <a:noFill/>
          <a:ln/>
        </p:spPr>
        <p:txBody>
          <a:bodyPr wrap="none" lIns="0" tIns="0" rIns="0" bIns="0" rtlCol="0" anchor="t"/>
          <a:lstStyle/>
          <a:p>
            <a:pPr algn="l" indent="0" marL="0">
              <a:lnSpc>
                <a:spcPct val="127000"/>
              </a:lnSpc>
              <a:buNone/>
            </a:pPr>
            <a:r>
              <a:rPr lang="en-US" sz="1300" dirty="0">
                <a:solidFill>
                  <a:srgbClr val="15213F"/>
                </a:solidFill>
                <a:latin typeface="Roboto" pitchFamily="34" charset="0"/>
                <a:ea typeface="Roboto" pitchFamily="34" charset="-122"/>
                <a:cs typeface="Roboto" pitchFamily="34" charset="-120"/>
              </a:rPr>
              <a:t>Extracts useful insights from the collection.</a:t>
            </a:r>
            <a:endParaRPr lang="en-US" sz="1300" dirty="0"/>
          </a:p>
        </p:txBody>
      </p:sp>
      <p:pic>
        <p:nvPicPr>
          <p:cNvPr id="1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5075138"/>
            <a:ext cx="5226911" cy="1055588"/>
          </a:xfrm>
          <a:prstGeom prst="rect">
            <a:avLst/>
          </a:prstGeom>
        </p:spPr>
      </p:pic>
      <p:sp>
        <p:nvSpPr>
          <p:cNvPr id="14" name="Text 9"/>
          <p:cNvSpPr/>
          <p:nvPr/>
        </p:nvSpPr>
        <p:spPr>
          <a:xfrm>
            <a:off x="926779" y="5264249"/>
            <a:ext cx="4772501" cy="265708"/>
          </a:xfrm>
          <a:prstGeom prst="rect">
            <a:avLst/>
          </a:prstGeom>
          <a:noFill/>
          <a:ln/>
        </p:spPr>
        <p:txBody>
          <a:bodyPr wrap="none" lIns="0" tIns="0" rIns="0" bIns="0" rtlCol="0" anchor="t"/>
          <a:lstStyle/>
          <a:p>
            <a:pPr algn="l" indent="0" marL="0">
              <a:lnSpc>
                <a:spcPct val="104000"/>
              </a:lnSpc>
              <a:buNone/>
            </a:pPr>
            <a:r>
              <a:rPr lang="en-US" sz="1650" dirty="0">
                <a:solidFill>
                  <a:srgbClr val="15213F"/>
                </a:solidFill>
                <a:latin typeface="Roboto Slab" pitchFamily="34" charset="0"/>
                <a:ea typeface="Roboto Slab" pitchFamily="34" charset="-122"/>
                <a:cs typeface="Roboto Slab" pitchFamily="34" charset="-120"/>
              </a:rPr>
              <a:t>Scalable workflow</a:t>
            </a:r>
            <a:endParaRPr lang="en-US" sz="1650" dirty="0"/>
          </a:p>
        </p:txBody>
      </p:sp>
      <p:sp>
        <p:nvSpPr>
          <p:cNvPr id="15" name="Text 10"/>
          <p:cNvSpPr/>
          <p:nvPr/>
        </p:nvSpPr>
        <p:spPr>
          <a:xfrm>
            <a:off x="926779" y="5683052"/>
            <a:ext cx="4772501" cy="258564"/>
          </a:xfrm>
          <a:prstGeom prst="rect">
            <a:avLst/>
          </a:prstGeom>
          <a:noFill/>
          <a:ln/>
        </p:spPr>
        <p:txBody>
          <a:bodyPr wrap="none" lIns="0" tIns="0" rIns="0" bIns="0" rtlCol="0" anchor="t"/>
          <a:lstStyle/>
          <a:p>
            <a:pPr algn="l" indent="0" marL="0">
              <a:lnSpc>
                <a:spcPct val="127000"/>
              </a:lnSpc>
              <a:buNone/>
            </a:pPr>
            <a:r>
              <a:rPr lang="en-US" sz="1300" dirty="0">
                <a:solidFill>
                  <a:srgbClr val="15213F"/>
                </a:solidFill>
                <a:latin typeface="Roboto" pitchFamily="34" charset="0"/>
                <a:ea typeface="Roboto" pitchFamily="34" charset="-122"/>
                <a:cs typeface="Roboto" pitchFamily="34" charset="-120"/>
              </a:rPr>
              <a:t>Designed to handle growing document sets.</a:t>
            </a:r>
            <a:endParaRPr lang="en-US" sz="1300" dirty="0"/>
          </a:p>
        </p:txBody>
      </p:sp>
      <p:sp>
        <p:nvSpPr>
          <p:cNvPr id="16" name="Text 11"/>
          <p:cNvSpPr/>
          <p:nvPr/>
        </p:nvSpPr>
        <p:spPr>
          <a:xfrm>
            <a:off x="6309659" y="2235918"/>
            <a:ext cx="5226911" cy="265708"/>
          </a:xfrm>
          <a:prstGeom prst="rect">
            <a:avLst/>
          </a:prstGeom>
          <a:noFill/>
          <a:ln/>
        </p:spPr>
        <p:txBody>
          <a:bodyPr wrap="none" lIns="0" tIns="0" rIns="0" bIns="0" rtlCol="0" anchor="t"/>
          <a:lstStyle/>
          <a:p>
            <a:pPr algn="l" indent="0" marL="0">
              <a:lnSpc>
                <a:spcPct val="104000"/>
              </a:lnSpc>
              <a:buNone/>
            </a:pPr>
            <a:r>
              <a:rPr lang="en-US" sz="1650" dirty="0">
                <a:solidFill>
                  <a:srgbClr val="3257B8"/>
                </a:solidFill>
                <a:latin typeface="Roboto Slab" pitchFamily="34" charset="0"/>
                <a:ea typeface="Roboto Slab" pitchFamily="34" charset="-122"/>
                <a:cs typeface="Roboto Slab" pitchFamily="34" charset="-120"/>
              </a:rPr>
              <a:t>Strongest Contribution</a:t>
            </a:r>
            <a:endParaRPr lang="en-US" sz="1650" dirty="0"/>
          </a:p>
        </p:txBody>
      </p:sp>
      <p:sp>
        <p:nvSpPr>
          <p:cNvPr id="17" name="Text 12"/>
          <p:cNvSpPr/>
          <p:nvPr/>
        </p:nvSpPr>
        <p:spPr>
          <a:xfrm>
            <a:off x="6564744" y="2795488"/>
            <a:ext cx="4971826" cy="517128"/>
          </a:xfrm>
          <a:prstGeom prst="rect">
            <a:avLst/>
          </a:prstGeom>
          <a:noFill/>
          <a:ln/>
        </p:spPr>
        <p:txBody>
          <a:bodyPr wrap="square" lIns="0" tIns="0" rIns="0" bIns="0" rtlCol="0" anchor="t">
            <a:normAutofit/>
          </a:bodyPr>
          <a:lstStyle/>
          <a:p>
            <a:pPr algn="ctr" indent="0" marL="0">
              <a:lnSpc>
                <a:spcPct val="127000"/>
              </a:lnSpc>
              <a:buNone/>
            </a:pPr>
            <a:r>
              <a:rPr lang="en-US" sz="1300" b="1" dirty="0">
                <a:solidFill>
                  <a:srgbClr val="15213F"/>
                </a:solidFill>
                <a:latin typeface="Roboto Bold" pitchFamily="34" charset="0"/>
                <a:ea typeface="Roboto Bold" pitchFamily="34" charset="-122"/>
                <a:cs typeface="Roboto Bold" pitchFamily="34" charset="-120"/>
              </a:rPr>
              <a:t>Embeddings and vector similarity combined with analytics in one workflow.</a:t>
            </a:r>
            <a:endParaRPr lang="en-US" sz="1300" dirty="0"/>
          </a:p>
        </p:txBody>
      </p:sp>
      <p:sp>
        <p:nvSpPr>
          <p:cNvPr id="18" name="Shape 13"/>
          <p:cNvSpPr/>
          <p:nvPr/>
        </p:nvSpPr>
        <p:spPr>
          <a:xfrm>
            <a:off x="6309659" y="2657773"/>
            <a:ext cx="19050" cy="792559"/>
          </a:xfrm>
          <a:prstGeom prst="roundRect">
            <a:avLst>
              <a:gd name="adj" fmla="val 49999"/>
            </a:avLst>
          </a:prstGeom>
          <a:solidFill>
            <a:srgbClr val="3257B8"/>
          </a:solidFill>
          <a:ln/>
        </p:spPr>
      </p:sp>
      <p:sp>
        <p:nvSpPr>
          <p:cNvPr id="19" name="Text 14"/>
          <p:cNvSpPr/>
          <p:nvPr/>
        </p:nvSpPr>
        <p:spPr>
          <a:xfrm>
            <a:off x="6309659" y="3638672"/>
            <a:ext cx="5226911" cy="265708"/>
          </a:xfrm>
          <a:prstGeom prst="rect">
            <a:avLst/>
          </a:prstGeom>
          <a:noFill/>
          <a:ln/>
        </p:spPr>
        <p:txBody>
          <a:bodyPr wrap="none" lIns="0" tIns="0" rIns="0" bIns="0" rtlCol="0" anchor="t"/>
          <a:lstStyle/>
          <a:p>
            <a:pPr algn="l" indent="0" marL="0">
              <a:lnSpc>
                <a:spcPct val="104000"/>
              </a:lnSpc>
              <a:buNone/>
            </a:pPr>
            <a:r>
              <a:rPr lang="en-US" sz="1650" dirty="0">
                <a:solidFill>
                  <a:srgbClr val="3257B8"/>
                </a:solidFill>
                <a:latin typeface="Roboto Slab" pitchFamily="34" charset="0"/>
                <a:ea typeface="Roboto Slab" pitchFamily="34" charset="-122"/>
                <a:cs typeface="Roboto Slab" pitchFamily="34" charset="-120"/>
              </a:rPr>
              <a:t>Practical Use Case</a:t>
            </a:r>
            <a:endParaRPr lang="en-US" sz="1650" dirty="0"/>
          </a:p>
        </p:txBody>
      </p:sp>
      <p:sp>
        <p:nvSpPr>
          <p:cNvPr id="20" name="Shape 15"/>
          <p:cNvSpPr/>
          <p:nvPr/>
        </p:nvSpPr>
        <p:spPr>
          <a:xfrm>
            <a:off x="6309659" y="4060527"/>
            <a:ext cx="5226911" cy="877491"/>
          </a:xfrm>
          <a:prstGeom prst="roundRect">
            <a:avLst>
              <a:gd name="adj" fmla="val 2908"/>
            </a:avLst>
          </a:prstGeom>
          <a:solidFill>
            <a:srgbClr val="D7DFF4"/>
          </a:solidFill>
          <a:ln/>
        </p:spPr>
      </p:sp>
      <p:pic>
        <p:nvPicPr>
          <p:cNvPr id="21" name="Image 3" descr="preencoded.png">    </p:cNvPr>
          <p:cNvPicPr>
            <a:picLocks noChangeAspect="1"/>
          </p:cNvPicPr>
          <p:nvPr/>
        </p:nvPicPr>
        <p:blipFill>
          <a:blip r:embed="rId7"/>
          <a:stretch>
            <a:fillRect/>
          </a:stretch>
        </p:blipFill>
        <p:spPr>
          <a:xfrm>
            <a:off x="6479715" y="4291409"/>
            <a:ext cx="212620" cy="170061"/>
          </a:xfrm>
          <a:prstGeom prst="rect">
            <a:avLst/>
          </a:prstGeom>
        </p:spPr>
      </p:pic>
      <p:sp>
        <p:nvSpPr>
          <p:cNvPr id="22" name="Text 16"/>
          <p:cNvSpPr/>
          <p:nvPr/>
        </p:nvSpPr>
        <p:spPr>
          <a:xfrm>
            <a:off x="6862392" y="4240709"/>
            <a:ext cx="4504121" cy="517128"/>
          </a:xfrm>
          <a:prstGeom prst="rect">
            <a:avLst/>
          </a:prstGeom>
          <a:noFill/>
          <a:ln/>
        </p:spPr>
        <p:txBody>
          <a:bodyPr wrap="square" lIns="0" tIns="0" rIns="0" bIns="0" rtlCol="0" anchor="t">
            <a:normAutofit/>
          </a:bodyPr>
          <a:lstStyle/>
          <a:p>
            <a:pPr algn="l" indent="0" marL="0">
              <a:lnSpc>
                <a:spcPct val="127000"/>
              </a:lnSpc>
              <a:buNone/>
            </a:pPr>
            <a:r>
              <a:rPr lang="en-US" sz="1300" dirty="0">
                <a:solidFill>
                  <a:srgbClr val="000000"/>
                </a:solidFill>
                <a:latin typeface="Roboto" pitchFamily="34" charset="0"/>
                <a:ea typeface="Roboto" pitchFamily="34" charset="-122"/>
                <a:cs typeface="Roboto" pitchFamily="34" charset="-120"/>
              </a:rPr>
              <a:t>Best suited for research and academic document discovery.</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661475" y="548779"/>
            <a:ext cx="2192580" cy="177899"/>
          </a:xfrm>
          <a:prstGeom prst="roundRect">
            <a:avLst>
              <a:gd name="adj" fmla="val 7899"/>
            </a:avLst>
          </a:prstGeom>
          <a:solidFill>
            <a:srgbClr val="D7DFF4"/>
          </a:solidFill>
          <a:ln/>
        </p:spPr>
      </p:sp>
      <p:sp>
        <p:nvSpPr>
          <p:cNvPr id="3" name="Text 1"/>
          <p:cNvSpPr/>
          <p:nvPr/>
        </p:nvSpPr>
        <p:spPr>
          <a:xfrm>
            <a:off x="731720" y="586766"/>
            <a:ext cx="2661675" cy="107652"/>
          </a:xfrm>
          <a:prstGeom prst="rect">
            <a:avLst/>
          </a:prstGeom>
          <a:noFill/>
          <a:ln/>
        </p:spPr>
        <p:txBody>
          <a:bodyPr wrap="none" lIns="0" tIns="0" rIns="0" bIns="0" rtlCol="0" anchor="t"/>
          <a:lstStyle/>
          <a:p>
            <a:pPr algn="l" indent="0" marL="0">
              <a:lnSpc>
                <a:spcPct val="96000"/>
              </a:lnSpc>
              <a:buNone/>
            </a:pPr>
            <a:r>
              <a:rPr lang="en-US" sz="700" dirty="0">
                <a:solidFill>
                  <a:srgbClr val="15213F"/>
                </a:solidFill>
                <a:latin typeface="Roboto" pitchFamily="34" charset="0"/>
                <a:ea typeface="Roboto" pitchFamily="34" charset="-122"/>
                <a:cs typeface="Roboto" pitchFamily="34" charset="-120"/>
              </a:rPr>
              <a:t>SLIDE 11 — OVERALL CONTRIBUTION SUMMARY</a:t>
            </a:r>
            <a:endParaRPr lang="en-US" sz="700" dirty="0"/>
          </a:p>
        </p:txBody>
      </p:sp>
      <p:sp>
        <p:nvSpPr>
          <p:cNvPr id="4" name="Text 2"/>
          <p:cNvSpPr/>
          <p:nvPr/>
        </p:nvSpPr>
        <p:spPr>
          <a:xfrm>
            <a:off x="661475" y="778461"/>
            <a:ext cx="10868745" cy="365919"/>
          </a:xfrm>
          <a:prstGeom prst="rect">
            <a:avLst/>
          </a:prstGeom>
          <a:noFill/>
          <a:ln/>
        </p:spPr>
        <p:txBody>
          <a:bodyPr wrap="none" lIns="0" tIns="0" rIns="0" bIns="0" rtlCol="0" anchor="t"/>
          <a:lstStyle/>
          <a:p>
            <a:pPr algn="l" indent="0" marL="0">
              <a:lnSpc>
                <a:spcPct val="104000"/>
              </a:lnSpc>
              <a:buNone/>
            </a:pPr>
            <a:r>
              <a:rPr lang="en-US" sz="2300" dirty="0">
                <a:solidFill>
                  <a:srgbClr val="3257B8"/>
                </a:solidFill>
                <a:latin typeface="Roboto Slab" pitchFamily="34" charset="0"/>
                <a:ea typeface="Roboto Slab" pitchFamily="34" charset="-122"/>
                <a:cs typeface="Roboto Slab" pitchFamily="34" charset="-120"/>
              </a:rPr>
              <a:t>Key Takeaways and Next Steps</a:t>
            </a:r>
            <a:endParaRPr lang="en-US" sz="2300" dirty="0"/>
          </a:p>
        </p:txBody>
      </p:sp>
      <p:sp>
        <p:nvSpPr>
          <p:cNvPr id="5" name="Text 3"/>
          <p:cNvSpPr/>
          <p:nvPr/>
        </p:nvSpPr>
        <p:spPr>
          <a:xfrm>
            <a:off x="661475" y="1169425"/>
            <a:ext cx="10868745" cy="292795"/>
          </a:xfrm>
          <a:prstGeom prst="rect">
            <a:avLst/>
          </a:prstGeom>
          <a:noFill/>
          <a:ln/>
        </p:spPr>
        <p:txBody>
          <a:bodyPr wrap="none" lIns="0" tIns="0" rIns="0" bIns="0" rtlCol="0" anchor="t"/>
          <a:lstStyle/>
          <a:p>
            <a:pPr algn="l" indent="0" marL="0">
              <a:lnSpc>
                <a:spcPct val="104000"/>
              </a:lnSpc>
              <a:buNone/>
            </a:pPr>
            <a:r>
              <a:rPr lang="en-US" sz="1800" dirty="0">
                <a:solidFill>
                  <a:srgbClr val="3257B8"/>
                </a:solidFill>
                <a:latin typeface="Roboto Slab" pitchFamily="34" charset="0"/>
                <a:ea typeface="Roboto Slab" pitchFamily="34" charset="-122"/>
                <a:cs typeface="Roboto Slab" pitchFamily="34" charset="-120"/>
              </a:rPr>
              <a:t>Key Takeaways</a:t>
            </a:r>
            <a:endParaRPr lang="en-US" sz="1800" dirty="0"/>
          </a:p>
        </p:txBody>
      </p:sp>
      <p:sp>
        <p:nvSpPr>
          <p:cNvPr id="6" name="Shape 4"/>
          <p:cNvSpPr/>
          <p:nvPr/>
        </p:nvSpPr>
        <p:spPr>
          <a:xfrm>
            <a:off x="661475" y="1616472"/>
            <a:ext cx="58538" cy="58539"/>
          </a:xfrm>
          <a:prstGeom prst="ellipse">
            <a:avLst/>
          </a:prstGeom>
          <a:solidFill>
            <a:srgbClr val="476FD6"/>
          </a:solidFill>
          <a:ln/>
        </p:spPr>
      </p:sp>
      <p:sp>
        <p:nvSpPr>
          <p:cNvPr id="7" name="Text 5"/>
          <p:cNvSpPr/>
          <p:nvPr/>
        </p:nvSpPr>
        <p:spPr>
          <a:xfrm>
            <a:off x="792540" y="1552079"/>
            <a:ext cx="5257966" cy="151606"/>
          </a:xfrm>
          <a:prstGeom prst="rect">
            <a:avLst/>
          </a:prstGeom>
          <a:noFill/>
          <a:ln/>
        </p:spPr>
        <p:txBody>
          <a:bodyPr wrap="none" lIns="0" tIns="0" rIns="0" bIns="0" rtlCol="0" anchor="t"/>
          <a:lstStyle/>
          <a:p>
            <a:pPr algn="l" indent="0" marL="0">
              <a:lnSpc>
                <a:spcPct val="108000"/>
              </a:lnSpc>
              <a:buNone/>
            </a:pPr>
            <a:r>
              <a:rPr lang="en-US" sz="900" dirty="0">
                <a:solidFill>
                  <a:srgbClr val="15213F"/>
                </a:solidFill>
                <a:latin typeface="Roboto" pitchFamily="34" charset="0"/>
                <a:ea typeface="Roboto" pitchFamily="34" charset="-122"/>
                <a:cs typeface="Roboto" pitchFamily="34" charset="-120"/>
              </a:rPr>
              <a:t>Semantic search improves document retrieval.</a:t>
            </a:r>
            <a:endParaRPr lang="en-US" sz="900" dirty="0"/>
          </a:p>
        </p:txBody>
      </p:sp>
      <p:sp>
        <p:nvSpPr>
          <p:cNvPr id="8" name="Shape 6"/>
          <p:cNvSpPr/>
          <p:nvPr/>
        </p:nvSpPr>
        <p:spPr>
          <a:xfrm>
            <a:off x="6141189" y="1616174"/>
            <a:ext cx="58538" cy="58539"/>
          </a:xfrm>
          <a:prstGeom prst="ellipse">
            <a:avLst/>
          </a:prstGeom>
          <a:solidFill>
            <a:srgbClr val="476FD6"/>
          </a:solidFill>
          <a:ln/>
        </p:spPr>
      </p:sp>
      <p:sp>
        <p:nvSpPr>
          <p:cNvPr id="9" name="Text 7"/>
          <p:cNvSpPr/>
          <p:nvPr/>
        </p:nvSpPr>
        <p:spPr>
          <a:xfrm>
            <a:off x="6272254" y="1552079"/>
            <a:ext cx="5257966" cy="151606"/>
          </a:xfrm>
          <a:prstGeom prst="rect">
            <a:avLst/>
          </a:prstGeom>
          <a:noFill/>
          <a:ln/>
        </p:spPr>
        <p:txBody>
          <a:bodyPr wrap="none" lIns="0" tIns="0" rIns="0" bIns="0" rtlCol="0" anchor="t"/>
          <a:lstStyle/>
          <a:p>
            <a:pPr algn="l" indent="0" marL="0">
              <a:lnSpc>
                <a:spcPct val="108000"/>
              </a:lnSpc>
              <a:buNone/>
            </a:pPr>
            <a:r>
              <a:rPr lang="en-US" sz="900" dirty="0">
                <a:solidFill>
                  <a:srgbClr val="15213F"/>
                </a:solidFill>
                <a:latin typeface="Roboto" pitchFamily="34" charset="0"/>
                <a:ea typeface="Roboto" pitchFamily="34" charset="-122"/>
                <a:cs typeface="Roboto" pitchFamily="34" charset="-120"/>
              </a:rPr>
              <a:t>Search plus analytics delivers actionable insights.</a:t>
            </a:r>
            <a:endParaRPr lang="en-US" sz="900" dirty="0"/>
          </a:p>
        </p:txBody>
      </p:sp>
      <p:sp>
        <p:nvSpPr>
          <p:cNvPr id="10" name="Shape 8"/>
          <p:cNvSpPr/>
          <p:nvPr/>
        </p:nvSpPr>
        <p:spPr>
          <a:xfrm>
            <a:off x="661475" y="1913434"/>
            <a:ext cx="58538" cy="58539"/>
          </a:xfrm>
          <a:prstGeom prst="ellipse">
            <a:avLst/>
          </a:prstGeom>
          <a:solidFill>
            <a:srgbClr val="476FD6"/>
          </a:solidFill>
          <a:ln/>
        </p:spPr>
      </p:sp>
      <p:sp>
        <p:nvSpPr>
          <p:cNvPr id="11" name="Text 9"/>
          <p:cNvSpPr/>
          <p:nvPr/>
        </p:nvSpPr>
        <p:spPr>
          <a:xfrm>
            <a:off x="792540" y="1848743"/>
            <a:ext cx="10737681" cy="151606"/>
          </a:xfrm>
          <a:prstGeom prst="rect">
            <a:avLst/>
          </a:prstGeom>
          <a:noFill/>
          <a:ln/>
        </p:spPr>
        <p:txBody>
          <a:bodyPr wrap="none" lIns="0" tIns="0" rIns="0" bIns="0" rtlCol="0" anchor="t"/>
          <a:lstStyle/>
          <a:p>
            <a:pPr algn="l" indent="0" marL="0">
              <a:lnSpc>
                <a:spcPct val="108000"/>
              </a:lnSpc>
              <a:buNone/>
            </a:pPr>
            <a:r>
              <a:rPr lang="en-US" sz="900" dirty="0">
                <a:solidFill>
                  <a:srgbClr val="15213F"/>
                </a:solidFill>
                <a:latin typeface="Roboto" pitchFamily="34" charset="0"/>
                <a:ea typeface="Roboto" pitchFamily="34" charset="-122"/>
                <a:cs typeface="Roboto" pitchFamily="34" charset="-120"/>
              </a:rPr>
              <a:t>The system is practical, scalable, and deployment-ready.</a:t>
            </a:r>
            <a:endParaRPr lang="en-US" sz="900" dirty="0"/>
          </a:p>
        </p:txBody>
      </p:sp>
      <p:sp>
        <p:nvSpPr>
          <p:cNvPr id="12" name="Text 10"/>
          <p:cNvSpPr/>
          <p:nvPr/>
        </p:nvSpPr>
        <p:spPr>
          <a:xfrm>
            <a:off x="661475" y="2127977"/>
            <a:ext cx="10868745" cy="292795"/>
          </a:xfrm>
          <a:prstGeom prst="rect">
            <a:avLst/>
          </a:prstGeom>
          <a:noFill/>
          <a:ln/>
        </p:spPr>
        <p:txBody>
          <a:bodyPr wrap="none" lIns="0" tIns="0" rIns="0" bIns="0" rtlCol="0" anchor="t"/>
          <a:lstStyle/>
          <a:p>
            <a:pPr algn="l" indent="0" marL="0">
              <a:lnSpc>
                <a:spcPct val="104000"/>
              </a:lnSpc>
              <a:buNone/>
            </a:pPr>
            <a:r>
              <a:rPr lang="en-US" sz="1800" dirty="0">
                <a:solidFill>
                  <a:srgbClr val="3257B8"/>
                </a:solidFill>
                <a:latin typeface="Roboto Slab" pitchFamily="34" charset="0"/>
                <a:ea typeface="Roboto Slab" pitchFamily="34" charset="-122"/>
                <a:cs typeface="Roboto Slab" pitchFamily="34" charset="-120"/>
              </a:rPr>
              <a:t>What Makes This Project Strong</a:t>
            </a:r>
            <a:endParaRPr lang="en-US" sz="1800" dirty="0"/>
          </a:p>
        </p:txBody>
      </p:sp>
      <p:sp>
        <p:nvSpPr>
          <p:cNvPr id="13" name="Shape 11"/>
          <p:cNvSpPr/>
          <p:nvPr/>
        </p:nvSpPr>
        <p:spPr>
          <a:xfrm>
            <a:off x="661475" y="2511227"/>
            <a:ext cx="3574564" cy="637480"/>
          </a:xfrm>
          <a:prstGeom prst="roundRect">
            <a:avLst>
              <a:gd name="adj" fmla="val 2755"/>
            </a:avLst>
          </a:prstGeom>
          <a:solidFill>
            <a:srgbClr val="FBFCFE"/>
          </a:solidFill>
          <a:ln w="12700">
            <a:solidFill>
              <a:srgbClr val="CFD2D8"/>
            </a:solidFill>
            <a:prstDash val="solid"/>
          </a:ln>
        </p:spPr>
      </p:sp>
      <p:sp>
        <p:nvSpPr>
          <p:cNvPr id="14" name="Text 12"/>
          <p:cNvSpPr/>
          <p:nvPr/>
        </p:nvSpPr>
        <p:spPr>
          <a:xfrm>
            <a:off x="791250" y="2640409"/>
            <a:ext cx="3315014" cy="182860"/>
          </a:xfrm>
          <a:prstGeom prst="rect">
            <a:avLst/>
          </a:prstGeom>
          <a:noFill/>
          <a:ln/>
        </p:spPr>
        <p:txBody>
          <a:bodyPr wrap="none" lIns="0" tIns="0" rIns="0" bIns="0" rtlCol="0" anchor="t"/>
          <a:lstStyle/>
          <a:p>
            <a:pPr algn="l" indent="0" marL="0">
              <a:lnSpc>
                <a:spcPct val="104000"/>
              </a:lnSpc>
              <a:buNone/>
            </a:pPr>
            <a:r>
              <a:rPr lang="en-US" sz="1150" dirty="0">
                <a:solidFill>
                  <a:srgbClr val="15213F"/>
                </a:solidFill>
                <a:latin typeface="Roboto Slab" pitchFamily="34" charset="0"/>
                <a:ea typeface="Roboto Slab" pitchFamily="34" charset="-122"/>
                <a:cs typeface="Roboto Slab" pitchFamily="34" charset="-120"/>
              </a:rPr>
              <a:t>Real Problem</a:t>
            </a:r>
            <a:endParaRPr lang="en-US" sz="1150" dirty="0"/>
          </a:p>
        </p:txBody>
      </p:sp>
      <p:sp>
        <p:nvSpPr>
          <p:cNvPr id="15" name="Text 13"/>
          <p:cNvSpPr/>
          <p:nvPr/>
        </p:nvSpPr>
        <p:spPr>
          <a:xfrm>
            <a:off x="791250" y="2866727"/>
            <a:ext cx="3315014" cy="151606"/>
          </a:xfrm>
          <a:prstGeom prst="rect">
            <a:avLst/>
          </a:prstGeom>
          <a:noFill/>
          <a:ln/>
        </p:spPr>
        <p:txBody>
          <a:bodyPr wrap="none" lIns="0" tIns="0" rIns="0" bIns="0" rtlCol="0" anchor="t"/>
          <a:lstStyle/>
          <a:p>
            <a:pPr algn="l" indent="0" marL="0">
              <a:lnSpc>
                <a:spcPct val="108000"/>
              </a:lnSpc>
              <a:buNone/>
            </a:pPr>
            <a:r>
              <a:rPr lang="en-US" sz="900" dirty="0">
                <a:solidFill>
                  <a:srgbClr val="15213F"/>
                </a:solidFill>
                <a:latin typeface="Roboto" pitchFamily="34" charset="0"/>
                <a:ea typeface="Roboto" pitchFamily="34" charset="-122"/>
                <a:cs typeface="Roboto" pitchFamily="34" charset="-120"/>
              </a:rPr>
              <a:t>Solves a genuine need.</a:t>
            </a:r>
            <a:endParaRPr lang="en-US" sz="900" dirty="0"/>
          </a:p>
        </p:txBody>
      </p:sp>
      <p:sp>
        <p:nvSpPr>
          <p:cNvPr id="16" name="Shape 14"/>
          <p:cNvSpPr/>
          <p:nvPr/>
        </p:nvSpPr>
        <p:spPr>
          <a:xfrm>
            <a:off x="4308566" y="2511227"/>
            <a:ext cx="3574564" cy="637480"/>
          </a:xfrm>
          <a:prstGeom prst="roundRect">
            <a:avLst>
              <a:gd name="adj" fmla="val 2755"/>
            </a:avLst>
          </a:prstGeom>
          <a:solidFill>
            <a:srgbClr val="FBFCFE"/>
          </a:solidFill>
          <a:ln w="12700">
            <a:solidFill>
              <a:srgbClr val="CFD2D8"/>
            </a:solidFill>
            <a:prstDash val="solid"/>
          </a:ln>
        </p:spPr>
      </p:sp>
      <p:sp>
        <p:nvSpPr>
          <p:cNvPr id="17" name="Text 15"/>
          <p:cNvSpPr/>
          <p:nvPr/>
        </p:nvSpPr>
        <p:spPr>
          <a:xfrm>
            <a:off x="4438341" y="2640409"/>
            <a:ext cx="3315014" cy="182860"/>
          </a:xfrm>
          <a:prstGeom prst="rect">
            <a:avLst/>
          </a:prstGeom>
          <a:noFill/>
          <a:ln/>
        </p:spPr>
        <p:txBody>
          <a:bodyPr wrap="none" lIns="0" tIns="0" rIns="0" bIns="0" rtlCol="0" anchor="t"/>
          <a:lstStyle/>
          <a:p>
            <a:pPr algn="l" indent="0" marL="0">
              <a:lnSpc>
                <a:spcPct val="104000"/>
              </a:lnSpc>
              <a:buNone/>
            </a:pPr>
            <a:r>
              <a:rPr lang="en-US" sz="1150" dirty="0">
                <a:solidFill>
                  <a:srgbClr val="15213F"/>
                </a:solidFill>
                <a:latin typeface="Roboto Slab" pitchFamily="34" charset="0"/>
                <a:ea typeface="Roboto Slab" pitchFamily="34" charset="-122"/>
                <a:cs typeface="Roboto Slab" pitchFamily="34" charset="-120"/>
              </a:rPr>
              <a:t>Technical Breadth</a:t>
            </a:r>
            <a:endParaRPr lang="en-US" sz="1150" dirty="0"/>
          </a:p>
        </p:txBody>
      </p:sp>
      <p:sp>
        <p:nvSpPr>
          <p:cNvPr id="18" name="Text 16"/>
          <p:cNvSpPr/>
          <p:nvPr/>
        </p:nvSpPr>
        <p:spPr>
          <a:xfrm>
            <a:off x="4438341" y="2866727"/>
            <a:ext cx="3315014" cy="151606"/>
          </a:xfrm>
          <a:prstGeom prst="rect">
            <a:avLst/>
          </a:prstGeom>
          <a:noFill/>
          <a:ln/>
        </p:spPr>
        <p:txBody>
          <a:bodyPr wrap="none" lIns="0" tIns="0" rIns="0" bIns="0" rtlCol="0" anchor="t"/>
          <a:lstStyle/>
          <a:p>
            <a:pPr algn="l" indent="0" marL="0">
              <a:lnSpc>
                <a:spcPct val="108000"/>
              </a:lnSpc>
              <a:buNone/>
            </a:pPr>
            <a:r>
              <a:rPr lang="en-US" sz="900" dirty="0">
                <a:solidFill>
                  <a:srgbClr val="15213F"/>
                </a:solidFill>
                <a:latin typeface="Roboto" pitchFamily="34" charset="0"/>
                <a:ea typeface="Roboto" pitchFamily="34" charset="-122"/>
                <a:cs typeface="Roboto" pitchFamily="34" charset="-120"/>
              </a:rPr>
              <a:t>Covers NLP, backend, frontend, and data.</a:t>
            </a:r>
            <a:endParaRPr lang="en-US" sz="900" dirty="0"/>
          </a:p>
        </p:txBody>
      </p:sp>
      <p:sp>
        <p:nvSpPr>
          <p:cNvPr id="19" name="Shape 17"/>
          <p:cNvSpPr/>
          <p:nvPr/>
        </p:nvSpPr>
        <p:spPr>
          <a:xfrm>
            <a:off x="7955656" y="2511227"/>
            <a:ext cx="3574564" cy="637480"/>
          </a:xfrm>
          <a:prstGeom prst="roundRect">
            <a:avLst>
              <a:gd name="adj" fmla="val 2755"/>
            </a:avLst>
          </a:prstGeom>
          <a:solidFill>
            <a:srgbClr val="FBFCFE"/>
          </a:solidFill>
          <a:ln w="12700">
            <a:solidFill>
              <a:srgbClr val="CFD2D8"/>
            </a:solidFill>
            <a:prstDash val="solid"/>
          </a:ln>
        </p:spPr>
      </p:sp>
      <p:sp>
        <p:nvSpPr>
          <p:cNvPr id="20" name="Text 18"/>
          <p:cNvSpPr/>
          <p:nvPr/>
        </p:nvSpPr>
        <p:spPr>
          <a:xfrm>
            <a:off x="8085431" y="2640409"/>
            <a:ext cx="3315014" cy="182860"/>
          </a:xfrm>
          <a:prstGeom prst="rect">
            <a:avLst/>
          </a:prstGeom>
          <a:noFill/>
          <a:ln/>
        </p:spPr>
        <p:txBody>
          <a:bodyPr wrap="none" lIns="0" tIns="0" rIns="0" bIns="0" rtlCol="0" anchor="t"/>
          <a:lstStyle/>
          <a:p>
            <a:pPr algn="l" indent="0" marL="0">
              <a:lnSpc>
                <a:spcPct val="104000"/>
              </a:lnSpc>
              <a:buNone/>
            </a:pPr>
            <a:r>
              <a:rPr lang="en-US" sz="1150" dirty="0">
                <a:solidFill>
                  <a:srgbClr val="15213F"/>
                </a:solidFill>
                <a:latin typeface="Roboto Slab" pitchFamily="34" charset="0"/>
                <a:ea typeface="Roboto Slab" pitchFamily="34" charset="-122"/>
                <a:cs typeface="Roboto Slab" pitchFamily="34" charset="-120"/>
              </a:rPr>
              <a:t>Working System</a:t>
            </a:r>
            <a:endParaRPr lang="en-US" sz="1150" dirty="0"/>
          </a:p>
        </p:txBody>
      </p:sp>
      <p:sp>
        <p:nvSpPr>
          <p:cNvPr id="21" name="Text 19"/>
          <p:cNvSpPr/>
          <p:nvPr/>
        </p:nvSpPr>
        <p:spPr>
          <a:xfrm>
            <a:off x="8085431" y="2866727"/>
            <a:ext cx="3315014" cy="151606"/>
          </a:xfrm>
          <a:prstGeom prst="rect">
            <a:avLst/>
          </a:prstGeom>
          <a:noFill/>
          <a:ln/>
        </p:spPr>
        <p:txBody>
          <a:bodyPr wrap="none" lIns="0" tIns="0" rIns="0" bIns="0" rtlCol="0" anchor="t"/>
          <a:lstStyle/>
          <a:p>
            <a:pPr algn="l" indent="0" marL="0">
              <a:lnSpc>
                <a:spcPct val="108000"/>
              </a:lnSpc>
              <a:buNone/>
            </a:pPr>
            <a:r>
              <a:rPr lang="en-US" sz="900" dirty="0">
                <a:solidFill>
                  <a:srgbClr val="15213F"/>
                </a:solidFill>
                <a:latin typeface="Roboto" pitchFamily="34" charset="0"/>
                <a:ea typeface="Roboto" pitchFamily="34" charset="-122"/>
                <a:cs typeface="Roboto" pitchFamily="34" charset="-120"/>
              </a:rPr>
              <a:t>End-to-end functionality is in place.</a:t>
            </a:r>
            <a:endParaRPr lang="en-US" sz="900" dirty="0"/>
          </a:p>
        </p:txBody>
      </p:sp>
      <p:sp>
        <p:nvSpPr>
          <p:cNvPr id="22" name="Shape 20"/>
          <p:cNvSpPr/>
          <p:nvPr/>
        </p:nvSpPr>
        <p:spPr>
          <a:xfrm>
            <a:off x="661475" y="3221236"/>
            <a:ext cx="10868745" cy="637480"/>
          </a:xfrm>
          <a:prstGeom prst="roundRect">
            <a:avLst>
              <a:gd name="adj" fmla="val 2755"/>
            </a:avLst>
          </a:prstGeom>
          <a:solidFill>
            <a:srgbClr val="FBFCFE"/>
          </a:solidFill>
          <a:ln w="12700">
            <a:solidFill>
              <a:srgbClr val="CFD2D8"/>
            </a:solidFill>
            <a:prstDash val="solid"/>
          </a:ln>
        </p:spPr>
      </p:sp>
      <p:sp>
        <p:nvSpPr>
          <p:cNvPr id="23" name="Text 21"/>
          <p:cNvSpPr/>
          <p:nvPr/>
        </p:nvSpPr>
        <p:spPr>
          <a:xfrm>
            <a:off x="791250" y="3350419"/>
            <a:ext cx="10609196" cy="182860"/>
          </a:xfrm>
          <a:prstGeom prst="rect">
            <a:avLst/>
          </a:prstGeom>
          <a:noFill/>
          <a:ln/>
        </p:spPr>
        <p:txBody>
          <a:bodyPr wrap="none" lIns="0" tIns="0" rIns="0" bIns="0" rtlCol="0" anchor="t"/>
          <a:lstStyle/>
          <a:p>
            <a:pPr algn="l" indent="0" marL="0">
              <a:lnSpc>
                <a:spcPct val="104000"/>
              </a:lnSpc>
              <a:buNone/>
            </a:pPr>
            <a:r>
              <a:rPr lang="en-US" sz="1150" dirty="0">
                <a:solidFill>
                  <a:srgbClr val="15213F"/>
                </a:solidFill>
                <a:latin typeface="Roboto Slab" pitchFamily="34" charset="0"/>
                <a:ea typeface="Roboto Slab" pitchFamily="34" charset="-122"/>
                <a:cs typeface="Roboto Slab" pitchFamily="34" charset="-120"/>
              </a:rPr>
              <a:t>User Value</a:t>
            </a:r>
            <a:endParaRPr lang="en-US" sz="1150" dirty="0"/>
          </a:p>
        </p:txBody>
      </p:sp>
      <p:sp>
        <p:nvSpPr>
          <p:cNvPr id="24" name="Text 22"/>
          <p:cNvSpPr/>
          <p:nvPr/>
        </p:nvSpPr>
        <p:spPr>
          <a:xfrm>
            <a:off x="791250" y="3576737"/>
            <a:ext cx="10609196" cy="151606"/>
          </a:xfrm>
          <a:prstGeom prst="rect">
            <a:avLst/>
          </a:prstGeom>
          <a:noFill/>
          <a:ln/>
        </p:spPr>
        <p:txBody>
          <a:bodyPr wrap="none" lIns="0" tIns="0" rIns="0" bIns="0" rtlCol="0" anchor="t"/>
          <a:lstStyle/>
          <a:p>
            <a:pPr algn="l" indent="0" marL="0">
              <a:lnSpc>
                <a:spcPct val="108000"/>
              </a:lnSpc>
              <a:buNone/>
            </a:pPr>
            <a:r>
              <a:rPr lang="en-US" sz="900" dirty="0">
                <a:solidFill>
                  <a:srgbClr val="15213F"/>
                </a:solidFill>
                <a:latin typeface="Roboto" pitchFamily="34" charset="0"/>
                <a:ea typeface="Roboto" pitchFamily="34" charset="-122"/>
                <a:cs typeface="Roboto" pitchFamily="34" charset="-120"/>
              </a:rPr>
              <a:t>Clear benefits for users and organizations.</a:t>
            </a:r>
            <a:endParaRPr lang="en-US" sz="900" dirty="0"/>
          </a:p>
        </p:txBody>
      </p:sp>
      <p:sp>
        <p:nvSpPr>
          <p:cNvPr id="25" name="Text 23"/>
          <p:cNvSpPr/>
          <p:nvPr/>
        </p:nvSpPr>
        <p:spPr>
          <a:xfrm>
            <a:off x="661475" y="3985749"/>
            <a:ext cx="10868745" cy="292795"/>
          </a:xfrm>
          <a:prstGeom prst="rect">
            <a:avLst/>
          </a:prstGeom>
          <a:noFill/>
          <a:ln/>
        </p:spPr>
        <p:txBody>
          <a:bodyPr wrap="none" lIns="0" tIns="0" rIns="0" bIns="0" rtlCol="0" anchor="t"/>
          <a:lstStyle/>
          <a:p>
            <a:pPr algn="l" indent="0" marL="0">
              <a:lnSpc>
                <a:spcPct val="104000"/>
              </a:lnSpc>
              <a:buNone/>
            </a:pPr>
            <a:r>
              <a:rPr lang="en-US" sz="1800" dirty="0">
                <a:solidFill>
                  <a:srgbClr val="3257B8"/>
                </a:solidFill>
                <a:latin typeface="Roboto Slab" pitchFamily="34" charset="0"/>
                <a:ea typeface="Roboto Slab" pitchFamily="34" charset="-122"/>
                <a:cs typeface="Roboto Slab" pitchFamily="34" charset="-120"/>
              </a:rPr>
              <a:t>Next Steps</a:t>
            </a:r>
            <a:endParaRPr lang="en-US" sz="1800" dirty="0"/>
          </a:p>
        </p:txBody>
      </p:sp>
      <p:sp>
        <p:nvSpPr>
          <p:cNvPr id="26" name="Text 24"/>
          <p:cNvSpPr/>
          <p:nvPr/>
        </p:nvSpPr>
        <p:spPr>
          <a:xfrm>
            <a:off x="661475" y="4368403"/>
            <a:ext cx="234150" cy="146348"/>
          </a:xfrm>
          <a:prstGeom prst="rect">
            <a:avLst/>
          </a:prstGeom>
          <a:noFill/>
          <a:ln/>
        </p:spPr>
        <p:txBody>
          <a:bodyPr wrap="none" lIns="0" tIns="0" rIns="0" bIns="0" rtlCol="0" anchor="ctr"/>
          <a:lstStyle/>
          <a:p>
            <a:pPr algn="l" indent="0" marL="0">
              <a:lnSpc>
                <a:spcPct val="100000"/>
              </a:lnSpc>
              <a:buNone/>
            </a:pPr>
            <a:r>
              <a:rPr lang="en-US" sz="900" dirty="0">
                <a:solidFill>
                  <a:srgbClr val="15213F"/>
                </a:solidFill>
                <a:latin typeface="Roboto Slab" pitchFamily="34" charset="0"/>
                <a:ea typeface="Roboto Slab" pitchFamily="34" charset="-122"/>
                <a:cs typeface="Roboto Slab" pitchFamily="34" charset="-120"/>
              </a:rPr>
              <a:t>01</a:t>
            </a:r>
            <a:endParaRPr lang="en-US" sz="900" dirty="0"/>
          </a:p>
        </p:txBody>
      </p:sp>
      <p:sp>
        <p:nvSpPr>
          <p:cNvPr id="27" name="Shape 25"/>
          <p:cNvSpPr/>
          <p:nvPr/>
        </p:nvSpPr>
        <p:spPr>
          <a:xfrm>
            <a:off x="661475" y="4555331"/>
            <a:ext cx="5398059" cy="12700"/>
          </a:xfrm>
          <a:prstGeom prst="rect">
            <a:avLst/>
          </a:prstGeom>
          <a:solidFill>
            <a:srgbClr val="476FD6"/>
          </a:solidFill>
          <a:ln/>
        </p:spPr>
      </p:sp>
      <p:sp>
        <p:nvSpPr>
          <p:cNvPr id="28" name="Text 26"/>
          <p:cNvSpPr/>
          <p:nvPr/>
        </p:nvSpPr>
        <p:spPr>
          <a:xfrm>
            <a:off x="661475" y="4638675"/>
            <a:ext cx="5398059" cy="182860"/>
          </a:xfrm>
          <a:prstGeom prst="rect">
            <a:avLst/>
          </a:prstGeom>
          <a:noFill/>
          <a:ln/>
        </p:spPr>
        <p:txBody>
          <a:bodyPr wrap="none" lIns="0" tIns="0" rIns="0" bIns="0" rtlCol="0" anchor="t"/>
          <a:lstStyle/>
          <a:p>
            <a:pPr algn="l" indent="0" marL="0">
              <a:lnSpc>
                <a:spcPct val="104000"/>
              </a:lnSpc>
              <a:buNone/>
            </a:pPr>
            <a:r>
              <a:rPr lang="en-US" sz="1150" dirty="0">
                <a:solidFill>
                  <a:srgbClr val="15213F"/>
                </a:solidFill>
                <a:latin typeface="Roboto Slab" pitchFamily="34" charset="0"/>
                <a:ea typeface="Roboto Slab" pitchFamily="34" charset="-122"/>
                <a:cs typeface="Roboto Slab" pitchFamily="34" charset="-120"/>
              </a:rPr>
              <a:t>Gather Feedback</a:t>
            </a:r>
            <a:endParaRPr lang="en-US" sz="1150" dirty="0"/>
          </a:p>
        </p:txBody>
      </p:sp>
      <p:sp>
        <p:nvSpPr>
          <p:cNvPr id="29" name="Text 27"/>
          <p:cNvSpPr/>
          <p:nvPr/>
        </p:nvSpPr>
        <p:spPr>
          <a:xfrm>
            <a:off x="661475" y="4864993"/>
            <a:ext cx="5398059" cy="151606"/>
          </a:xfrm>
          <a:prstGeom prst="rect">
            <a:avLst/>
          </a:prstGeom>
          <a:noFill/>
          <a:ln/>
        </p:spPr>
        <p:txBody>
          <a:bodyPr wrap="none" lIns="0" tIns="0" rIns="0" bIns="0" rtlCol="0" anchor="t"/>
          <a:lstStyle/>
          <a:p>
            <a:pPr algn="l" indent="0" marL="0">
              <a:lnSpc>
                <a:spcPct val="108000"/>
              </a:lnSpc>
              <a:buNone/>
            </a:pPr>
            <a:r>
              <a:rPr lang="en-US" sz="900" dirty="0">
                <a:solidFill>
                  <a:srgbClr val="15213F"/>
                </a:solidFill>
                <a:latin typeface="Roboto" pitchFamily="34" charset="0"/>
                <a:ea typeface="Roboto" pitchFamily="34" charset="-122"/>
                <a:cs typeface="Roboto" pitchFamily="34" charset="-120"/>
              </a:rPr>
              <a:t>Collect input from users.</a:t>
            </a:r>
            <a:endParaRPr lang="en-US" sz="900" dirty="0"/>
          </a:p>
        </p:txBody>
      </p:sp>
      <p:sp>
        <p:nvSpPr>
          <p:cNvPr id="30" name="Text 28"/>
          <p:cNvSpPr/>
          <p:nvPr/>
        </p:nvSpPr>
        <p:spPr>
          <a:xfrm>
            <a:off x="6132061" y="4368403"/>
            <a:ext cx="234150" cy="146348"/>
          </a:xfrm>
          <a:prstGeom prst="rect">
            <a:avLst/>
          </a:prstGeom>
          <a:noFill/>
          <a:ln/>
        </p:spPr>
        <p:txBody>
          <a:bodyPr wrap="none" lIns="0" tIns="0" rIns="0" bIns="0" rtlCol="0" anchor="ctr"/>
          <a:lstStyle/>
          <a:p>
            <a:pPr algn="l" indent="0" marL="0">
              <a:lnSpc>
                <a:spcPct val="100000"/>
              </a:lnSpc>
              <a:buNone/>
            </a:pPr>
            <a:r>
              <a:rPr lang="en-US" sz="900" dirty="0">
                <a:solidFill>
                  <a:srgbClr val="15213F"/>
                </a:solidFill>
                <a:latin typeface="Roboto Slab" pitchFamily="34" charset="0"/>
                <a:ea typeface="Roboto Slab" pitchFamily="34" charset="-122"/>
                <a:cs typeface="Roboto Slab" pitchFamily="34" charset="-120"/>
              </a:rPr>
              <a:t>02</a:t>
            </a:r>
            <a:endParaRPr lang="en-US" sz="900" dirty="0"/>
          </a:p>
        </p:txBody>
      </p:sp>
      <p:sp>
        <p:nvSpPr>
          <p:cNvPr id="31" name="Shape 29"/>
          <p:cNvSpPr/>
          <p:nvPr/>
        </p:nvSpPr>
        <p:spPr>
          <a:xfrm>
            <a:off x="6132061" y="4555331"/>
            <a:ext cx="5398159" cy="12700"/>
          </a:xfrm>
          <a:prstGeom prst="rect">
            <a:avLst/>
          </a:prstGeom>
          <a:solidFill>
            <a:srgbClr val="476FD6"/>
          </a:solidFill>
          <a:ln/>
        </p:spPr>
      </p:sp>
      <p:sp>
        <p:nvSpPr>
          <p:cNvPr id="32" name="Text 30"/>
          <p:cNvSpPr/>
          <p:nvPr/>
        </p:nvSpPr>
        <p:spPr>
          <a:xfrm>
            <a:off x="6132061" y="4638675"/>
            <a:ext cx="5398159" cy="182860"/>
          </a:xfrm>
          <a:prstGeom prst="rect">
            <a:avLst/>
          </a:prstGeom>
          <a:noFill/>
          <a:ln/>
        </p:spPr>
        <p:txBody>
          <a:bodyPr wrap="none" lIns="0" tIns="0" rIns="0" bIns="0" rtlCol="0" anchor="t"/>
          <a:lstStyle/>
          <a:p>
            <a:pPr algn="l" indent="0" marL="0">
              <a:lnSpc>
                <a:spcPct val="104000"/>
              </a:lnSpc>
              <a:buNone/>
            </a:pPr>
            <a:r>
              <a:rPr lang="en-US" sz="1150" dirty="0">
                <a:solidFill>
                  <a:srgbClr val="15213F"/>
                </a:solidFill>
                <a:latin typeface="Roboto Slab" pitchFamily="34" charset="0"/>
                <a:ea typeface="Roboto Slab" pitchFamily="34" charset="-122"/>
                <a:cs typeface="Roboto Slab" pitchFamily="34" charset="-120"/>
              </a:rPr>
              <a:t>Optimize Performance</a:t>
            </a:r>
            <a:endParaRPr lang="en-US" sz="1150" dirty="0"/>
          </a:p>
        </p:txBody>
      </p:sp>
      <p:sp>
        <p:nvSpPr>
          <p:cNvPr id="33" name="Text 31"/>
          <p:cNvSpPr/>
          <p:nvPr/>
        </p:nvSpPr>
        <p:spPr>
          <a:xfrm>
            <a:off x="6132061" y="4864993"/>
            <a:ext cx="5398159" cy="151606"/>
          </a:xfrm>
          <a:prstGeom prst="rect">
            <a:avLst/>
          </a:prstGeom>
          <a:noFill/>
          <a:ln/>
        </p:spPr>
        <p:txBody>
          <a:bodyPr wrap="none" lIns="0" tIns="0" rIns="0" bIns="0" rtlCol="0" anchor="t"/>
          <a:lstStyle/>
          <a:p>
            <a:pPr algn="l" indent="0" marL="0">
              <a:lnSpc>
                <a:spcPct val="108000"/>
              </a:lnSpc>
              <a:buNone/>
            </a:pPr>
            <a:r>
              <a:rPr lang="en-US" sz="900" dirty="0">
                <a:solidFill>
                  <a:srgbClr val="15213F"/>
                </a:solidFill>
                <a:latin typeface="Roboto" pitchFamily="34" charset="0"/>
                <a:ea typeface="Roboto" pitchFamily="34" charset="-122"/>
                <a:cs typeface="Roboto" pitchFamily="34" charset="-120"/>
              </a:rPr>
              <a:t>Improve speed and scale.</a:t>
            </a:r>
            <a:endParaRPr lang="en-US" sz="900" dirty="0"/>
          </a:p>
        </p:txBody>
      </p:sp>
      <p:sp>
        <p:nvSpPr>
          <p:cNvPr id="34" name="Text 32"/>
          <p:cNvSpPr/>
          <p:nvPr/>
        </p:nvSpPr>
        <p:spPr>
          <a:xfrm>
            <a:off x="661475" y="5176937"/>
            <a:ext cx="234150" cy="146348"/>
          </a:xfrm>
          <a:prstGeom prst="rect">
            <a:avLst/>
          </a:prstGeom>
          <a:noFill/>
          <a:ln/>
        </p:spPr>
        <p:txBody>
          <a:bodyPr wrap="none" lIns="0" tIns="0" rIns="0" bIns="0" rtlCol="0" anchor="ctr"/>
          <a:lstStyle/>
          <a:p>
            <a:pPr algn="l" indent="0" marL="0">
              <a:lnSpc>
                <a:spcPct val="100000"/>
              </a:lnSpc>
              <a:buNone/>
            </a:pPr>
            <a:r>
              <a:rPr lang="en-US" sz="900" dirty="0">
                <a:solidFill>
                  <a:srgbClr val="15213F"/>
                </a:solidFill>
                <a:latin typeface="Roboto Slab" pitchFamily="34" charset="0"/>
                <a:ea typeface="Roboto Slab" pitchFamily="34" charset="-122"/>
                <a:cs typeface="Roboto Slab" pitchFamily="34" charset="-120"/>
              </a:rPr>
              <a:t>03</a:t>
            </a:r>
            <a:endParaRPr lang="en-US" sz="900" dirty="0"/>
          </a:p>
        </p:txBody>
      </p:sp>
      <p:sp>
        <p:nvSpPr>
          <p:cNvPr id="35" name="Shape 33"/>
          <p:cNvSpPr/>
          <p:nvPr/>
        </p:nvSpPr>
        <p:spPr>
          <a:xfrm>
            <a:off x="661475" y="5352157"/>
            <a:ext cx="10868745" cy="12700"/>
          </a:xfrm>
          <a:prstGeom prst="rect">
            <a:avLst/>
          </a:prstGeom>
          <a:solidFill>
            <a:srgbClr val="476FD6"/>
          </a:solidFill>
          <a:ln/>
        </p:spPr>
      </p:sp>
      <p:sp>
        <p:nvSpPr>
          <p:cNvPr id="36" name="Text 34"/>
          <p:cNvSpPr/>
          <p:nvPr/>
        </p:nvSpPr>
        <p:spPr>
          <a:xfrm>
            <a:off x="661475" y="5447209"/>
            <a:ext cx="10868745" cy="182860"/>
          </a:xfrm>
          <a:prstGeom prst="rect">
            <a:avLst/>
          </a:prstGeom>
          <a:noFill/>
          <a:ln/>
        </p:spPr>
        <p:txBody>
          <a:bodyPr wrap="none" lIns="0" tIns="0" rIns="0" bIns="0" rtlCol="0" anchor="t"/>
          <a:lstStyle/>
          <a:p>
            <a:pPr algn="l" indent="0" marL="0">
              <a:lnSpc>
                <a:spcPct val="104000"/>
              </a:lnSpc>
              <a:buNone/>
            </a:pPr>
            <a:r>
              <a:rPr lang="en-US" sz="1150" dirty="0">
                <a:solidFill>
                  <a:srgbClr val="15213F"/>
                </a:solidFill>
                <a:latin typeface="Roboto Slab" pitchFamily="34" charset="0"/>
                <a:ea typeface="Roboto Slab" pitchFamily="34" charset="-122"/>
                <a:cs typeface="Roboto Slab" pitchFamily="34" charset="-120"/>
              </a:rPr>
              <a:t>Expand Support</a:t>
            </a:r>
            <a:endParaRPr lang="en-US" sz="1150" dirty="0"/>
          </a:p>
        </p:txBody>
      </p:sp>
      <p:sp>
        <p:nvSpPr>
          <p:cNvPr id="37" name="Text 35"/>
          <p:cNvSpPr/>
          <p:nvPr/>
        </p:nvSpPr>
        <p:spPr>
          <a:xfrm>
            <a:off x="661475" y="5673527"/>
            <a:ext cx="10868745" cy="151606"/>
          </a:xfrm>
          <a:prstGeom prst="rect">
            <a:avLst/>
          </a:prstGeom>
          <a:noFill/>
          <a:ln/>
        </p:spPr>
        <p:txBody>
          <a:bodyPr wrap="none" lIns="0" tIns="0" rIns="0" bIns="0" rtlCol="0" anchor="t"/>
          <a:lstStyle/>
          <a:p>
            <a:pPr algn="l" indent="0" marL="0">
              <a:lnSpc>
                <a:spcPct val="108000"/>
              </a:lnSpc>
              <a:buNone/>
            </a:pPr>
            <a:r>
              <a:rPr lang="en-US" sz="900" dirty="0">
                <a:solidFill>
                  <a:srgbClr val="15213F"/>
                </a:solidFill>
                <a:latin typeface="Roboto" pitchFamily="34" charset="0"/>
                <a:ea typeface="Roboto" pitchFamily="34" charset="-122"/>
                <a:cs typeface="Roboto" pitchFamily="34" charset="-120"/>
              </a:rPr>
              <a:t>Add PDFs, OCR, and multilingual support.</a:t>
            </a:r>
            <a:endParaRPr lang="en-US" sz="900" dirty="0"/>
          </a:p>
        </p:txBody>
      </p:sp>
      <p:sp>
        <p:nvSpPr>
          <p:cNvPr id="38" name="Text 36"/>
          <p:cNvSpPr/>
          <p:nvPr/>
        </p:nvSpPr>
        <p:spPr>
          <a:xfrm>
            <a:off x="837088" y="6076226"/>
            <a:ext cx="11302717" cy="151606"/>
          </a:xfrm>
          <a:prstGeom prst="rect">
            <a:avLst/>
          </a:prstGeom>
          <a:noFill/>
          <a:ln/>
        </p:spPr>
        <p:txBody>
          <a:bodyPr wrap="none" lIns="0" tIns="0" rIns="0" bIns="0" rtlCol="0" anchor="t"/>
          <a:lstStyle/>
          <a:p>
            <a:pPr algn="l" indent="0" marL="0">
              <a:lnSpc>
                <a:spcPct val="108000"/>
              </a:lnSpc>
              <a:buNone/>
            </a:pPr>
            <a:r>
              <a:rPr lang="en-US" sz="900" b="1" dirty="0">
                <a:solidFill>
                  <a:srgbClr val="15213F"/>
                </a:solidFill>
                <a:latin typeface="Roboto Bold" pitchFamily="34" charset="0"/>
                <a:ea typeface="Roboto Bold" pitchFamily="34" charset="-122"/>
                <a:cs typeface="Roboto Bold" pitchFamily="34" charset="-120"/>
              </a:rPr>
              <a:t>Final Statement:</a:t>
            </a:r>
            <a:pPr algn="l" indent="0" marL="0">
              <a:lnSpc>
                <a:spcPct val="108000"/>
              </a:lnSpc>
              <a:buNone/>
            </a:pPr>
            <a:r>
              <a:rPr lang="en-US" sz="900" dirty="0">
                <a:solidFill>
                  <a:srgbClr val="15213F"/>
                </a:solidFill>
                <a:latin typeface="Roboto" pitchFamily="34" charset="0"/>
                <a:ea typeface="Roboto" pitchFamily="34" charset="-122"/>
                <a:cs typeface="Roboto" pitchFamily="34" charset="-120"/>
              </a:rPr>
              <a:t> "This project shows that intelligent document search is valuable and ready to grow."</a:t>
            </a:r>
            <a:endParaRPr lang="en-US" sz="900" dirty="0"/>
          </a:p>
        </p:txBody>
      </p:sp>
      <p:sp>
        <p:nvSpPr>
          <p:cNvPr id="39" name="Shape 37"/>
          <p:cNvSpPr/>
          <p:nvPr/>
        </p:nvSpPr>
        <p:spPr>
          <a:xfrm>
            <a:off x="661475" y="5971679"/>
            <a:ext cx="12700" cy="314722"/>
          </a:xfrm>
          <a:prstGeom prst="roundRect">
            <a:avLst>
              <a:gd name="adj" fmla="val 49999"/>
            </a:avLst>
          </a:prstGeom>
          <a:solidFill>
            <a:srgbClr val="3257B8"/>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2026-10-11T08:53:46Z</dcterms:created>
  <dcterms:modified xsi:type="dcterms:W3CDTF">2026-10-11T08:53:46Z</dcterms:modified>
</cp:coreProperties>
</file>